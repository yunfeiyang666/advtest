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69" r:id="rId3"/>
    <p:sldId id="271" r:id="rId5"/>
    <p:sldId id="268" r:id="rId6"/>
    <p:sldId id="258" r:id="rId7"/>
    <p:sldId id="257" r:id="rId8"/>
    <p:sldId id="259" r:id="rId9"/>
    <p:sldId id="256" r:id="rId10"/>
    <p:sldId id="261" r:id="rId11"/>
    <p:sldId id="260" r:id="rId12"/>
    <p:sldId id="262" r:id="rId13"/>
    <p:sldId id="263" r:id="rId14"/>
    <p:sldId id="264" r:id="rId15"/>
    <p:sldId id="282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ppy" initials="" lastIdx="1" clrIdx="0"/>
  <p:cmAuthor id="1" name="Luo Jie" initials="" lastIdx="10" clrIdx="2"/>
  <p:cmAuthor id="3" name="J" initials="J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E824B8-BA58-4480-B441-F62EEC6938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64DB0-CCE3-4363-801A-A01AADC639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4870" y="1801495"/>
            <a:ext cx="11042015" cy="18256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3110" dirty="0">
                <a:latin typeface="Adobe 黑体 Std R" panose="020B0400000000000000" pitchFamily="34" charset="-122"/>
                <a:ea typeface="Adobe 黑体 Std R" panose="020B0400000000000000" pitchFamily="34" charset="-122"/>
                <a:sym typeface="+mn-ea"/>
              </a:rPr>
              <a:t>Testing Vision-Language Models for </a:t>
            </a:r>
            <a:r>
              <a:rPr lang="zh-CN" altLang="en-US" sz="3110" dirty="0">
                <a:latin typeface="Adobe 黑体 Std R" panose="020B0400000000000000" pitchFamily="34" charset="-122"/>
                <a:ea typeface="Adobe 黑体 Std R" panose="020B0400000000000000" pitchFamily="34" charset="-122"/>
                <a:sym typeface="+mn-ea"/>
              </a:rPr>
              <a:t>Autonomous Driving</a:t>
            </a:r>
            <a:r>
              <a:rPr lang="en-US" altLang="zh-CN" sz="3110" dirty="0">
                <a:latin typeface="Adobe 黑体 Std R" panose="020B0400000000000000" pitchFamily="34" charset="-122"/>
                <a:ea typeface="Adobe 黑体 Std R" panose="020B0400000000000000" pitchFamily="34" charset="-122"/>
                <a:sym typeface="+mn-ea"/>
              </a:rPr>
              <a:t> </a:t>
            </a:r>
            <a:r>
              <a:rPr lang="zh-CN" altLang="en-US" sz="3110" dirty="0">
                <a:latin typeface="Adobe 黑体 Std R" panose="020B0400000000000000" pitchFamily="34" charset="-122"/>
                <a:ea typeface="Adobe 黑体 Std R" panose="020B0400000000000000" pitchFamily="34" charset="-122"/>
                <a:sym typeface="+mn-ea"/>
              </a:rPr>
              <a:t>Scene Understanding </a:t>
            </a:r>
            <a:endParaRPr lang="zh-CN" altLang="en-US" sz="3110" dirty="0">
              <a:latin typeface="Adobe 黑体 Std R" panose="020B0400000000000000" pitchFamily="34" charset="-122"/>
              <a:ea typeface="Adobe 黑体 Std R" panose="020B0400000000000000" pitchFamily="3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140679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b="1" dirty="0"/>
              <a:t>高新宇</a:t>
            </a:r>
            <a:endParaRPr lang="en-US" altLang="zh-CN" b="1" dirty="0"/>
          </a:p>
          <a:p>
            <a:endParaRPr lang="zh-CN" altLang="en-US" b="1" dirty="0"/>
          </a:p>
        </p:txBody>
      </p:sp>
      <p:pic>
        <p:nvPicPr>
          <p:cNvPr id="5" name="Picture 2" descr="Image result for nanjing university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677" y="0"/>
            <a:ext cx="1124646" cy="140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副标题 2"/>
          <p:cNvSpPr txBox="1"/>
          <p:nvPr/>
        </p:nvSpPr>
        <p:spPr>
          <a:xfrm>
            <a:off x="1524000" y="3622222"/>
            <a:ext cx="9144000" cy="518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196464" y="1615714"/>
            <a:ext cx="775136" cy="419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sz="135" kern="0" dirty="0">
                <a:solidFill>
                  <a:sysClr val="window" lastClr="FFFFFF"/>
                </a:solidFill>
              </a:rPr>
              <a:t>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模板下载：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www.1ppt.com/moban/     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行业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模板：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www.1ppt.com/hangye/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zh-CN" altLang="en-US" sz="135" kern="0" dirty="0">
                <a:solidFill>
                  <a:sysClr val="window" lastClr="FFFFFF"/>
                </a:solidFill>
              </a:rPr>
              <a:t>节日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模板：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www.1ppt.com/jieri/           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素材下载：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www.1ppt.com/sucai/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en-US" altLang="zh-CN" sz="135" kern="0" dirty="0">
                <a:solidFill>
                  <a:sysClr val="window" lastClr="FFFFFF"/>
                </a:solidFill>
              </a:rPr>
              <a:t>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背景图片：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www.1ppt.com/beijing/      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图表下载：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www.1ppt.com/tubiao/     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zh-CN" altLang="en-US" sz="135" kern="0" dirty="0">
                <a:solidFill>
                  <a:sysClr val="window" lastClr="FFFFFF"/>
                </a:solidFill>
              </a:rPr>
              <a:t>优秀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www.1ppt.com/xiazai/        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教程： 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www.1ppt.com/powerpoint/     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en-US" altLang="zh-CN" sz="135" kern="0" dirty="0">
                <a:solidFill>
                  <a:sysClr val="window" lastClr="FFFFFF"/>
                </a:solidFill>
              </a:rPr>
              <a:t>Word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教程： 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www.1ppt.com/word/              Excel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教程：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www.1ppt.com/excel/ 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zh-CN" altLang="en-US" sz="135" kern="0" dirty="0">
                <a:solidFill>
                  <a:sysClr val="window" lastClr="FFFFFF"/>
                </a:solidFill>
              </a:rPr>
              <a:t>资料下载：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www.1ppt.com/ziliao/                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课件下载：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www.1ppt.com/kejian/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zh-CN" altLang="en-US" sz="135" kern="0" dirty="0">
                <a:solidFill>
                  <a:sysClr val="window" lastClr="FFFFFF"/>
                </a:solidFill>
              </a:rPr>
              <a:t>范文下载：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www.1ppt.com/fanwen/             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试卷下载：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www.1ppt.com/shiti/  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zh-CN" altLang="en-US" sz="135" kern="0" dirty="0">
                <a:solidFill>
                  <a:sysClr val="window" lastClr="FFFFFF"/>
                </a:solidFill>
              </a:rPr>
              <a:t>教案下载：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www.1ppt.com/jiaoan/        PPT</a:t>
            </a:r>
            <a:r>
              <a:rPr lang="zh-CN" altLang="en-US" sz="135" kern="0" dirty="0">
                <a:solidFill>
                  <a:sysClr val="window" lastClr="FFFFFF"/>
                </a:solidFill>
              </a:rPr>
              <a:t>论坛：</a:t>
            </a:r>
            <a:r>
              <a:rPr lang="en-US" altLang="zh-CN" sz="135" kern="0" dirty="0">
                <a:solidFill>
                  <a:sysClr val="window" lastClr="FFFFFF"/>
                </a:solidFill>
              </a:rPr>
              <a:t>www.1ppt.cn</a:t>
            </a:r>
            <a:endParaRPr lang="en-US" altLang="zh-CN" sz="135" kern="0" dirty="0">
              <a:solidFill>
                <a:sysClr val="window" lastClr="FFFFFF"/>
              </a:solidFill>
            </a:endParaRPr>
          </a:p>
          <a:p>
            <a:pPr defTabSz="914400">
              <a:defRPr/>
            </a:pPr>
            <a:r>
              <a:rPr lang="en-US" altLang="zh-CN" sz="135" kern="0" dirty="0">
                <a:solidFill>
                  <a:sysClr val="window" lastClr="FFFFFF"/>
                </a:solidFill>
              </a:rPr>
              <a:t> </a:t>
            </a:r>
            <a:endParaRPr lang="zh-CN" altLang="en-US" sz="135" kern="0" dirty="0">
              <a:solidFill>
                <a:sysClr val="window" lastClr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rgbClr val="6A0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-8890" y="3075305"/>
            <a:ext cx="2853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chemeClr val="bg1"/>
                </a:solidFill>
                <a:cs typeface="Times New Roman" panose="02020503050405090304" charset="0"/>
              </a:rPr>
              <a:t>Content</a:t>
            </a:r>
            <a:endParaRPr lang="en-US" altLang="zh-CN" sz="4000" b="1" dirty="0">
              <a:solidFill>
                <a:schemeClr val="bg1"/>
              </a:solidFill>
              <a:cs typeface="Times New Roman" panose="0202050305040509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75741" y="1456837"/>
            <a:ext cx="5829431" cy="2881528"/>
            <a:chOff x="4541205" y="1657349"/>
            <a:chExt cx="5829431" cy="2881528"/>
          </a:xfrm>
        </p:grpSpPr>
        <p:sp>
          <p:nvSpPr>
            <p:cNvPr id="40" name="文本框 2"/>
            <p:cNvSpPr txBox="1"/>
            <p:nvPr/>
          </p:nvSpPr>
          <p:spPr>
            <a:xfrm>
              <a:off x="5803688" y="1773251"/>
              <a:ext cx="4566948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eaLnBrk="0" hangingPunct="0">
                <a:spcBef>
                  <a:spcPct val="20000"/>
                </a:spcBef>
                <a:spcAft>
                  <a:spcPts val="1200"/>
                </a:spcAft>
                <a:buClr>
                  <a:srgbClr val="003366"/>
                </a:buClr>
                <a:buSzPct val="85000"/>
                <a:buFont typeface="Wingdings" panose="05000000000000000000" pitchFamily="2" charset="2"/>
              </a:pPr>
              <a:r>
                <a:rPr lang="zh-CN" altLang="en-US" sz="2800" b="1" dirty="0">
                  <a:latin typeface="微软雅黑" charset="-122"/>
                  <a:ea typeface="微软雅黑" charset="-122"/>
                  <a:sym typeface="+mn-ea"/>
                </a:rPr>
                <a:t>数据集</a:t>
              </a:r>
              <a:r>
                <a:rPr lang="en-US" altLang="zh-CN" sz="2800" b="1" dirty="0">
                  <a:latin typeface="微软雅黑" charset="-122"/>
                  <a:ea typeface="微软雅黑" charset="-122"/>
                  <a:sym typeface="+mn-ea"/>
                </a:rPr>
                <a:t>	</a:t>
              </a:r>
              <a:endParaRPr lang="en-US" altLang="zh-CN" sz="2800" b="1" dirty="0">
                <a:latin typeface="微软雅黑" charset="-122"/>
                <a:ea typeface="微软雅黑" charset="-122"/>
                <a:sym typeface="+mn-ea"/>
              </a:endParaRPr>
            </a:p>
          </p:txBody>
        </p:sp>
        <p:grpSp>
          <p:nvGrpSpPr>
            <p:cNvPr id="41" name="组合 3"/>
            <p:cNvGrpSpPr/>
            <p:nvPr/>
          </p:nvGrpSpPr>
          <p:grpSpPr>
            <a:xfrm>
              <a:off x="4541205" y="1657349"/>
              <a:ext cx="994855" cy="755934"/>
              <a:chOff x="3142531" y="1483360"/>
              <a:chExt cx="994855" cy="755934"/>
            </a:xfrm>
          </p:grpSpPr>
          <p:sp>
            <p:nvSpPr>
              <p:cNvPr id="42" name="文本框 4"/>
              <p:cNvSpPr txBox="1"/>
              <p:nvPr/>
            </p:nvSpPr>
            <p:spPr>
              <a:xfrm>
                <a:off x="3142531" y="1599717"/>
                <a:ext cx="9948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9E008F"/>
                    </a:solidFill>
                    <a:latin typeface="+mn-ea"/>
                  </a:rPr>
                  <a:t>1</a:t>
                </a:r>
                <a:endParaRPr lang="en-US" altLang="zh-CN" sz="2800" b="1" dirty="0">
                  <a:solidFill>
                    <a:srgbClr val="9E008F"/>
                  </a:solidFill>
                  <a:latin typeface="+mn-ea"/>
                </a:endParaRPr>
              </a:p>
            </p:txBody>
          </p:sp>
          <p:sp>
            <p:nvSpPr>
              <p:cNvPr id="43" name="矩形 5"/>
              <p:cNvSpPr/>
              <p:nvPr/>
            </p:nvSpPr>
            <p:spPr>
              <a:xfrm>
                <a:off x="3142531" y="1483360"/>
                <a:ext cx="994855" cy="755934"/>
              </a:xfrm>
              <a:prstGeom prst="rect">
                <a:avLst/>
              </a:prstGeom>
              <a:noFill/>
              <a:ln>
                <a:solidFill>
                  <a:srgbClr val="6A005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24" name="文本框 2"/>
            <p:cNvSpPr txBox="1"/>
            <p:nvPr/>
          </p:nvSpPr>
          <p:spPr>
            <a:xfrm>
              <a:off x="5808664" y="3895089"/>
              <a:ext cx="387921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charset="-122"/>
                  <a:ea typeface="微软雅黑" charset="-122"/>
                  <a:sym typeface="+mn-ea"/>
                </a:rPr>
                <a:t>测试</a:t>
              </a:r>
              <a:r>
                <a:rPr lang="zh-CN" altLang="en-US" sz="2800" dirty="0">
                  <a:latin typeface="微软雅黑" charset="-122"/>
                  <a:ea typeface="微软雅黑" charset="-122"/>
                  <a:sym typeface="+mn-ea"/>
                </a:rPr>
                <a:t>对象</a:t>
              </a:r>
              <a:endParaRPr lang="zh-CN" altLang="en-US" sz="2800" dirty="0">
                <a:latin typeface="微软雅黑" charset="-122"/>
                <a:ea typeface="微软雅黑" charset="-122"/>
                <a:sym typeface="+mn-ea"/>
              </a:endParaRPr>
            </a:p>
          </p:txBody>
        </p:sp>
        <p:grpSp>
          <p:nvGrpSpPr>
            <p:cNvPr id="25" name="组合 3"/>
            <p:cNvGrpSpPr/>
            <p:nvPr/>
          </p:nvGrpSpPr>
          <p:grpSpPr>
            <a:xfrm>
              <a:off x="4541205" y="3782943"/>
              <a:ext cx="994855" cy="755934"/>
              <a:chOff x="3142531" y="1483360"/>
              <a:chExt cx="994855" cy="755934"/>
            </a:xfrm>
          </p:grpSpPr>
          <p:sp>
            <p:nvSpPr>
              <p:cNvPr id="26" name="文本框 4"/>
              <p:cNvSpPr txBox="1"/>
              <p:nvPr/>
            </p:nvSpPr>
            <p:spPr>
              <a:xfrm>
                <a:off x="3142531" y="1599717"/>
                <a:ext cx="9948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9E008F"/>
                    </a:solidFill>
                    <a:latin typeface="+mn-ea"/>
                  </a:rPr>
                  <a:t>3</a:t>
                </a:r>
                <a:endParaRPr lang="en-US" altLang="zh-CN" sz="2800" b="1" dirty="0">
                  <a:solidFill>
                    <a:srgbClr val="9E008F"/>
                  </a:solidFill>
                  <a:latin typeface="+mn-ea"/>
                </a:endParaRPr>
              </a:p>
            </p:txBody>
          </p:sp>
          <p:sp>
            <p:nvSpPr>
              <p:cNvPr id="27" name="矩形 5"/>
              <p:cNvSpPr/>
              <p:nvPr/>
            </p:nvSpPr>
            <p:spPr>
              <a:xfrm>
                <a:off x="3142531" y="1483360"/>
                <a:ext cx="994855" cy="755934"/>
              </a:xfrm>
              <a:prstGeom prst="rect">
                <a:avLst/>
              </a:prstGeom>
              <a:noFill/>
              <a:ln>
                <a:solidFill>
                  <a:srgbClr val="6A005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28" name="文本框 2"/>
            <p:cNvSpPr txBox="1"/>
            <p:nvPr/>
          </p:nvSpPr>
          <p:spPr>
            <a:xfrm>
              <a:off x="5808740" y="2844454"/>
              <a:ext cx="27280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charset="-122"/>
                  <a:ea typeface="微软雅黑" charset="-122"/>
                  <a:sym typeface="+mn-ea"/>
                </a:rPr>
                <a:t>测试方法</a:t>
              </a:r>
              <a:endParaRPr lang="zh-CN" altLang="en-US" sz="2800" dirty="0">
                <a:latin typeface="微软雅黑" charset="-122"/>
                <a:ea typeface="微软雅黑" charset="-122"/>
                <a:sym typeface="+mn-ea"/>
              </a:endParaRPr>
            </a:p>
          </p:txBody>
        </p:sp>
        <p:grpSp>
          <p:nvGrpSpPr>
            <p:cNvPr id="29" name="组合 3"/>
            <p:cNvGrpSpPr/>
            <p:nvPr/>
          </p:nvGrpSpPr>
          <p:grpSpPr>
            <a:xfrm>
              <a:off x="4541205" y="2720145"/>
              <a:ext cx="994855" cy="755934"/>
              <a:chOff x="3142531" y="1483360"/>
              <a:chExt cx="994855" cy="755934"/>
            </a:xfrm>
          </p:grpSpPr>
          <p:sp>
            <p:nvSpPr>
              <p:cNvPr id="30" name="文本框 4"/>
              <p:cNvSpPr txBox="1"/>
              <p:nvPr/>
            </p:nvSpPr>
            <p:spPr>
              <a:xfrm>
                <a:off x="3142531" y="1599717"/>
                <a:ext cx="9948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9E008F"/>
                    </a:solidFill>
                    <a:latin typeface="+mn-ea"/>
                  </a:rPr>
                  <a:t>2</a:t>
                </a:r>
                <a:endParaRPr lang="en-US" altLang="zh-CN" sz="2800" b="1" dirty="0">
                  <a:solidFill>
                    <a:srgbClr val="9E008F"/>
                  </a:solidFill>
                  <a:latin typeface="+mn-ea"/>
                </a:endParaRPr>
              </a:p>
            </p:txBody>
          </p:sp>
          <p:sp>
            <p:nvSpPr>
              <p:cNvPr id="31" name="矩形 5"/>
              <p:cNvSpPr/>
              <p:nvPr/>
            </p:nvSpPr>
            <p:spPr>
              <a:xfrm>
                <a:off x="3142531" y="1483360"/>
                <a:ext cx="994855" cy="755934"/>
              </a:xfrm>
              <a:prstGeom prst="rect">
                <a:avLst/>
              </a:prstGeom>
              <a:noFill/>
              <a:ln>
                <a:solidFill>
                  <a:srgbClr val="6A005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30" y="601980"/>
            <a:ext cx="9393555" cy="5043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2450" y="5849620"/>
            <a:ext cx="1021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[1] </a:t>
            </a:r>
            <a:r>
              <a:rPr lang="zh-CN" altLang="en-US"/>
              <a:t>Embodied Scene Understanding for Vision Language Models via MetaVQA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27355" y="165100"/>
            <a:ext cx="978535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需要给图中数据先标号，然后根据标号问问题</a:t>
            </a:r>
            <a:r>
              <a:rPr lang="en-US" altLang="zh-CN" b="1"/>
              <a:t>  </a:t>
            </a:r>
            <a:r>
              <a:rPr lang="zh-CN" altLang="en-US" b="1"/>
              <a:t>感觉这个复杂了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30" y="601980"/>
            <a:ext cx="9393555" cy="5043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2450" y="5849620"/>
            <a:ext cx="1021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[1] </a:t>
            </a:r>
            <a:r>
              <a:rPr lang="zh-CN" altLang="en-US"/>
              <a:t>Embodied Scene Understanding for Vision Language Models via MetaVQA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27355" y="165100"/>
            <a:ext cx="978535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需要给图中数据先标号，然后根据标号问问题</a:t>
            </a:r>
            <a:r>
              <a:rPr lang="en-US" altLang="zh-CN" b="1"/>
              <a:t>  </a:t>
            </a:r>
            <a:r>
              <a:rPr lang="zh-CN" altLang="en-US" b="1"/>
              <a:t>感觉这个复杂了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7355" y="5857240"/>
            <a:ext cx="115595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[1] </a:t>
            </a:r>
            <a:r>
              <a:t>Talk2Car: Taking Control of Your Self-Driving Car</a:t>
            </a:r>
          </a:p>
        </p:txBody>
      </p:sp>
      <p:pic>
        <p:nvPicPr>
          <p:cNvPr id="2" name="图片 1" descr="/Users/gaoxinyu/Library/Containers/com.kingsoft.wpsoffice.mac/Data/tmp/picturecompress_20251106012803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0" y="655320"/>
            <a:ext cx="9785985" cy="5201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7355" y="165100"/>
            <a:ext cx="978535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根据语言选择图中的物体</a:t>
            </a:r>
            <a:r>
              <a:rPr lang="en-US" altLang="zh-CN" b="1"/>
              <a:t> </a:t>
            </a:r>
            <a:r>
              <a:rPr lang="zh-CN" altLang="en-US" b="1"/>
              <a:t>（这个感觉不行，因为没需要特定的模型</a:t>
            </a:r>
            <a:r>
              <a:rPr lang="zh-CN" altLang="en-US" b="1">
                <a:sym typeface="+mn-ea"/>
              </a:rPr>
              <a:t>输出框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7355" y="5857240"/>
            <a:ext cx="115595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[1] </a:t>
            </a:r>
            <a:r>
              <a:t>NuScenes-MQA: Integrated Evaluation of Captions and QA for Autonomous</a:t>
            </a:r>
            <a:r>
              <a:rPr lang="en-US"/>
              <a:t> </a:t>
            </a:r>
            <a:r>
              <a:t>Driving Datasets using Markup Annotations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767715"/>
            <a:ext cx="9686925" cy="4712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7355" y="5857240"/>
            <a:ext cx="115595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[1] </a:t>
            </a:r>
            <a:r>
              <a:rPr lang="zh-CN" altLang="en-US"/>
              <a:t>NuScenes-QA: A Multi-Modal Visual Question Answering Benchmark for Autonomous Driving Scenario</a:t>
            </a:r>
            <a:r>
              <a:rPr lang="en-US" altLang="zh-CN"/>
              <a:t>, AAAI’24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100455"/>
            <a:ext cx="11560175" cy="3921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Yes or No  </a:t>
            </a:r>
            <a:endParaRPr lang="zh-C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测试</a:t>
            </a:r>
            <a:r>
              <a:rPr lang="zh-CN" altLang="en-US" b="1"/>
              <a:t>流程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4275"/>
            <a:ext cx="12192000" cy="3783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7355" y="5791835"/>
            <a:ext cx="10819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[1] </a:t>
            </a:r>
            <a:r>
              <a:rPr lang="zh-CN" altLang="en-US"/>
              <a:t>QATest: A Uniform Fuzzing Framework for Question Answering Systems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测试</a:t>
            </a:r>
            <a:r>
              <a:rPr lang="zh-CN" altLang="en-US" b="1"/>
              <a:t>流程</a:t>
            </a:r>
            <a:endParaRPr lang="zh-CN" altLang="en-US" b="1"/>
          </a:p>
        </p:txBody>
      </p:sp>
      <p:sp>
        <p:nvSpPr>
          <p:cNvPr id="2" name="矩形 1"/>
          <p:cNvSpPr/>
          <p:nvPr/>
        </p:nvSpPr>
        <p:spPr>
          <a:xfrm>
            <a:off x="1626235" y="998220"/>
            <a:ext cx="1862455" cy="10972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初始</a:t>
            </a:r>
            <a:r>
              <a:rPr lang="zh-CN" altLang="en-US"/>
              <a:t>种子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42560" y="998220"/>
            <a:ext cx="1862455" cy="10972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扩增</a:t>
            </a:r>
            <a:r>
              <a:rPr lang="zh-CN" altLang="en-US"/>
              <a:t>算子</a:t>
            </a:r>
            <a:endParaRPr lang="zh-CN" altLang="en-US"/>
          </a:p>
        </p:txBody>
      </p:sp>
      <p:cxnSp>
        <p:nvCxnSpPr>
          <p:cNvPr id="5" name="直接箭头连接符 4"/>
          <p:cNvCxnSpPr>
            <a:stCxn id="2" idx="3"/>
            <a:endCxn id="3" idx="1"/>
          </p:cNvCxnSpPr>
          <p:nvPr/>
        </p:nvCxnSpPr>
        <p:spPr>
          <a:xfrm>
            <a:off x="3488690" y="1546860"/>
            <a:ext cx="17538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701405" y="998220"/>
            <a:ext cx="1862455" cy="10972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测试</a:t>
            </a:r>
            <a:r>
              <a:rPr lang="zh-CN" altLang="en-US"/>
              <a:t>引导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3" idx="3"/>
            <a:endCxn id="8" idx="1"/>
          </p:cNvCxnSpPr>
          <p:nvPr/>
        </p:nvCxnSpPr>
        <p:spPr>
          <a:xfrm>
            <a:off x="7105015" y="1546860"/>
            <a:ext cx="15963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531620" y="3117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用数据集自带的作为初始</a:t>
            </a:r>
            <a:r>
              <a:rPr lang="zh-CN" altLang="en-US"/>
              <a:t>种子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测试</a:t>
            </a:r>
            <a:r>
              <a:rPr lang="zh-CN" altLang="en-US" b="1"/>
              <a:t>引导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427355" y="6257925"/>
            <a:ext cx="9780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S3C: Spatial Semantic Scene Coverage for Autonomous Vehicles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" y="1040130"/>
            <a:ext cx="11545570" cy="23888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6850" y="3701415"/>
            <a:ext cx="11544935" cy="2265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首先，将场景中的实体按照某种工具，生成实体关系</a:t>
            </a:r>
            <a:r>
              <a:rPr lang="zh-CN" altLang="en-US"/>
              <a:t>图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测试的目标：基于图抽象空间结构后</a:t>
            </a:r>
            <a:r>
              <a:rPr lang="zh-CN" altLang="en-US">
                <a:sym typeface="+mn-ea"/>
              </a:rPr>
              <a:t>定义覆盖率</a:t>
            </a:r>
            <a:r>
              <a:rPr lang="zh-CN" altLang="en-US"/>
              <a:t>，然后尽可能的覆盖图中的边和</a:t>
            </a:r>
            <a:r>
              <a:rPr lang="zh-CN" altLang="en-US"/>
              <a:t>节点（例如，边和节点</a:t>
            </a:r>
            <a:r>
              <a:rPr lang="zh-CN" altLang="en-US"/>
              <a:t>覆盖）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对于没覆盖的边，基于某种生成方法，生成能够覆盖对应边的自然语言问题（空间类型的</a:t>
            </a:r>
            <a:r>
              <a:rPr lang="zh-CN" altLang="en-US"/>
              <a:t>问题）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/>
              <a:t>对于覆盖的边，可以考虑设计基于蜕变的方法生成等价</a:t>
            </a:r>
            <a:r>
              <a:rPr lang="zh-CN" altLang="en-US"/>
              <a:t>问题，保证每个边重复</a:t>
            </a:r>
            <a:r>
              <a:rPr lang="en-US" altLang="zh-CN"/>
              <a:t>X</a:t>
            </a:r>
            <a:r>
              <a:rPr lang="zh-CN" altLang="en-US"/>
              <a:t>次都是正确</a:t>
            </a:r>
            <a:r>
              <a:rPr lang="zh-CN" altLang="en-US"/>
              <a:t>的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扩增算子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测试</a:t>
            </a:r>
            <a:r>
              <a:rPr lang="zh-CN" altLang="en-US" b="1">
                <a:sym typeface="+mn-ea"/>
              </a:rPr>
              <a:t>生成</a:t>
            </a:r>
            <a:endParaRPr lang="zh-CN" altLang="en-US" b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859790"/>
            <a:ext cx="6457950" cy="45065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7355" y="5654675"/>
            <a:ext cx="112109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Testing Your Question Answering Software via Asking Recursively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01190" y="571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蜕变的</a:t>
            </a:r>
            <a:r>
              <a:rPr lang="zh-CN" altLang="en-US"/>
              <a:t>方法：参考</a:t>
            </a:r>
            <a:r>
              <a:rPr lang="en-US" altLang="zh-CN"/>
              <a:t>1 </a:t>
            </a:r>
            <a:r>
              <a:rPr lang="zh-CN" altLang="en-US"/>
              <a:t>和</a:t>
            </a:r>
            <a:r>
              <a:rPr lang="en-US" altLang="zh-CN"/>
              <a:t> 2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27355" y="6022975"/>
            <a:ext cx="10819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QATest: A Uniform Fuzzing Framework for Question Answering Systems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95" y="165100"/>
            <a:ext cx="5542915" cy="25634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35395" y="2980055"/>
            <a:ext cx="5089525" cy="1320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生成新测试的方法，给定图的节点和关系，想</a:t>
            </a:r>
            <a:r>
              <a:rPr lang="en-US" altLang="zh-CN"/>
              <a:t>/</a:t>
            </a:r>
            <a:r>
              <a:rPr lang="zh-CN" altLang="en-US"/>
              <a:t>找一个算法生成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62395" y="4045585"/>
            <a:ext cx="5089525" cy="1320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备选</a:t>
            </a:r>
            <a:r>
              <a:rPr lang="en-US" altLang="zh-CN"/>
              <a:t> </a:t>
            </a:r>
            <a:r>
              <a:rPr lang="zh-CN" altLang="en-US"/>
              <a:t>也可以对图像数据使用等价变换，这里方法有</a:t>
            </a:r>
            <a:r>
              <a:rPr lang="zh-CN" altLang="en-US"/>
              <a:t>很多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7355" y="165100"/>
            <a:ext cx="1099756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测试</a:t>
            </a:r>
            <a:r>
              <a:rPr lang="zh-CN" altLang="en-US" b="1">
                <a:sym typeface="+mn-ea"/>
              </a:rPr>
              <a:t>对象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7355" y="939800"/>
            <a:ext cx="8748395" cy="993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控制输入只是图片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zh-CN" altLang="en-US"/>
              <a:t>自然语言，输出只是自然语言的话，（最好是选择，或是否），用</a:t>
            </a:r>
            <a:r>
              <a:rPr lang="en-US" altLang="zh-CN"/>
              <a:t>VLA</a:t>
            </a:r>
            <a:r>
              <a:rPr lang="zh-CN" altLang="en-US"/>
              <a:t>大模型就能</a:t>
            </a:r>
            <a:r>
              <a:rPr lang="zh-CN" altLang="en-US"/>
              <a:t>测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2450" y="5849620"/>
            <a:ext cx="1021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[1] </a:t>
            </a:r>
            <a:r>
              <a:rPr lang="zh-CN" altLang="en-US"/>
              <a:t>Embodied Scene Understanding for Vision Language Models via MetaVQA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065" y="1659890"/>
            <a:ext cx="7385685" cy="4001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8765" y="47625"/>
            <a:ext cx="11046460" cy="6494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步骤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sym typeface="+mn-ea"/>
              </a:rPr>
              <a:t>阅读一些论文</a:t>
            </a:r>
            <a:r>
              <a:rPr lang="en-US" altLang="zh-CN">
                <a:sym typeface="+mn-ea"/>
              </a:rPr>
              <a:t> 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QATest </a:t>
            </a:r>
            <a:r>
              <a:rPr lang="zh-CN" altLang="en-US">
                <a:sym typeface="+mn-ea"/>
              </a:rPr>
              <a:t>了解测试的基本流程，几个核心的组件，自动化测试是怎么工作的。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MetaVQA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了解视觉问答模型的基本任务，数据集格式</a:t>
            </a:r>
            <a:endParaRPr lang="zh-CN" altLang="en-US">
              <a:sym typeface="+mn-ea"/>
            </a:endParaRPr>
          </a:p>
          <a:p>
            <a:pPr indent="457200">
              <a:buNone/>
            </a:pPr>
            <a:r>
              <a:rPr lang="zh-CN" altLang="en-US">
                <a:sym typeface="+mn-ea"/>
              </a:rPr>
              <a:t>S3C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了解场景图是什么东西，有什么用，怎么来的，怎么表示的</a:t>
            </a:r>
            <a:endParaRPr lang="zh-CN" altLang="en-US"/>
          </a:p>
          <a:p>
            <a:pPr indent="0">
              <a:buNone/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下载</a:t>
            </a:r>
            <a:r>
              <a:rPr lang="zh-CN" altLang="en-US" b="1">
                <a:sym typeface="+mn-ea"/>
              </a:rPr>
              <a:t>NuScenes</a:t>
            </a:r>
            <a:r>
              <a:rPr lang="zh-CN" altLang="en-US">
                <a:sym typeface="+mn-ea"/>
              </a:rPr>
              <a:t>数据集，了解</a:t>
            </a:r>
            <a:r>
              <a:rPr lang="zh-CN" altLang="en-US" b="1">
                <a:sym typeface="+mn-ea"/>
              </a:rPr>
              <a:t>NuScenes</a:t>
            </a:r>
            <a:r>
              <a:rPr lang="zh-CN" altLang="en-US">
                <a:sym typeface="+mn-ea"/>
              </a:rPr>
              <a:t>数据集的格式，怎么用的，什么样的，</a:t>
            </a:r>
            <a:r>
              <a:rPr lang="en-US" altLang="zh-CN">
                <a:sym typeface="+mn-ea"/>
              </a:rPr>
              <a:t>devkit,</a:t>
            </a:r>
            <a:br>
              <a:rPr lang="zh-CN" altLang="en-US">
                <a:sym typeface="+mn-ea"/>
              </a:rPr>
            </a:br>
            <a:endParaRPr lang="en-US" altLang="zh-CN">
              <a:sym typeface="+mn-ea"/>
            </a:endParaRPr>
          </a:p>
          <a:p>
            <a:pPr indent="0"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NuScenes-QA，</a:t>
            </a:r>
            <a:r>
              <a:rPr>
                <a:sym typeface="+mn-ea"/>
              </a:rPr>
              <a:t>NuScenes-MQA</a:t>
            </a:r>
            <a:r>
              <a:rPr 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MetaVQA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都下载下来，快速了解一下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，重点在</a:t>
            </a:r>
            <a:r>
              <a:rPr lang="zh-CN" altLang="en-US" b="1">
                <a:sym typeface="+mn-ea"/>
              </a:rPr>
              <a:t>NuScenes-QA，不同数据集的规模，标注方式，问题的类型（问答题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选择题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是否题，标准化的</a:t>
            </a:r>
            <a:r>
              <a:rPr lang="en-US" altLang="zh-CN" b="1">
                <a:sym typeface="+mn-ea"/>
              </a:rPr>
              <a:t>VLM</a:t>
            </a:r>
            <a:r>
              <a:rPr lang="zh-CN" altLang="en-US" b="1">
                <a:sym typeface="+mn-ea"/>
              </a:rPr>
              <a:t>回答处理</a:t>
            </a:r>
            <a:r>
              <a:rPr lang="zh-CN" altLang="en-US" b="1">
                <a:sym typeface="+mn-ea"/>
              </a:rPr>
              <a:t>流程）</a:t>
            </a:r>
            <a:endParaRPr lang="zh-CN" altLang="en-US" b="1">
              <a:sym typeface="+mn-ea"/>
            </a:endParaRPr>
          </a:p>
          <a:p>
            <a:pPr indent="0">
              <a:buNone/>
            </a:pPr>
            <a:endParaRPr lang="zh-CN" altLang="en-US" b="1">
              <a:sym typeface="+mn-ea"/>
            </a:endParaRPr>
          </a:p>
          <a:p>
            <a:pPr indent="0">
              <a:buNone/>
            </a:pPr>
            <a:r>
              <a:rPr lang="en-US" altLang="zh-CN">
                <a:sym typeface="+mn-ea"/>
              </a:rPr>
              <a:t>*4.  </a:t>
            </a:r>
            <a:r>
              <a:rPr lang="zh-CN" altLang="en-US">
                <a:sym typeface="+mn-ea"/>
              </a:rPr>
              <a:t>配置一个</a:t>
            </a:r>
            <a:r>
              <a:rPr lang="en-US" altLang="zh-CN">
                <a:sym typeface="+mn-ea"/>
              </a:rPr>
              <a:t>SUT</a:t>
            </a:r>
            <a:r>
              <a:rPr lang="zh-CN" altLang="en-US">
                <a:sym typeface="+mn-ea"/>
              </a:rPr>
              <a:t>，然后在这个</a:t>
            </a:r>
            <a:r>
              <a:rPr lang="en-US" altLang="zh-CN">
                <a:sym typeface="+mn-ea"/>
              </a:rPr>
              <a:t>SUT</a:t>
            </a:r>
            <a:r>
              <a:rPr lang="zh-CN" altLang="en-US">
                <a:sym typeface="+mn-ea"/>
              </a:rPr>
              <a:t>上，把初始的数据集精度跑出来</a:t>
            </a:r>
            <a:endParaRPr lang="zh-CN" altLang="en-US">
              <a:sym typeface="+mn-ea"/>
            </a:endParaRPr>
          </a:p>
          <a:p>
            <a:pPr indent="0">
              <a:buNone/>
            </a:pPr>
            <a:endParaRPr lang="zh-CN" altLang="en-US">
              <a:sym typeface="+mn-ea"/>
            </a:endParaRPr>
          </a:p>
          <a:p>
            <a:pPr indent="0">
              <a:buNone/>
            </a:pPr>
            <a:r>
              <a:rPr lang="en-US" altLang="zh-CN">
                <a:sym typeface="+mn-ea"/>
              </a:rPr>
              <a:t>5. </a:t>
            </a:r>
            <a:r>
              <a:rPr lang="zh-CN" altLang="en-US">
                <a:sym typeface="+mn-ea"/>
              </a:rPr>
              <a:t>场景图生成，只跟数据集相关的一个任务。从图像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标签</a:t>
            </a:r>
            <a:r>
              <a:rPr lang="en-US" altLang="zh-CN">
                <a:sym typeface="+mn-ea"/>
              </a:rPr>
              <a:t> -&gt; </a:t>
            </a:r>
            <a:r>
              <a:rPr lang="zh-CN" altLang="en-US">
                <a:sym typeface="+mn-ea"/>
              </a:rPr>
              <a:t>半结构化的语言</a:t>
            </a:r>
            <a:r>
              <a:rPr lang="en-US" altLang="zh-CN">
                <a:sym typeface="+mn-ea"/>
              </a:rPr>
              <a:t> &lt;Car1,Ego&gt; Left -&gt; </a:t>
            </a:r>
            <a:r>
              <a:rPr lang="zh-CN" altLang="en-US">
                <a:sym typeface="+mn-ea"/>
              </a:rPr>
              <a:t>结构化的语言</a:t>
            </a:r>
            <a:r>
              <a:rPr lang="en-US" altLang="zh-CN">
                <a:sym typeface="+mn-ea"/>
              </a:rPr>
              <a:t> .graphhml .graphjson graphz</a:t>
            </a:r>
            <a:endParaRPr lang="en-US" altLang="zh-CN">
              <a:sym typeface="+mn-ea"/>
            </a:endParaRPr>
          </a:p>
          <a:p>
            <a:pPr indent="0">
              <a:buNone/>
            </a:pPr>
            <a:endParaRPr lang="en-US" altLang="zh-CN" b="1">
              <a:sym typeface="+mn-ea"/>
            </a:endParaRPr>
          </a:p>
          <a:p>
            <a:pPr indent="0">
              <a:buNone/>
            </a:pPr>
            <a:r>
              <a:rPr lang="en-US" altLang="zh-CN">
                <a:sym typeface="+mn-ea"/>
              </a:rPr>
              <a:t>6. </a:t>
            </a:r>
            <a:r>
              <a:rPr lang="zh-CN" altLang="en-US">
                <a:sym typeface="+mn-ea"/>
              </a:rPr>
              <a:t>看一下原始数据在生成的场景图上的一个覆盖率</a:t>
            </a:r>
            <a:endParaRPr lang="zh-CN" altLang="en-US" b="1">
              <a:sym typeface="+mn-ea"/>
            </a:endParaRPr>
          </a:p>
          <a:p>
            <a:pPr indent="0">
              <a:buNone/>
            </a:pPr>
            <a:endParaRPr lang="zh-CN" altLang="en-US" b="1">
              <a:sym typeface="+mn-ea"/>
            </a:endParaRPr>
          </a:p>
          <a:p>
            <a:pPr indent="0">
              <a:buNone/>
            </a:pP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2216</Words>
  <Application>WPS 演示</Application>
  <PresentationFormat>宽屏</PresentationFormat>
  <Paragraphs>109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Adobe 黑体 Std R</vt:lpstr>
      <vt:lpstr>汉仪中黑KW</vt:lpstr>
      <vt:lpstr>等线</vt:lpstr>
      <vt:lpstr>等线</vt:lpstr>
      <vt:lpstr>Times New Roman</vt:lpstr>
      <vt:lpstr>微软雅黑</vt:lpstr>
      <vt:lpstr>汉仪旗黑</vt:lpstr>
      <vt:lpstr>Wingdings</vt:lpstr>
      <vt:lpstr>汉仪书宋二KW</vt:lpstr>
      <vt:lpstr>汉仪中等线KW</vt:lpstr>
      <vt:lpstr>宋体</vt:lpstr>
      <vt:lpstr>Arial Unicode MS</vt:lpstr>
      <vt:lpstr>Calibri</vt:lpstr>
      <vt:lpstr>Helvetica Neue</vt:lpstr>
      <vt:lpstr>WPS</vt:lpstr>
      <vt:lpstr>Testing Vision-Language Models for Autonomous Driving Scene Understanding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年糕</cp:lastModifiedBy>
  <cp:revision>44</cp:revision>
  <dcterms:created xsi:type="dcterms:W3CDTF">2025-11-10T09:18:16Z</dcterms:created>
  <dcterms:modified xsi:type="dcterms:W3CDTF">2025-11-10T09:18:16Z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2052-6.1.0.8274</vt:lpwstr>
  </property>
  <property fmtid="{D5CDD505-2E9C-101B-9397-08002B2CF9AE}" pid="3" name="ICV">
    <vt:lpwstr>37864188CFC77C4DA6780B6979674769_42</vt:lpwstr>
  </property>
</Properties>
</file>