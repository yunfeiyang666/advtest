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 id="271" r:id="rId18"/>
    <p:sldId id="273" r:id="rId19"/>
    <p:sldId id="274" r:id="rId20"/>
    <p:sldId id="276" r:id="rId21"/>
    <p:sldId id="277" r:id="rId22"/>
    <p:sldId id="278" r:id="rId23"/>
    <p:sldId id="279" r:id="rId24"/>
    <p:sldId id="280" r:id="rId25"/>
    <p:sldId id="281" r:id="rId26"/>
    <p:sldId id="282" r:id="rId27"/>
    <p:sldId id="283" r:id="rId28"/>
    <p:sldId id="284" r:id="rId29"/>
    <p:sldId id="285" r:id="rId30"/>
    <p:sldId id="275" r:id="rId31"/>
    <p:sldId id="288" r:id="rId32"/>
    <p:sldId id="286" r:id="rId33"/>
    <p:sldId id="294" r:id="rId34"/>
    <p:sldId id="291" r:id="rId35"/>
    <p:sldId id="293" r:id="rId36"/>
    <p:sldId id="292" r:id="rId37"/>
    <p:sldId id="287" r:id="rId38"/>
    <p:sldId id="290" r:id="rId39"/>
    <p:sldId id="289" r:id="rId40"/>
    <p:sldId id="295"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8" d="100"/>
          <a:sy n="88" d="100"/>
        </p:scale>
        <p:origin x="106"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7CBF3C-1017-5E96-D559-A921A7EE59D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7EC8C-EA03-AD62-3852-16D5D204C6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4FB5B61-AB6B-B299-B28A-3B82EEDBE57A}"/>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8AEC1B26-04BE-7E3D-7B8C-292EAA904A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4BBC334-46F2-44B4-330F-AFAD22AC3870}"/>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187736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24D9E-C4EC-BFCA-7916-EE5EDED5CF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61878A8-A290-2723-1750-75EA277FCB0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28C9894-C2D2-B8BD-B8BF-D77D16C7DB0B}"/>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76186461-AC5C-0F60-2AD1-5E54DEFBCD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C68647-BCB3-7CA6-3636-2898F389B1C3}"/>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72988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250B51-307B-B6F6-78B7-BBB5F1B35D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67A4E48-D21C-853E-2E92-5152E4DD36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F58F3A3-B7DE-53A6-CAD5-B67D67FA5BB9}"/>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EC1464B8-4A87-81A6-3D5E-6B997AAA44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F732F4-2939-8A60-74CF-0A90B97E9FA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82560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FA13E-04F8-C860-86DF-6422DF4389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4C7F5E8-EF66-7990-D93A-971400C26D0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743CAEA-CDF8-C9DA-F202-248ED8BA092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756F998-057D-352A-33DE-AC4E26FCE25F}"/>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6" name="页脚占位符 5">
            <a:extLst>
              <a:ext uri="{FF2B5EF4-FFF2-40B4-BE49-F238E27FC236}">
                <a16:creationId xmlns:a16="http://schemas.microsoft.com/office/drawing/2014/main" id="{26F14216-BF12-766D-33BD-D27AF5644D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69569F-5A7C-F44F-B190-0AD5D1E59CC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052822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F6410-339E-1E05-5DAD-E46F9EB064C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584DDBA-9699-260D-3EE2-13ED5BCA71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EC3937C-6A0D-6776-8073-072EB8E67C3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760640-E058-8C5E-4260-48ED08E94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993043E-94A2-509B-0B41-BF599A1F780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718B82B-C75E-8372-BFA6-AC73761277D9}"/>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8" name="页脚占位符 7">
            <a:extLst>
              <a:ext uri="{FF2B5EF4-FFF2-40B4-BE49-F238E27FC236}">
                <a16:creationId xmlns:a16="http://schemas.microsoft.com/office/drawing/2014/main" id="{63BB4983-5B3C-8F4C-9B8A-7B3E2E6EC03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A7002A4-72FB-2A25-DA67-2D1D58C1FB8C}"/>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1431155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499BD-BD56-8DCA-862D-BB18D5650C7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85D03F2-093C-42D7-B40E-14012AE73BB5}"/>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4" name="页脚占位符 3">
            <a:extLst>
              <a:ext uri="{FF2B5EF4-FFF2-40B4-BE49-F238E27FC236}">
                <a16:creationId xmlns:a16="http://schemas.microsoft.com/office/drawing/2014/main" id="{A570098A-7854-2D2B-FC5B-BFFF6005369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182F5D0-CCC8-F4FB-6C5A-7854270F42B2}"/>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58652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43BCCF-322C-31CA-40E6-462AFE82DDA3}"/>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3" name="页脚占位符 2">
            <a:extLst>
              <a:ext uri="{FF2B5EF4-FFF2-40B4-BE49-F238E27FC236}">
                <a16:creationId xmlns:a16="http://schemas.microsoft.com/office/drawing/2014/main" id="{BF1C97BE-9706-45F2-6CAB-BBAB341A9B7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1B40E76-125C-AB24-A5D2-9E52B0F8497B}"/>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1623604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43267-A427-68BC-E4DB-E2B4CAA966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12AF21A-8CCD-B88E-8DF0-D990A5C2B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DF289A4-A976-FFB6-D9F0-B0E83A6BA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95784D-2B88-6F58-6D5F-659D79B08928}"/>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6" name="页脚占位符 5">
            <a:extLst>
              <a:ext uri="{FF2B5EF4-FFF2-40B4-BE49-F238E27FC236}">
                <a16:creationId xmlns:a16="http://schemas.microsoft.com/office/drawing/2014/main" id="{B98FB71A-A9F4-A572-67D3-A6402117AB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5EA2A2-3734-443A-77AE-0DC4A0EDEF79}"/>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105394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38405F-BC92-1853-DF33-71E779759DF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7864B3B-F75B-8989-0B05-CD124B6745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3259882-394A-E1DB-9AF1-C70F718E9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483BC6C-84DA-54D1-C6FD-2839E747BAD1}"/>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6" name="页脚占位符 5">
            <a:extLst>
              <a:ext uri="{FF2B5EF4-FFF2-40B4-BE49-F238E27FC236}">
                <a16:creationId xmlns:a16="http://schemas.microsoft.com/office/drawing/2014/main" id="{FAE6A32C-4A32-E6FA-244F-A2EF03DF20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374B6C-9120-9226-DB30-874A6476E773}"/>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861552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46E3E-D54F-E19C-E047-FD356376E52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7A9A057-2C88-E4F5-C450-0933B8A6A28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22B0C7-1751-2F78-30FF-7A735E473A15}"/>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9EF31CA0-BD88-5751-9597-21ED667965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210CA1-7AF3-7F59-60F4-E6ADD05939F2}"/>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90645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B48FBB-F8B2-D5AC-D41B-A74814B05A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7AB8D7A-0B29-9A0D-81C9-1ECE1139747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E0309E-9262-DF28-8EA3-809CE952AF0F}"/>
              </a:ext>
            </a:extLst>
          </p:cNvPr>
          <p:cNvSpPr>
            <a:spLocks noGrp="1"/>
          </p:cNvSpPr>
          <p:nvPr>
            <p:ph type="dt" sz="half" idx="10"/>
          </p:nvPr>
        </p:nvSpPr>
        <p:spPr/>
        <p:txBody>
          <a:body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44AFD5D4-82FB-88AD-9D71-10630E1829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1CCE8A-89B7-224B-70A9-BE42103CA335}"/>
              </a:ext>
            </a:extLst>
          </p:cNvPr>
          <p:cNvSpPr>
            <a:spLocks noGrp="1"/>
          </p:cNvSpPr>
          <p:nvPr>
            <p:ph type="sldNum" sz="quarter" idx="12"/>
          </p:nvPr>
        </p:nvSpPr>
        <p:spPr/>
        <p:txBody>
          <a:body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4029601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13449C-3E6D-51AB-D03E-78C5C6CE6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1213F5A-7795-BE9C-4052-D84DEC8B38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9062B52-06BB-CD8E-D6CD-F5A7ACC3D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FC38A-99EA-4BB7-9ED5-C2418A077141}" type="datetimeFigureOut">
              <a:rPr lang="zh-CN" altLang="en-US" smtClean="0"/>
              <a:t>2026/5/9</a:t>
            </a:fld>
            <a:endParaRPr lang="zh-CN" altLang="en-US"/>
          </a:p>
        </p:txBody>
      </p:sp>
      <p:sp>
        <p:nvSpPr>
          <p:cNvPr id="5" name="页脚占位符 4">
            <a:extLst>
              <a:ext uri="{FF2B5EF4-FFF2-40B4-BE49-F238E27FC236}">
                <a16:creationId xmlns:a16="http://schemas.microsoft.com/office/drawing/2014/main" id="{5311467C-C49B-4458-4291-EF53D83FD8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DDAB49E-7083-D13D-0D0F-50C14B6EC5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86259A-82AF-4E8A-8E37-6E1F2A54A158}" type="slidenum">
              <a:rPr lang="zh-CN" altLang="en-US" smtClean="0"/>
              <a:t>‹#›</a:t>
            </a:fld>
            <a:endParaRPr lang="zh-CN" altLang="en-US"/>
          </a:p>
        </p:txBody>
      </p:sp>
    </p:spTree>
    <p:extLst>
      <p:ext uri="{BB962C8B-B14F-4D97-AF65-F5344CB8AC3E}">
        <p14:creationId xmlns:p14="http://schemas.microsoft.com/office/powerpoint/2010/main" val="3652899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AD43D-C331-4B5C-60B7-D6FD818B3203}"/>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63071CF5-A0DA-712D-1D29-D60776E6BD58}"/>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892123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3C4DB1-AE6D-0802-651D-6611CFF19E7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0B2C515-08EC-EF83-2DEE-11E6FD12C286}"/>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92C5AE33-ED0D-16B2-63BC-5A26A9CBA7FD}"/>
              </a:ext>
            </a:extLst>
          </p:cNvPr>
          <p:cNvPicPr>
            <a:picLocks noChangeAspect="1"/>
          </p:cNvPicPr>
          <p:nvPr/>
        </p:nvPicPr>
        <p:blipFill>
          <a:blip r:embed="rId2"/>
          <a:stretch>
            <a:fillRect/>
          </a:stretch>
        </p:blipFill>
        <p:spPr>
          <a:xfrm>
            <a:off x="734314" y="294837"/>
            <a:ext cx="10012172" cy="6268325"/>
          </a:xfrm>
          <a:prstGeom prst="rect">
            <a:avLst/>
          </a:prstGeom>
        </p:spPr>
      </p:pic>
    </p:spTree>
    <p:extLst>
      <p:ext uri="{BB962C8B-B14F-4D97-AF65-F5344CB8AC3E}">
        <p14:creationId xmlns:p14="http://schemas.microsoft.com/office/powerpoint/2010/main" val="76157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9A3B8-D133-DEDA-F837-64B6052811F2}"/>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7F68A4A3-AF65-F12E-D3A4-DC7E0E7486D6}"/>
              </a:ext>
            </a:extLst>
          </p:cNvPr>
          <p:cNvPicPr>
            <a:picLocks noGrp="1" noChangeAspect="1"/>
          </p:cNvPicPr>
          <p:nvPr>
            <p:ph idx="1"/>
          </p:nvPr>
        </p:nvPicPr>
        <p:blipFill>
          <a:blip r:embed="rId2"/>
          <a:stretch>
            <a:fillRect/>
          </a:stretch>
        </p:blipFill>
        <p:spPr>
          <a:xfrm>
            <a:off x="838200" y="861862"/>
            <a:ext cx="5419113" cy="4351338"/>
          </a:xfrm>
          <a:prstGeom prst="rect">
            <a:avLst/>
          </a:prstGeom>
        </p:spPr>
      </p:pic>
      <p:pic>
        <p:nvPicPr>
          <p:cNvPr id="4" name="图片 3">
            <a:extLst>
              <a:ext uri="{FF2B5EF4-FFF2-40B4-BE49-F238E27FC236}">
                <a16:creationId xmlns:a16="http://schemas.microsoft.com/office/drawing/2014/main" id="{E33257F6-ED1E-65AB-9A30-6006BC58A755}"/>
              </a:ext>
            </a:extLst>
          </p:cNvPr>
          <p:cNvPicPr>
            <a:picLocks noChangeAspect="1"/>
          </p:cNvPicPr>
          <p:nvPr/>
        </p:nvPicPr>
        <p:blipFill>
          <a:blip r:embed="rId3"/>
          <a:stretch>
            <a:fillRect/>
          </a:stretch>
        </p:blipFill>
        <p:spPr>
          <a:xfrm>
            <a:off x="6953930" y="957098"/>
            <a:ext cx="4790270" cy="4256102"/>
          </a:xfrm>
          <a:prstGeom prst="rect">
            <a:avLst/>
          </a:prstGeom>
        </p:spPr>
      </p:pic>
    </p:spTree>
    <p:extLst>
      <p:ext uri="{BB962C8B-B14F-4D97-AF65-F5344CB8AC3E}">
        <p14:creationId xmlns:p14="http://schemas.microsoft.com/office/powerpoint/2010/main" val="26310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F2154-61C0-A9AF-8994-6DD69596DC6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91A34FE-22BA-4CD1-0453-E7C343A13FD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8B9B6CC-E57B-C049-7B19-4DCF5D27AF69}"/>
              </a:ext>
            </a:extLst>
          </p:cNvPr>
          <p:cNvPicPr>
            <a:picLocks noChangeAspect="1"/>
          </p:cNvPicPr>
          <p:nvPr/>
        </p:nvPicPr>
        <p:blipFill>
          <a:blip r:embed="rId2"/>
          <a:stretch>
            <a:fillRect/>
          </a:stretch>
        </p:blipFill>
        <p:spPr>
          <a:xfrm>
            <a:off x="1952046" y="1085523"/>
            <a:ext cx="8287907" cy="4686954"/>
          </a:xfrm>
          <a:prstGeom prst="rect">
            <a:avLst/>
          </a:prstGeom>
        </p:spPr>
      </p:pic>
    </p:spTree>
    <p:extLst>
      <p:ext uri="{BB962C8B-B14F-4D97-AF65-F5344CB8AC3E}">
        <p14:creationId xmlns:p14="http://schemas.microsoft.com/office/powerpoint/2010/main" val="53196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67BA20-C8D2-404B-DD05-6308612A4350}"/>
              </a:ext>
            </a:extLst>
          </p:cNvPr>
          <p:cNvSpPr>
            <a:spLocks noGrp="1"/>
          </p:cNvSpPr>
          <p:nvPr>
            <p:ph type="title"/>
          </p:nvPr>
        </p:nvSpPr>
        <p:spPr/>
        <p:txBody>
          <a:bodyPr/>
          <a:lstStyle/>
          <a:p>
            <a:r>
              <a:rPr lang="zh-CN" altLang="en-US" dirty="0"/>
              <a:t>缩短时间的方法</a:t>
            </a:r>
          </a:p>
        </p:txBody>
      </p:sp>
      <p:sp>
        <p:nvSpPr>
          <p:cNvPr id="3" name="内容占位符 2">
            <a:extLst>
              <a:ext uri="{FF2B5EF4-FFF2-40B4-BE49-F238E27FC236}">
                <a16:creationId xmlns:a16="http://schemas.microsoft.com/office/drawing/2014/main" id="{FB571D78-1CB4-5773-CE95-DFDB07DFC1D2}"/>
              </a:ext>
            </a:extLst>
          </p:cNvPr>
          <p:cNvSpPr>
            <a:spLocks noGrp="1"/>
          </p:cNvSpPr>
          <p:nvPr>
            <p:ph idx="1"/>
          </p:nvPr>
        </p:nvSpPr>
        <p:spPr/>
        <p:txBody>
          <a:bodyPr/>
          <a:lstStyle/>
          <a:p>
            <a:r>
              <a:rPr lang="en-US" altLang="zh-CN" dirty="0"/>
              <a:t>1.</a:t>
            </a:r>
            <a:r>
              <a:rPr lang="zh-CN" altLang="en-US" dirty="0"/>
              <a:t>核心时间耗在来回请求，增加打包的并发</a:t>
            </a:r>
            <a:endParaRPr lang="en-US" altLang="zh-CN" dirty="0"/>
          </a:p>
          <a:p>
            <a:r>
              <a:rPr lang="en-US" altLang="zh-CN" dirty="0"/>
              <a:t>2.</a:t>
            </a:r>
            <a:r>
              <a:rPr lang="zh-CN" altLang="en-US" dirty="0"/>
              <a:t>对庞大的</a:t>
            </a:r>
            <a:r>
              <a:rPr lang="en-US" altLang="zh-CN" dirty="0"/>
              <a:t>L</a:t>
            </a:r>
            <a:r>
              <a:rPr lang="zh-CN" altLang="en-US" dirty="0"/>
              <a:t>进行筛选，单边的距离超过</a:t>
            </a:r>
            <a:r>
              <a:rPr lang="en-US" altLang="zh-CN" dirty="0"/>
              <a:t>20</a:t>
            </a:r>
            <a:r>
              <a:rPr lang="zh-CN" altLang="en-US" dirty="0"/>
              <a:t>或</a:t>
            </a:r>
            <a:r>
              <a:rPr lang="en-US" altLang="zh-CN" dirty="0"/>
              <a:t>30m</a:t>
            </a:r>
            <a:r>
              <a:rPr lang="zh-CN" altLang="en-US" dirty="0"/>
              <a:t>就不算？</a:t>
            </a:r>
          </a:p>
        </p:txBody>
      </p:sp>
    </p:spTree>
    <p:extLst>
      <p:ext uri="{BB962C8B-B14F-4D97-AF65-F5344CB8AC3E}">
        <p14:creationId xmlns:p14="http://schemas.microsoft.com/office/powerpoint/2010/main" val="2554020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89B08E-2F56-9CFF-D6A2-DF5A2F761DD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DA01F48-BF54-CAE1-CAF4-E9C01E3432F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DFF06CA-3D7C-4CCB-BE9A-DB2FD5ABCE99}"/>
              </a:ext>
            </a:extLst>
          </p:cNvPr>
          <p:cNvPicPr>
            <a:picLocks noChangeAspect="1"/>
          </p:cNvPicPr>
          <p:nvPr/>
        </p:nvPicPr>
        <p:blipFill>
          <a:blip r:embed="rId2"/>
          <a:stretch>
            <a:fillRect/>
          </a:stretch>
        </p:blipFill>
        <p:spPr>
          <a:xfrm>
            <a:off x="2444038" y="0"/>
            <a:ext cx="7303924" cy="6858000"/>
          </a:xfrm>
          <a:prstGeom prst="rect">
            <a:avLst/>
          </a:prstGeom>
        </p:spPr>
      </p:pic>
    </p:spTree>
    <p:extLst>
      <p:ext uri="{BB962C8B-B14F-4D97-AF65-F5344CB8AC3E}">
        <p14:creationId xmlns:p14="http://schemas.microsoft.com/office/powerpoint/2010/main" val="2042502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AB852B-01F8-E94A-BD4F-E0D6303EC23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FF48001-AFA2-E45E-DE0D-A0101EB9C95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27EA6A12-1134-3555-44F2-13A089060781}"/>
              </a:ext>
            </a:extLst>
          </p:cNvPr>
          <p:cNvPicPr>
            <a:picLocks noChangeAspect="1"/>
          </p:cNvPicPr>
          <p:nvPr/>
        </p:nvPicPr>
        <p:blipFill>
          <a:blip r:embed="rId2"/>
          <a:stretch>
            <a:fillRect/>
          </a:stretch>
        </p:blipFill>
        <p:spPr>
          <a:xfrm>
            <a:off x="1370940" y="361522"/>
            <a:ext cx="9450119" cy="6134956"/>
          </a:xfrm>
          <a:prstGeom prst="rect">
            <a:avLst/>
          </a:prstGeom>
        </p:spPr>
      </p:pic>
    </p:spTree>
    <p:extLst>
      <p:ext uri="{BB962C8B-B14F-4D97-AF65-F5344CB8AC3E}">
        <p14:creationId xmlns:p14="http://schemas.microsoft.com/office/powerpoint/2010/main" val="2474669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A8E41-82BC-A029-8E37-486B065FAF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286D68F-5B72-C70E-4164-21AA1E8BCE1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D080382-6200-C4C7-8E24-0467923BC5E9}"/>
              </a:ext>
            </a:extLst>
          </p:cNvPr>
          <p:cNvPicPr>
            <a:picLocks noChangeAspect="1"/>
          </p:cNvPicPr>
          <p:nvPr/>
        </p:nvPicPr>
        <p:blipFill>
          <a:blip r:embed="rId2"/>
          <a:stretch>
            <a:fillRect/>
          </a:stretch>
        </p:blipFill>
        <p:spPr>
          <a:xfrm>
            <a:off x="1189940" y="2447788"/>
            <a:ext cx="9812119" cy="1962424"/>
          </a:xfrm>
          <a:prstGeom prst="rect">
            <a:avLst/>
          </a:prstGeom>
        </p:spPr>
      </p:pic>
    </p:spTree>
    <p:extLst>
      <p:ext uri="{BB962C8B-B14F-4D97-AF65-F5344CB8AC3E}">
        <p14:creationId xmlns:p14="http://schemas.microsoft.com/office/powerpoint/2010/main" val="173516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C52DAA-E485-FAE2-CEE9-8DBDF59C4D33}"/>
              </a:ext>
            </a:extLst>
          </p:cNvPr>
          <p:cNvSpPr>
            <a:spLocks noGrp="1"/>
          </p:cNvSpPr>
          <p:nvPr>
            <p:ph type="title"/>
          </p:nvPr>
        </p:nvSpPr>
        <p:spPr/>
        <p:txBody>
          <a:bodyPr/>
          <a:lstStyle/>
          <a:p>
            <a:r>
              <a:rPr lang="zh-CN" altLang="en-US" dirty="0"/>
              <a:t>模板库与约束库是否要融合</a:t>
            </a:r>
          </a:p>
        </p:txBody>
      </p:sp>
      <p:sp>
        <p:nvSpPr>
          <p:cNvPr id="3" name="内容占位符 2">
            <a:extLst>
              <a:ext uri="{FF2B5EF4-FFF2-40B4-BE49-F238E27FC236}">
                <a16:creationId xmlns:a16="http://schemas.microsoft.com/office/drawing/2014/main" id="{5B043284-5D1B-FCE6-470F-106534A982D3}"/>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88289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3C982-0188-928E-EC48-25C4B406FC74}"/>
              </a:ext>
            </a:extLst>
          </p:cNvPr>
          <p:cNvSpPr>
            <a:spLocks noGrp="1"/>
          </p:cNvSpPr>
          <p:nvPr>
            <p:ph type="title"/>
          </p:nvPr>
        </p:nvSpPr>
        <p:spPr/>
        <p:txBody>
          <a:bodyPr/>
          <a:lstStyle/>
          <a:p>
            <a:r>
              <a:rPr lang="zh-CN" altLang="en-US" dirty="0"/>
              <a:t>将六千帧测试题对应的</a:t>
            </a:r>
            <a:r>
              <a:rPr lang="en-US" altLang="zh-CN" dirty="0" err="1"/>
              <a:t>nuscenes</a:t>
            </a:r>
            <a:r>
              <a:rPr lang="zh-CN" altLang="en-US" dirty="0"/>
              <a:t>数据单独抽出来，方便迁移</a:t>
            </a:r>
          </a:p>
        </p:txBody>
      </p:sp>
      <p:sp>
        <p:nvSpPr>
          <p:cNvPr id="3" name="内容占位符 2">
            <a:extLst>
              <a:ext uri="{FF2B5EF4-FFF2-40B4-BE49-F238E27FC236}">
                <a16:creationId xmlns:a16="http://schemas.microsoft.com/office/drawing/2014/main" id="{D41A52BA-B370-3351-6CE9-F7BEB9CC65C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86026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4BC6E-7591-67E5-F98F-D2374286CE9B}"/>
              </a:ext>
            </a:extLst>
          </p:cNvPr>
          <p:cNvSpPr>
            <a:spLocks noGrp="1"/>
          </p:cNvSpPr>
          <p:nvPr>
            <p:ph type="title"/>
          </p:nvPr>
        </p:nvSpPr>
        <p:spPr/>
        <p:txBody>
          <a:bodyPr/>
          <a:lstStyle/>
          <a:p>
            <a:r>
              <a:rPr lang="zh-CN" altLang="en-US" dirty="0"/>
              <a:t>原题集的</a:t>
            </a:r>
            <a:r>
              <a:rPr lang="en-US" altLang="zh-CN" dirty="0" err="1"/>
              <a:t>llm</a:t>
            </a:r>
            <a:r>
              <a:rPr lang="zh-CN" altLang="en-US" dirty="0"/>
              <a:t>转化能用离线吗</a:t>
            </a:r>
          </a:p>
        </p:txBody>
      </p:sp>
      <p:sp>
        <p:nvSpPr>
          <p:cNvPr id="3" name="内容占位符 2">
            <a:extLst>
              <a:ext uri="{FF2B5EF4-FFF2-40B4-BE49-F238E27FC236}">
                <a16:creationId xmlns:a16="http://schemas.microsoft.com/office/drawing/2014/main" id="{324199E5-A952-2E5C-D7DA-47CC6DEE16E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80327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16E78-43F3-7C64-96E8-05093EEF38DC}"/>
              </a:ext>
            </a:extLst>
          </p:cNvPr>
          <p:cNvSpPr>
            <a:spLocks noGrp="1"/>
          </p:cNvSpPr>
          <p:nvPr>
            <p:ph type="title"/>
          </p:nvPr>
        </p:nvSpPr>
        <p:spPr/>
        <p:txBody>
          <a:bodyPr/>
          <a:lstStyle/>
          <a:p>
            <a:r>
              <a:rPr lang="zh-CN" altLang="en-US" dirty="0"/>
              <a:t>大批量写入</a:t>
            </a:r>
            <a:r>
              <a:rPr lang="en-US" altLang="zh-CN" dirty="0"/>
              <a:t>excel</a:t>
            </a:r>
            <a:r>
              <a:rPr lang="zh-CN" altLang="en-US" dirty="0"/>
              <a:t>出现并发问题</a:t>
            </a:r>
          </a:p>
        </p:txBody>
      </p:sp>
      <p:sp>
        <p:nvSpPr>
          <p:cNvPr id="3" name="内容占位符 2">
            <a:extLst>
              <a:ext uri="{FF2B5EF4-FFF2-40B4-BE49-F238E27FC236}">
                <a16:creationId xmlns:a16="http://schemas.microsoft.com/office/drawing/2014/main" id="{C8AF2705-8154-3A73-A925-1C58C37C10EE}"/>
              </a:ext>
            </a:extLst>
          </p:cNvPr>
          <p:cNvSpPr>
            <a:spLocks noGrp="1"/>
          </p:cNvSpPr>
          <p:nvPr>
            <p:ph idx="1"/>
          </p:nvPr>
        </p:nvSpPr>
        <p:spPr/>
        <p:txBody>
          <a:bodyPr/>
          <a:lstStyle/>
          <a:p>
            <a:r>
              <a:rPr lang="zh-CN" altLang="en-US" dirty="0"/>
              <a:t>先写入</a:t>
            </a:r>
            <a:r>
              <a:rPr lang="en-US" altLang="zh-CN" dirty="0"/>
              <a:t>csv</a:t>
            </a:r>
            <a:r>
              <a:rPr lang="zh-CN" altLang="en-US" dirty="0"/>
              <a:t>，有追加模式，再通过简单转换到</a:t>
            </a:r>
            <a:r>
              <a:rPr lang="en-US" altLang="zh-CN" dirty="0"/>
              <a:t>excel</a:t>
            </a:r>
          </a:p>
          <a:p>
            <a:r>
              <a:rPr lang="en-US" altLang="zh-CN" dirty="0"/>
              <a:t>pandas </a:t>
            </a:r>
            <a:r>
              <a:rPr lang="zh-CN" altLang="en-US" dirty="0"/>
              <a:t>转换 </a:t>
            </a:r>
            <a:r>
              <a:rPr lang="en-US" altLang="zh-CN" dirty="0"/>
              <a:t>30000 </a:t>
            </a:r>
            <a:r>
              <a:rPr lang="zh-CN" altLang="en-US" dirty="0"/>
              <a:t>行 </a:t>
            </a:r>
            <a:r>
              <a:rPr lang="en-US" altLang="zh-CN" dirty="0"/>
              <a:t>&lt; 10 </a:t>
            </a:r>
            <a:r>
              <a:rPr lang="zh-CN" altLang="en-US" dirty="0"/>
              <a:t>秒</a:t>
            </a:r>
          </a:p>
        </p:txBody>
      </p:sp>
    </p:spTree>
    <p:extLst>
      <p:ext uri="{BB962C8B-B14F-4D97-AF65-F5344CB8AC3E}">
        <p14:creationId xmlns:p14="http://schemas.microsoft.com/office/powerpoint/2010/main" val="36929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72E6D-A96C-711A-166A-1D95694C57F1}"/>
              </a:ext>
            </a:extLst>
          </p:cNvPr>
          <p:cNvSpPr>
            <a:spLocks noGrp="1"/>
          </p:cNvSpPr>
          <p:nvPr>
            <p:ph type="title"/>
          </p:nvPr>
        </p:nvSpPr>
        <p:spPr/>
        <p:txBody>
          <a:bodyPr/>
          <a:lstStyle/>
          <a:p>
            <a:r>
              <a:rPr lang="zh-CN" altLang="en-US"/>
              <a:t>覆盖增长问题</a:t>
            </a:r>
            <a:endParaRPr lang="zh-CN" altLang="en-US" dirty="0"/>
          </a:p>
        </p:txBody>
      </p:sp>
      <p:sp>
        <p:nvSpPr>
          <p:cNvPr id="3" name="内容占位符 2">
            <a:extLst>
              <a:ext uri="{FF2B5EF4-FFF2-40B4-BE49-F238E27FC236}">
                <a16:creationId xmlns:a16="http://schemas.microsoft.com/office/drawing/2014/main" id="{0E132D8C-B739-8EC8-4610-1B8086E5DED7}"/>
              </a:ext>
            </a:extLst>
          </p:cNvPr>
          <p:cNvSpPr>
            <a:spLocks noGrp="1"/>
          </p:cNvSpPr>
          <p:nvPr>
            <p:ph idx="1"/>
          </p:nvPr>
        </p:nvSpPr>
        <p:spPr/>
        <p:txBody>
          <a:bodyPr/>
          <a:lstStyle/>
          <a:p>
            <a:r>
              <a:rPr lang="zh-CN" altLang="en-US" dirty="0"/>
              <a:t>我们在加约束的条件下没有覆盖更多，因为很多时候我们要靠查出的候选集里的对象来约束，相当于也覆盖上了</a:t>
            </a:r>
            <a:r>
              <a:rPr lang="en-US" altLang="zh-CN" dirty="0"/>
              <a:t>gap</a:t>
            </a:r>
            <a:r>
              <a:rPr lang="zh-CN" altLang="en-US" dirty="0"/>
              <a:t>外的节点。然后</a:t>
            </a:r>
            <a:r>
              <a:rPr lang="en-US" altLang="zh-CN" dirty="0"/>
              <a:t>L0</a:t>
            </a:r>
            <a:r>
              <a:rPr lang="zh-CN" altLang="en-US" dirty="0"/>
              <a:t>、</a:t>
            </a:r>
            <a:r>
              <a:rPr lang="en-US" altLang="zh-CN" dirty="0"/>
              <a:t>1</a:t>
            </a:r>
            <a:r>
              <a:rPr lang="zh-CN" altLang="en-US" dirty="0"/>
              <a:t>为什么没有在最前期稳定增长</a:t>
            </a:r>
            <a:r>
              <a:rPr lang="en-US" altLang="zh-CN" dirty="0"/>
              <a:t>3</a:t>
            </a:r>
            <a:r>
              <a:rPr lang="zh-CN" altLang="en-US" dirty="0"/>
              <a:t>和</a:t>
            </a:r>
            <a:r>
              <a:rPr lang="en-US" altLang="zh-CN" dirty="0"/>
              <a:t>2</a:t>
            </a:r>
            <a:endParaRPr lang="zh-CN" altLang="en-US" dirty="0"/>
          </a:p>
        </p:txBody>
      </p:sp>
    </p:spTree>
    <p:extLst>
      <p:ext uri="{BB962C8B-B14F-4D97-AF65-F5344CB8AC3E}">
        <p14:creationId xmlns:p14="http://schemas.microsoft.com/office/powerpoint/2010/main" val="3087220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A1B970-2A42-A788-2C12-312C8697840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D7E112-9E6A-138E-12C9-0BFA4BCF976A}"/>
              </a:ext>
            </a:extLst>
          </p:cNvPr>
          <p:cNvSpPr>
            <a:spLocks noGrp="1"/>
          </p:cNvSpPr>
          <p:nvPr>
            <p:ph idx="1"/>
          </p:nvPr>
        </p:nvSpPr>
        <p:spPr/>
        <p:txBody>
          <a:bodyPr/>
          <a:lstStyle/>
          <a:p>
            <a:r>
              <a:rPr lang="zh-CN" altLang="en-US" dirty="0"/>
              <a:t>我的核心是这套自动化生成充分覆盖的测试集的流水线思路，体现在于我们能快速通过覆盖率指标驱动生成全覆盖的题集。从侧面反映上来看，这个题集也应该是保质保量的，他能正常测出视觉模型的水平，也能帮助他们提升水平</a:t>
            </a:r>
          </a:p>
          <a:p>
            <a:endParaRPr lang="zh-CN" altLang="en-US" dirty="0"/>
          </a:p>
        </p:txBody>
      </p:sp>
      <p:pic>
        <p:nvPicPr>
          <p:cNvPr id="5" name="图片 4">
            <a:extLst>
              <a:ext uri="{FF2B5EF4-FFF2-40B4-BE49-F238E27FC236}">
                <a16:creationId xmlns:a16="http://schemas.microsoft.com/office/drawing/2014/main" id="{9C1B827E-9113-7575-3D7B-61DEF7641674}"/>
              </a:ext>
            </a:extLst>
          </p:cNvPr>
          <p:cNvPicPr>
            <a:picLocks noChangeAspect="1"/>
          </p:cNvPicPr>
          <p:nvPr/>
        </p:nvPicPr>
        <p:blipFill>
          <a:blip r:embed="rId2"/>
          <a:stretch>
            <a:fillRect/>
          </a:stretch>
        </p:blipFill>
        <p:spPr>
          <a:xfrm>
            <a:off x="7368540" y="3295252"/>
            <a:ext cx="3985260" cy="3509408"/>
          </a:xfrm>
          <a:prstGeom prst="rect">
            <a:avLst/>
          </a:prstGeom>
        </p:spPr>
      </p:pic>
    </p:spTree>
    <p:extLst>
      <p:ext uri="{BB962C8B-B14F-4D97-AF65-F5344CB8AC3E}">
        <p14:creationId xmlns:p14="http://schemas.microsoft.com/office/powerpoint/2010/main" val="387103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4CD0CD-F900-5041-EC7D-522FDDBF5F03}"/>
              </a:ext>
            </a:extLst>
          </p:cNvPr>
          <p:cNvSpPr>
            <a:spLocks noGrp="1"/>
          </p:cNvSpPr>
          <p:nvPr>
            <p:ph type="title"/>
          </p:nvPr>
        </p:nvSpPr>
        <p:spPr/>
        <p:txBody>
          <a:bodyPr/>
          <a:lstStyle/>
          <a:p>
            <a:r>
              <a:rPr lang="en-US" altLang="zh-CN" dirty="0"/>
              <a:t>L0</a:t>
            </a:r>
            <a:r>
              <a:rPr lang="zh-CN" altLang="en-US" dirty="0"/>
              <a:t>、</a:t>
            </a:r>
            <a:r>
              <a:rPr lang="en-US" altLang="zh-CN" dirty="0"/>
              <a:t>1</a:t>
            </a:r>
            <a:r>
              <a:rPr lang="zh-CN" altLang="en-US" dirty="0"/>
              <a:t>优选策略</a:t>
            </a:r>
          </a:p>
        </p:txBody>
      </p:sp>
      <p:sp>
        <p:nvSpPr>
          <p:cNvPr id="3" name="内容占位符 2">
            <a:extLst>
              <a:ext uri="{FF2B5EF4-FFF2-40B4-BE49-F238E27FC236}">
                <a16:creationId xmlns:a16="http://schemas.microsoft.com/office/drawing/2014/main" id="{287D1A6E-BD9A-FB37-BCE8-A054FDB60FB1}"/>
              </a:ext>
            </a:extLst>
          </p:cNvPr>
          <p:cNvSpPr>
            <a:spLocks noGrp="1"/>
          </p:cNvSpPr>
          <p:nvPr>
            <p:ph idx="1"/>
          </p:nvPr>
        </p:nvSpPr>
        <p:spPr/>
        <p:txBody>
          <a:bodyPr/>
          <a:lstStyle/>
          <a:p>
            <a:r>
              <a:rPr lang="zh-CN" altLang="en-US" dirty="0"/>
              <a:t>每次选择</a:t>
            </a:r>
            <a:r>
              <a:rPr lang="en-US" altLang="zh-CN" dirty="0"/>
              <a:t>gap</a:t>
            </a:r>
            <a:r>
              <a:rPr lang="zh-CN" altLang="en-US" dirty="0"/>
              <a:t>时对所有未覆盖的</a:t>
            </a:r>
            <a:r>
              <a:rPr lang="en-US" altLang="zh-CN" dirty="0"/>
              <a:t>L2</a:t>
            </a:r>
            <a:r>
              <a:rPr lang="zh-CN" altLang="en-US" dirty="0"/>
              <a:t>进行遍历，分析所含边、点未覆盖的“等级”长度，然后找到最大。</a:t>
            </a:r>
            <a:endParaRPr lang="en-US" altLang="zh-CN" dirty="0"/>
          </a:p>
          <a:p>
            <a:r>
              <a:rPr lang="zh-CN" altLang="en-US" dirty="0"/>
              <a:t>更奖励</a:t>
            </a:r>
            <a:r>
              <a:rPr lang="en-US" altLang="zh-CN" dirty="0"/>
              <a:t>L1</a:t>
            </a:r>
            <a:r>
              <a:rPr lang="zh-CN" altLang="en-US" dirty="0"/>
              <a:t>覆盖一些，因为如果要覆盖一条本未被覆盖的</a:t>
            </a:r>
            <a:r>
              <a:rPr lang="en-US" altLang="zh-CN" dirty="0"/>
              <a:t>L1</a:t>
            </a:r>
            <a:r>
              <a:rPr lang="zh-CN" altLang="en-US" dirty="0"/>
              <a:t>就会默认再覆盖至少一个未被覆盖的点，我的想法合理吗</a:t>
            </a:r>
            <a:endParaRPr lang="en-US" altLang="zh-CN" dirty="0"/>
          </a:p>
          <a:p>
            <a:r>
              <a:rPr lang="zh-CN" altLang="en-US" dirty="0"/>
              <a:t>关键是最初阶段为了快速覆盖</a:t>
            </a:r>
            <a:r>
              <a:rPr lang="en-US" altLang="zh-CN" dirty="0"/>
              <a:t>L0</a:t>
            </a:r>
            <a:r>
              <a:rPr lang="zh-CN" altLang="en-US" dirty="0"/>
              <a:t>、</a:t>
            </a:r>
            <a:r>
              <a:rPr lang="en-US" altLang="zh-CN" dirty="0"/>
              <a:t>1</a:t>
            </a:r>
            <a:r>
              <a:rPr lang="zh-CN" altLang="en-US" dirty="0"/>
              <a:t>会多进行很多次十万级别遍历，是否值得？</a:t>
            </a:r>
            <a:endParaRPr lang="en-US" altLang="zh-CN" dirty="0"/>
          </a:p>
          <a:p>
            <a:r>
              <a:rPr lang="en-US" altLang="zh-CN" dirty="0"/>
              <a:t>L0</a:t>
            </a:r>
            <a:r>
              <a:rPr lang="zh-CN" altLang="en-US" dirty="0"/>
              <a:t>、</a:t>
            </a:r>
            <a:r>
              <a:rPr lang="en-US" altLang="zh-CN" dirty="0"/>
              <a:t>1</a:t>
            </a:r>
            <a:r>
              <a:rPr lang="zh-CN" altLang="en-US" dirty="0"/>
              <a:t>都达到全覆盖加快，单看</a:t>
            </a:r>
            <a:r>
              <a:rPr lang="en-US" altLang="zh-CN" dirty="0"/>
              <a:t>L0</a:t>
            </a:r>
            <a:r>
              <a:rPr lang="zh-CN" altLang="en-US" dirty="0"/>
              <a:t>全覆盖可能会减慢一些</a:t>
            </a:r>
          </a:p>
        </p:txBody>
      </p:sp>
    </p:spTree>
    <p:extLst>
      <p:ext uri="{BB962C8B-B14F-4D97-AF65-F5344CB8AC3E}">
        <p14:creationId xmlns:p14="http://schemas.microsoft.com/office/powerpoint/2010/main" val="2892674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68B7C-AEEB-1862-38FC-2B224B493F96}"/>
              </a:ext>
            </a:extLst>
          </p:cNvPr>
          <p:cNvSpPr>
            <a:spLocks noGrp="1"/>
          </p:cNvSpPr>
          <p:nvPr>
            <p:ph type="title"/>
          </p:nvPr>
        </p:nvSpPr>
        <p:spPr>
          <a:xfrm>
            <a:off x="838199" y="365125"/>
            <a:ext cx="11890513" cy="1132371"/>
          </a:xfrm>
        </p:spPr>
        <p:txBody>
          <a:bodyPr>
            <a:normAutofit fontScale="90000"/>
          </a:bodyPr>
          <a:lstStyle/>
          <a:p>
            <a:r>
              <a:rPr lang="en-US" altLang="zh-CN" dirty="0"/>
              <a:t> template="Is there a {</a:t>
            </a:r>
            <a:r>
              <a:rPr lang="en-US" altLang="zh-CN" dirty="0" err="1"/>
              <a:t>target_type</a:t>
            </a:r>
            <a:r>
              <a:rPr lang="en-US" altLang="zh-CN" dirty="0"/>
              <a:t>} to the {direction1} of the {</a:t>
            </a:r>
            <a:r>
              <a:rPr lang="en-US" altLang="zh-CN" dirty="0" err="1"/>
              <a:t>mid_type</a:t>
            </a:r>
            <a:r>
              <a:rPr lang="en-US" altLang="zh-CN" dirty="0"/>
              <a:t>} that is to the {direction2} of {</a:t>
            </a:r>
            <a:r>
              <a:rPr lang="en-US" altLang="zh-CN" dirty="0" err="1"/>
              <a:t>ref_id</a:t>
            </a:r>
            <a:r>
              <a:rPr lang="en-US" altLang="zh-CN" dirty="0"/>
              <a:t>}?",</a:t>
            </a:r>
            <a:endParaRPr lang="zh-CN" altLang="en-US" dirty="0"/>
          </a:p>
        </p:txBody>
      </p:sp>
      <p:sp>
        <p:nvSpPr>
          <p:cNvPr id="3" name="内容占位符 2">
            <a:extLst>
              <a:ext uri="{FF2B5EF4-FFF2-40B4-BE49-F238E27FC236}">
                <a16:creationId xmlns:a16="http://schemas.microsoft.com/office/drawing/2014/main" id="{6DACF1F0-632A-ED7B-B0D4-BF08A914795B}"/>
              </a:ext>
            </a:extLst>
          </p:cNvPr>
          <p:cNvSpPr>
            <a:spLocks noGrp="1"/>
          </p:cNvSpPr>
          <p:nvPr>
            <p:ph idx="1"/>
          </p:nvPr>
        </p:nvSpPr>
        <p:spPr>
          <a:xfrm>
            <a:off x="838200" y="1825625"/>
            <a:ext cx="11208026" cy="4919732"/>
          </a:xfrm>
        </p:spPr>
        <p:txBody>
          <a:bodyPr>
            <a:normAutofit fontScale="92500" lnSpcReduction="10000"/>
          </a:bodyPr>
          <a:lstStyle/>
          <a:p>
            <a:r>
              <a:rPr lang="zh-CN" altLang="en-US" dirty="0"/>
              <a:t>这个中间的</a:t>
            </a:r>
            <a:r>
              <a:rPr lang="en-US" altLang="zh-CN" dirty="0"/>
              <a:t>mid</a:t>
            </a:r>
            <a:r>
              <a:rPr lang="zh-CN" altLang="en-US" dirty="0"/>
              <a:t>到底应不应该给具体的</a:t>
            </a:r>
            <a:r>
              <a:rPr lang="en-US" altLang="zh-CN" dirty="0"/>
              <a:t>id</a:t>
            </a:r>
            <a:r>
              <a:rPr lang="zh-CN" altLang="en-US" dirty="0"/>
              <a:t>，给的话好像就退化成</a:t>
            </a:r>
            <a:r>
              <a:rPr lang="en-US" altLang="zh-CN" dirty="0"/>
              <a:t>L1</a:t>
            </a:r>
            <a:r>
              <a:rPr lang="zh-CN" altLang="en-US" dirty="0"/>
              <a:t>了，但是不给的话，</a:t>
            </a:r>
            <a:r>
              <a:rPr lang="en-US" altLang="zh-CN" dirty="0"/>
              <a:t>ref</a:t>
            </a:r>
            <a:r>
              <a:rPr lang="zh-CN" altLang="en-US" dirty="0"/>
              <a:t>到</a:t>
            </a:r>
            <a:r>
              <a:rPr lang="en-US" altLang="zh-CN" dirty="0"/>
              <a:t>mid</a:t>
            </a:r>
            <a:r>
              <a:rPr lang="zh-CN" altLang="en-US" dirty="0"/>
              <a:t>这一步都有极大的不确定性，第二步就有可能有候选集，完全无法控制在我们的</a:t>
            </a:r>
            <a:r>
              <a:rPr lang="en-US" altLang="zh-CN" dirty="0"/>
              <a:t>gap</a:t>
            </a:r>
            <a:r>
              <a:rPr lang="zh-CN" altLang="en-US" dirty="0"/>
              <a:t>附近</a:t>
            </a:r>
          </a:p>
          <a:p>
            <a:r>
              <a:rPr lang="zh-CN" altLang="en-US" dirty="0"/>
              <a:t>难度退化但是覆盖没有退化</a:t>
            </a:r>
            <a:endParaRPr lang="en-US" altLang="zh-CN" dirty="0"/>
          </a:p>
          <a:p>
            <a:r>
              <a:rPr lang="en-US" altLang="zh-CN" dirty="0"/>
              <a:t>template="What type of object is after the object in the {direction1} direction of {o1}?"</a:t>
            </a:r>
          </a:p>
          <a:p>
            <a:r>
              <a:rPr lang="zh-CN" altLang="en-US" dirty="0"/>
              <a:t>拆成两个子句不太合理</a:t>
            </a:r>
            <a:endParaRPr lang="en-US" altLang="zh-CN" dirty="0"/>
          </a:p>
          <a:p>
            <a:r>
              <a:rPr lang="zh-CN" altLang="en-US" dirty="0"/>
              <a:t>这个</a:t>
            </a:r>
            <a:r>
              <a:rPr lang="en-US" altLang="zh-CN" dirty="0"/>
              <a:t>L2</a:t>
            </a:r>
            <a:r>
              <a:rPr lang="zh-CN" altLang="en-US" dirty="0"/>
              <a:t>的链式递推结构过于简单了，关于我们的基本盘，感觉很难设计出思维多跳的问题，这与一开始设计</a:t>
            </a:r>
            <a:r>
              <a:rPr lang="en-US" altLang="zh-CN" dirty="0"/>
              <a:t>L</a:t>
            </a:r>
            <a:r>
              <a:rPr lang="zh-CN" altLang="en-US" dirty="0"/>
              <a:t>等级的初衷违背了，单纯是为了覆盖而覆盖，这样自动化做出的题集质量太一般了</a:t>
            </a:r>
            <a:endParaRPr lang="en-US" altLang="zh-CN" dirty="0"/>
          </a:p>
          <a:p>
            <a:r>
              <a:rPr lang="zh-CN" altLang="en-US" dirty="0"/>
              <a:t>这就跟书与读者一样，我们通过这个缺口创造出的这个问题本身实质上覆盖了超出我们预设的缺口，在不引入</a:t>
            </a:r>
            <a:r>
              <a:rPr lang="en-US" altLang="zh-CN" dirty="0" err="1"/>
              <a:t>llm</a:t>
            </a:r>
            <a:r>
              <a:rPr lang="zh-CN" altLang="en-US" dirty="0"/>
              <a:t>的情况下有办法将真实覆盖的全部对象都掌握在手中吗</a:t>
            </a:r>
          </a:p>
          <a:p>
            <a:endParaRPr lang="zh-CN" altLang="en-US" dirty="0"/>
          </a:p>
          <a:p>
            <a:endParaRPr lang="zh-CN" altLang="en-US" dirty="0"/>
          </a:p>
        </p:txBody>
      </p:sp>
    </p:spTree>
    <p:extLst>
      <p:ext uri="{BB962C8B-B14F-4D97-AF65-F5344CB8AC3E}">
        <p14:creationId xmlns:p14="http://schemas.microsoft.com/office/powerpoint/2010/main" val="4278380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B3243-EAAC-BBB8-D384-6F5F716A960E}"/>
              </a:ext>
            </a:extLst>
          </p:cNvPr>
          <p:cNvSpPr>
            <a:spLocks noGrp="1"/>
          </p:cNvSpPr>
          <p:nvPr>
            <p:ph type="title"/>
          </p:nvPr>
        </p:nvSpPr>
        <p:spPr/>
        <p:txBody>
          <a:bodyPr/>
          <a:lstStyle/>
          <a:p>
            <a:r>
              <a:rPr lang="zh-CN" altLang="en-US" dirty="0"/>
              <a:t>通过候选集来约束极大弊端</a:t>
            </a:r>
          </a:p>
        </p:txBody>
      </p:sp>
      <p:sp>
        <p:nvSpPr>
          <p:cNvPr id="3" name="内容占位符 2">
            <a:extLst>
              <a:ext uri="{FF2B5EF4-FFF2-40B4-BE49-F238E27FC236}">
                <a16:creationId xmlns:a16="http://schemas.microsoft.com/office/drawing/2014/main" id="{6A5A6531-D26F-6801-16DA-B14BE22C0DFA}"/>
              </a:ext>
            </a:extLst>
          </p:cNvPr>
          <p:cNvSpPr>
            <a:spLocks noGrp="1"/>
          </p:cNvSpPr>
          <p:nvPr>
            <p:ph idx="1"/>
          </p:nvPr>
        </p:nvSpPr>
        <p:spPr/>
        <p:txBody>
          <a:bodyPr/>
          <a:lstStyle/>
          <a:p>
            <a:r>
              <a:rPr lang="en-US" altLang="zh-CN" dirty="0"/>
              <a:t>A</a:t>
            </a:r>
            <a:r>
              <a:rPr lang="zh-CN" altLang="en-US" dirty="0"/>
              <a:t>的前方的</a:t>
            </a:r>
            <a:r>
              <a:rPr lang="en-US" altLang="zh-CN" dirty="0"/>
              <a:t>B</a:t>
            </a:r>
            <a:r>
              <a:rPr lang="zh-CN" altLang="en-US" dirty="0"/>
              <a:t>的右边的车</a:t>
            </a:r>
            <a:r>
              <a:rPr lang="en-US" altLang="zh-CN" dirty="0"/>
              <a:t>---car1</a:t>
            </a:r>
            <a:r>
              <a:rPr lang="zh-CN" altLang="en-US" dirty="0"/>
              <a:t>、</a:t>
            </a:r>
            <a:r>
              <a:rPr lang="en-US" altLang="zh-CN" dirty="0"/>
              <a:t>2</a:t>
            </a:r>
            <a:r>
              <a:rPr lang="zh-CN" altLang="en-US" dirty="0"/>
              <a:t>、</a:t>
            </a:r>
            <a:r>
              <a:rPr lang="en-US" altLang="zh-CN" dirty="0"/>
              <a:t>3</a:t>
            </a:r>
          </a:p>
          <a:p>
            <a:r>
              <a:rPr lang="en-US" altLang="zh-CN" dirty="0"/>
              <a:t>+Car2</a:t>
            </a:r>
            <a:r>
              <a:rPr lang="zh-CN" altLang="en-US" dirty="0"/>
              <a:t>的左边的车</a:t>
            </a:r>
            <a:r>
              <a:rPr lang="en-US" altLang="zh-CN" dirty="0"/>
              <a:t>---car1</a:t>
            </a:r>
          </a:p>
          <a:p>
            <a:r>
              <a:rPr lang="zh-CN" altLang="en-US" dirty="0"/>
              <a:t>但是事实上可能仅靠</a:t>
            </a:r>
            <a:r>
              <a:rPr lang="en-US" altLang="zh-CN" dirty="0"/>
              <a:t>car2</a:t>
            </a:r>
            <a:r>
              <a:rPr lang="zh-CN" altLang="en-US" dirty="0"/>
              <a:t>左边就能把</a:t>
            </a:r>
            <a:r>
              <a:rPr lang="en-US" altLang="zh-CN" dirty="0"/>
              <a:t>car1</a:t>
            </a:r>
            <a:r>
              <a:rPr lang="zh-CN" altLang="en-US" dirty="0"/>
              <a:t>定下来</a:t>
            </a:r>
            <a:endParaRPr lang="en-US" altLang="zh-CN" dirty="0"/>
          </a:p>
          <a:p>
            <a:r>
              <a:rPr lang="zh-CN" altLang="en-US" dirty="0"/>
              <a:t>而且这样的约束新增的边并不和原</a:t>
            </a:r>
            <a:r>
              <a:rPr lang="en-US" altLang="zh-CN" dirty="0"/>
              <a:t>L2gap</a:t>
            </a:r>
            <a:r>
              <a:rPr lang="zh-CN" altLang="en-US" dirty="0"/>
              <a:t>连续，而是相对，不能贡献新的</a:t>
            </a:r>
            <a:r>
              <a:rPr lang="en-US" altLang="zh-CN" dirty="0"/>
              <a:t>L2</a:t>
            </a:r>
            <a:r>
              <a:rPr lang="zh-CN" altLang="en-US" dirty="0"/>
              <a:t>，到后期连</a:t>
            </a:r>
            <a:r>
              <a:rPr lang="en-US" altLang="zh-CN" dirty="0"/>
              <a:t>L0</a:t>
            </a:r>
            <a:r>
              <a:rPr lang="zh-CN" altLang="en-US" dirty="0"/>
              <a:t>、</a:t>
            </a:r>
            <a:r>
              <a:rPr lang="en-US" altLang="zh-CN" dirty="0"/>
              <a:t>1</a:t>
            </a:r>
            <a:r>
              <a:rPr lang="zh-CN" altLang="en-US" dirty="0"/>
              <a:t>都贡献不了</a:t>
            </a:r>
            <a:endParaRPr lang="en-US" altLang="zh-CN" dirty="0"/>
          </a:p>
          <a:p>
            <a:endParaRPr lang="zh-CN" altLang="en-US" dirty="0"/>
          </a:p>
        </p:txBody>
      </p:sp>
    </p:spTree>
    <p:extLst>
      <p:ext uri="{BB962C8B-B14F-4D97-AF65-F5344CB8AC3E}">
        <p14:creationId xmlns:p14="http://schemas.microsoft.com/office/powerpoint/2010/main" val="3670362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44251D-56DD-D865-5D07-E1D564D9329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9436F60-D472-A748-B379-CE8975DED72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301340C-90EA-06EF-3DCC-54A03B85EFBD}"/>
              </a:ext>
            </a:extLst>
          </p:cNvPr>
          <p:cNvPicPr>
            <a:picLocks noChangeAspect="1"/>
          </p:cNvPicPr>
          <p:nvPr/>
        </p:nvPicPr>
        <p:blipFill>
          <a:blip r:embed="rId2"/>
          <a:stretch>
            <a:fillRect/>
          </a:stretch>
        </p:blipFill>
        <p:spPr>
          <a:xfrm>
            <a:off x="1041447" y="505914"/>
            <a:ext cx="9078592" cy="3886742"/>
          </a:xfrm>
          <a:prstGeom prst="rect">
            <a:avLst/>
          </a:prstGeom>
        </p:spPr>
      </p:pic>
    </p:spTree>
    <p:extLst>
      <p:ext uri="{BB962C8B-B14F-4D97-AF65-F5344CB8AC3E}">
        <p14:creationId xmlns:p14="http://schemas.microsoft.com/office/powerpoint/2010/main" val="2097301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F8921-1BB5-0DE3-33F3-1647CCD345C1}"/>
              </a:ext>
            </a:extLst>
          </p:cNvPr>
          <p:cNvSpPr>
            <a:spLocks noGrp="1"/>
          </p:cNvSpPr>
          <p:nvPr>
            <p:ph type="title"/>
          </p:nvPr>
        </p:nvSpPr>
        <p:spPr/>
        <p:txBody>
          <a:bodyPr/>
          <a:lstStyle/>
          <a:p>
            <a:r>
              <a:rPr lang="en-US" altLang="zh-CN" dirty="0"/>
              <a:t>How many pedestrians are near b?</a:t>
            </a:r>
            <a:br>
              <a:rPr lang="en-US" altLang="zh-CN" dirty="0"/>
            </a:br>
            <a:endParaRPr lang="zh-CN" altLang="en-US" dirty="0"/>
          </a:p>
        </p:txBody>
      </p:sp>
      <p:sp>
        <p:nvSpPr>
          <p:cNvPr id="3" name="内容占位符 2">
            <a:extLst>
              <a:ext uri="{FF2B5EF4-FFF2-40B4-BE49-F238E27FC236}">
                <a16:creationId xmlns:a16="http://schemas.microsoft.com/office/drawing/2014/main" id="{62812C11-B5F6-754B-860E-6D8B7AD8A1D7}"/>
              </a:ext>
            </a:extLst>
          </p:cNvPr>
          <p:cNvSpPr>
            <a:spLocks noGrp="1"/>
          </p:cNvSpPr>
          <p:nvPr>
            <p:ph idx="1"/>
          </p:nvPr>
        </p:nvSpPr>
        <p:spPr/>
        <p:txBody>
          <a:bodyPr/>
          <a:lstStyle/>
          <a:p>
            <a:r>
              <a:rPr lang="zh-CN" altLang="en-US" dirty="0"/>
              <a:t>这里的</a:t>
            </a:r>
            <a:r>
              <a:rPr lang="en-US" altLang="zh-CN" dirty="0"/>
              <a:t>L2</a:t>
            </a:r>
            <a:r>
              <a:rPr lang="zh-CN" altLang="en-US" dirty="0"/>
              <a:t>算不算</a:t>
            </a:r>
          </a:p>
        </p:txBody>
      </p:sp>
    </p:spTree>
    <p:extLst>
      <p:ext uri="{BB962C8B-B14F-4D97-AF65-F5344CB8AC3E}">
        <p14:creationId xmlns:p14="http://schemas.microsoft.com/office/powerpoint/2010/main" val="112320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B81122-BD87-448B-6570-87CB06D0EF3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031EAE2-9A70-AA73-0170-0CFDC32BAC75}"/>
              </a:ext>
            </a:extLst>
          </p:cNvPr>
          <p:cNvSpPr>
            <a:spLocks noGrp="1"/>
          </p:cNvSpPr>
          <p:nvPr>
            <p:ph idx="1"/>
          </p:nvPr>
        </p:nvSpPr>
        <p:spPr/>
        <p:txBody>
          <a:bodyPr/>
          <a:lstStyle/>
          <a:p>
            <a:r>
              <a:rPr lang="en-US" altLang="zh-CN" dirty="0"/>
              <a:t>L2</a:t>
            </a:r>
            <a:r>
              <a:rPr lang="zh-CN" altLang="en-US" dirty="0"/>
              <a:t>问题逻辑已经被定死了，发散性也是无效</a:t>
            </a:r>
            <a:r>
              <a:rPr lang="en-US" altLang="zh-CN" dirty="0"/>
              <a:t>L2</a:t>
            </a:r>
            <a:r>
              <a:rPr lang="zh-CN" altLang="en-US" dirty="0"/>
              <a:t>，但这样是否有些单调？</a:t>
            </a:r>
          </a:p>
        </p:txBody>
      </p:sp>
      <p:pic>
        <p:nvPicPr>
          <p:cNvPr id="7" name="图片 6">
            <a:extLst>
              <a:ext uri="{FF2B5EF4-FFF2-40B4-BE49-F238E27FC236}">
                <a16:creationId xmlns:a16="http://schemas.microsoft.com/office/drawing/2014/main" id="{BA11B900-EE44-2FE9-989B-30BD59CC3203}"/>
              </a:ext>
            </a:extLst>
          </p:cNvPr>
          <p:cNvPicPr>
            <a:picLocks noChangeAspect="1"/>
          </p:cNvPicPr>
          <p:nvPr/>
        </p:nvPicPr>
        <p:blipFill>
          <a:blip r:embed="rId2"/>
          <a:stretch>
            <a:fillRect/>
          </a:stretch>
        </p:blipFill>
        <p:spPr>
          <a:xfrm>
            <a:off x="382757" y="253865"/>
            <a:ext cx="11288700" cy="1324160"/>
          </a:xfrm>
          <a:prstGeom prst="rect">
            <a:avLst/>
          </a:prstGeom>
        </p:spPr>
      </p:pic>
    </p:spTree>
    <p:extLst>
      <p:ext uri="{BB962C8B-B14F-4D97-AF65-F5344CB8AC3E}">
        <p14:creationId xmlns:p14="http://schemas.microsoft.com/office/powerpoint/2010/main" val="97563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D78C6A-9CB0-EB62-C877-E74F074A323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B89F0C-E202-69FE-759A-85A38CD59C98}"/>
              </a:ext>
            </a:extLst>
          </p:cNvPr>
          <p:cNvSpPr>
            <a:spLocks noGrp="1"/>
          </p:cNvSpPr>
          <p:nvPr>
            <p:ph idx="1"/>
          </p:nvPr>
        </p:nvSpPr>
        <p:spPr/>
        <p:txBody>
          <a:bodyPr/>
          <a:lstStyle/>
          <a:p>
            <a:endParaRPr lang="en-US" altLang="zh-CN" dirty="0"/>
          </a:p>
          <a:p>
            <a:endParaRPr lang="en-US" altLang="zh-CN" dirty="0"/>
          </a:p>
          <a:p>
            <a:endParaRPr lang="en-US" altLang="zh-CN" dirty="0"/>
          </a:p>
          <a:p>
            <a:r>
              <a:rPr lang="en-US" altLang="zh-CN" dirty="0"/>
              <a:t>1</a:t>
            </a:r>
            <a:r>
              <a:rPr lang="zh-CN" altLang="en-US" dirty="0"/>
              <a:t>、</a:t>
            </a:r>
            <a:r>
              <a:rPr lang="en-US" altLang="zh-CN" dirty="0"/>
              <a:t>2</a:t>
            </a:r>
            <a:r>
              <a:rPr lang="zh-CN" altLang="en-US" dirty="0"/>
              <a:t>太妙了，</a:t>
            </a:r>
            <a:r>
              <a:rPr lang="en-US" altLang="zh-CN" dirty="0"/>
              <a:t>3</a:t>
            </a:r>
            <a:r>
              <a:rPr lang="zh-CN" altLang="en-US" dirty="0"/>
              <a:t>我觉得完全体现不了</a:t>
            </a:r>
            <a:r>
              <a:rPr lang="en-US" altLang="zh-CN" dirty="0"/>
              <a:t>L2</a:t>
            </a:r>
            <a:r>
              <a:rPr lang="zh-CN" altLang="en-US" dirty="0"/>
              <a:t>。但是我们说实话这种类型问题是否有必要存在，我觉得少但得有，这就涉及到我们的驱动了，仅以</a:t>
            </a:r>
            <a:r>
              <a:rPr lang="en-US" altLang="zh-CN" dirty="0"/>
              <a:t>L2</a:t>
            </a:r>
            <a:r>
              <a:rPr lang="zh-CN" altLang="en-US" dirty="0"/>
              <a:t>驱动导致非常单调，但是为了更快覆盖满</a:t>
            </a:r>
            <a:r>
              <a:rPr lang="en-US" altLang="zh-CN" dirty="0"/>
              <a:t>L0</a:t>
            </a:r>
            <a:r>
              <a:rPr lang="zh-CN" altLang="en-US" dirty="0"/>
              <a:t>、</a:t>
            </a:r>
            <a:r>
              <a:rPr lang="en-US" altLang="zh-CN" dirty="0"/>
              <a:t>1</a:t>
            </a:r>
            <a:r>
              <a:rPr lang="zh-CN" altLang="en-US" dirty="0"/>
              <a:t>、</a:t>
            </a:r>
            <a:r>
              <a:rPr lang="en-US" altLang="zh-CN" dirty="0"/>
              <a:t>2</a:t>
            </a:r>
            <a:r>
              <a:rPr lang="zh-CN" altLang="en-US" dirty="0"/>
              <a:t>，我们只用</a:t>
            </a:r>
            <a:r>
              <a:rPr lang="en-US" altLang="zh-CN" dirty="0"/>
              <a:t>L2</a:t>
            </a:r>
            <a:r>
              <a:rPr lang="zh-CN" altLang="en-US" dirty="0"/>
              <a:t>驱动更有效率</a:t>
            </a:r>
          </a:p>
          <a:p>
            <a:endParaRPr lang="zh-CN" altLang="en-US" dirty="0"/>
          </a:p>
        </p:txBody>
      </p:sp>
      <p:pic>
        <p:nvPicPr>
          <p:cNvPr id="5" name="图片 4">
            <a:extLst>
              <a:ext uri="{FF2B5EF4-FFF2-40B4-BE49-F238E27FC236}">
                <a16:creationId xmlns:a16="http://schemas.microsoft.com/office/drawing/2014/main" id="{3EBCACF4-3533-C77F-9A0B-D07AFFBCADF4}"/>
              </a:ext>
            </a:extLst>
          </p:cNvPr>
          <p:cNvPicPr>
            <a:picLocks noChangeAspect="1"/>
          </p:cNvPicPr>
          <p:nvPr/>
        </p:nvPicPr>
        <p:blipFill>
          <a:blip r:embed="rId2"/>
          <a:stretch>
            <a:fillRect/>
          </a:stretch>
        </p:blipFill>
        <p:spPr>
          <a:xfrm>
            <a:off x="146807" y="902324"/>
            <a:ext cx="11898385" cy="1971950"/>
          </a:xfrm>
          <a:prstGeom prst="rect">
            <a:avLst/>
          </a:prstGeom>
        </p:spPr>
      </p:pic>
    </p:spTree>
    <p:extLst>
      <p:ext uri="{BB962C8B-B14F-4D97-AF65-F5344CB8AC3E}">
        <p14:creationId xmlns:p14="http://schemas.microsoft.com/office/powerpoint/2010/main" val="3663381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2D379-6CE6-41D6-ABB8-F687E716539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EE0FFF6-36EE-0343-D748-FC982CBD3C7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3AF4526-2135-26A8-63C8-2B981E0EB652}"/>
              </a:ext>
            </a:extLst>
          </p:cNvPr>
          <p:cNvPicPr>
            <a:picLocks noChangeAspect="1"/>
          </p:cNvPicPr>
          <p:nvPr/>
        </p:nvPicPr>
        <p:blipFill>
          <a:blip r:embed="rId2"/>
          <a:stretch>
            <a:fillRect/>
          </a:stretch>
        </p:blipFill>
        <p:spPr>
          <a:xfrm>
            <a:off x="2123520" y="1090286"/>
            <a:ext cx="7944959" cy="4677428"/>
          </a:xfrm>
          <a:prstGeom prst="rect">
            <a:avLst/>
          </a:prstGeom>
        </p:spPr>
      </p:pic>
    </p:spTree>
    <p:extLst>
      <p:ext uri="{BB962C8B-B14F-4D97-AF65-F5344CB8AC3E}">
        <p14:creationId xmlns:p14="http://schemas.microsoft.com/office/powerpoint/2010/main" val="213876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93510-CA22-6F62-E89E-1AD6C299105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E6F0B53-DB98-69E3-9059-50E2CE916E75}"/>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EA4E54C-CA2C-0B7B-6E77-68D041D7685F}"/>
              </a:ext>
            </a:extLst>
          </p:cNvPr>
          <p:cNvPicPr>
            <a:picLocks noChangeAspect="1"/>
          </p:cNvPicPr>
          <p:nvPr/>
        </p:nvPicPr>
        <p:blipFill>
          <a:blip r:embed="rId2"/>
          <a:stretch>
            <a:fillRect/>
          </a:stretch>
        </p:blipFill>
        <p:spPr>
          <a:xfrm>
            <a:off x="1713429" y="0"/>
            <a:ext cx="8765141" cy="6858000"/>
          </a:xfrm>
          <a:prstGeom prst="rect">
            <a:avLst/>
          </a:prstGeom>
        </p:spPr>
      </p:pic>
    </p:spTree>
    <p:extLst>
      <p:ext uri="{BB962C8B-B14F-4D97-AF65-F5344CB8AC3E}">
        <p14:creationId xmlns:p14="http://schemas.microsoft.com/office/powerpoint/2010/main" val="95575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B18FD2-8A9F-426D-6438-F1B2ABE3522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A32A9DB-1657-0769-31A7-50CBF2C0128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16E7FC7-AF85-A378-BE80-3CB48B3E1143}"/>
              </a:ext>
            </a:extLst>
          </p:cNvPr>
          <p:cNvPicPr>
            <a:picLocks noChangeAspect="1"/>
          </p:cNvPicPr>
          <p:nvPr/>
        </p:nvPicPr>
        <p:blipFill>
          <a:blip r:embed="rId2"/>
          <a:stretch>
            <a:fillRect/>
          </a:stretch>
        </p:blipFill>
        <p:spPr>
          <a:xfrm>
            <a:off x="0" y="36286"/>
            <a:ext cx="12192000" cy="6785428"/>
          </a:xfrm>
          <a:prstGeom prst="rect">
            <a:avLst/>
          </a:prstGeom>
        </p:spPr>
      </p:pic>
    </p:spTree>
    <p:extLst>
      <p:ext uri="{BB962C8B-B14F-4D97-AF65-F5344CB8AC3E}">
        <p14:creationId xmlns:p14="http://schemas.microsoft.com/office/powerpoint/2010/main" val="2159635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1F999A-E0E9-DAC8-72B1-34E42348932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9001B68-FC9B-EBF6-40AA-39C0BBA1E2C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CA9AC77-E3C8-B240-3188-03619621AA21}"/>
              </a:ext>
            </a:extLst>
          </p:cNvPr>
          <p:cNvPicPr>
            <a:picLocks noChangeAspect="1"/>
          </p:cNvPicPr>
          <p:nvPr/>
        </p:nvPicPr>
        <p:blipFill>
          <a:blip r:embed="rId2"/>
          <a:stretch>
            <a:fillRect/>
          </a:stretch>
        </p:blipFill>
        <p:spPr>
          <a:xfrm>
            <a:off x="0" y="8847"/>
            <a:ext cx="12192000" cy="6840306"/>
          </a:xfrm>
          <a:prstGeom prst="rect">
            <a:avLst/>
          </a:prstGeom>
        </p:spPr>
      </p:pic>
    </p:spTree>
    <p:extLst>
      <p:ext uri="{BB962C8B-B14F-4D97-AF65-F5344CB8AC3E}">
        <p14:creationId xmlns:p14="http://schemas.microsoft.com/office/powerpoint/2010/main" val="3237574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0C8263-03E9-859E-F84B-8E333B2337E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0C63663-3CCE-DA95-E1C3-77172B602D76}"/>
              </a:ext>
            </a:extLst>
          </p:cNvPr>
          <p:cNvSpPr>
            <a:spLocks noGrp="1"/>
          </p:cNvSpPr>
          <p:nvPr>
            <p:ph idx="1"/>
          </p:nvPr>
        </p:nvSpPr>
        <p:spPr/>
        <p:txBody>
          <a:bodyPr/>
          <a:lstStyle/>
          <a:p>
            <a:r>
              <a:rPr lang="zh-CN" altLang="en-US" dirty="0"/>
              <a:t>题型</a:t>
            </a:r>
            <a:r>
              <a:rPr lang="en-US" altLang="zh-CN" dirty="0"/>
              <a:t>2</a:t>
            </a:r>
            <a:r>
              <a:rPr lang="zh-CN" altLang="en-US" dirty="0"/>
              <a:t>这里我们有两种难度，不要把</a:t>
            </a:r>
            <a:r>
              <a:rPr lang="en-US" altLang="zh-CN" dirty="0"/>
              <a:t>ego</a:t>
            </a:r>
            <a:r>
              <a:rPr lang="zh-CN" altLang="en-US" dirty="0"/>
              <a:t>特殊化，他只是一个不需约束就可以唯一的特例，一般情况下来说不能直接唯一确定就加约束确定。一种是</a:t>
            </a:r>
            <a:r>
              <a:rPr lang="en-US" altLang="zh-CN" dirty="0"/>
              <a:t>a</a:t>
            </a:r>
            <a:r>
              <a:rPr lang="zh-CN" altLang="en-US" dirty="0"/>
              <a:t>、</a:t>
            </a:r>
            <a:r>
              <a:rPr lang="en-US" altLang="zh-CN" dirty="0"/>
              <a:t>c</a:t>
            </a:r>
            <a:r>
              <a:rPr lang="zh-CN" altLang="en-US" dirty="0"/>
              <a:t>给一边具体</a:t>
            </a:r>
            <a:r>
              <a:rPr lang="en-US" altLang="zh-CN" dirty="0"/>
              <a:t>id</a:t>
            </a:r>
            <a:r>
              <a:rPr lang="zh-CN" altLang="en-US" dirty="0"/>
              <a:t>，然后另一边通过其他条件约束，那么这个其他条件怎么找。还有一种难度，就是</a:t>
            </a:r>
            <a:r>
              <a:rPr lang="en-US" altLang="zh-CN" dirty="0"/>
              <a:t>a</a:t>
            </a:r>
            <a:r>
              <a:rPr lang="zh-CN" altLang="en-US" dirty="0"/>
              <a:t>、</a:t>
            </a:r>
            <a:r>
              <a:rPr lang="en-US" altLang="zh-CN" dirty="0"/>
              <a:t>c</a:t>
            </a:r>
            <a:r>
              <a:rPr lang="zh-CN" altLang="en-US" dirty="0"/>
              <a:t>都通过约束间接给</a:t>
            </a:r>
          </a:p>
          <a:p>
            <a:endParaRPr lang="zh-CN" altLang="en-US" dirty="0"/>
          </a:p>
        </p:txBody>
      </p:sp>
      <p:pic>
        <p:nvPicPr>
          <p:cNvPr id="5" name="图片 4">
            <a:extLst>
              <a:ext uri="{FF2B5EF4-FFF2-40B4-BE49-F238E27FC236}">
                <a16:creationId xmlns:a16="http://schemas.microsoft.com/office/drawing/2014/main" id="{88A01F71-04CD-DB93-20C5-29BFAFFDEB3B}"/>
              </a:ext>
            </a:extLst>
          </p:cNvPr>
          <p:cNvPicPr>
            <a:picLocks noChangeAspect="1"/>
          </p:cNvPicPr>
          <p:nvPr/>
        </p:nvPicPr>
        <p:blipFill>
          <a:blip r:embed="rId2"/>
          <a:stretch>
            <a:fillRect/>
          </a:stretch>
        </p:blipFill>
        <p:spPr>
          <a:xfrm>
            <a:off x="3745283" y="3477852"/>
            <a:ext cx="7482213" cy="3380148"/>
          </a:xfrm>
          <a:prstGeom prst="rect">
            <a:avLst/>
          </a:prstGeom>
        </p:spPr>
      </p:pic>
    </p:spTree>
    <p:extLst>
      <p:ext uri="{BB962C8B-B14F-4D97-AF65-F5344CB8AC3E}">
        <p14:creationId xmlns:p14="http://schemas.microsoft.com/office/powerpoint/2010/main" val="1880353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89D9E1-6A85-AFDD-1331-BA4C62B7842C}"/>
              </a:ext>
            </a:extLst>
          </p:cNvPr>
          <p:cNvSpPr>
            <a:spLocks noGrp="1"/>
          </p:cNvSpPr>
          <p:nvPr>
            <p:ph type="title"/>
          </p:nvPr>
        </p:nvSpPr>
        <p:spPr/>
        <p:txBody>
          <a:bodyPr/>
          <a:lstStyle/>
          <a:p>
            <a:r>
              <a:rPr lang="zh-CN" altLang="en-US" dirty="0"/>
              <a:t>存在、数数</a:t>
            </a:r>
          </a:p>
        </p:txBody>
      </p:sp>
      <p:sp>
        <p:nvSpPr>
          <p:cNvPr id="3" name="内容占位符 2">
            <a:extLst>
              <a:ext uri="{FF2B5EF4-FFF2-40B4-BE49-F238E27FC236}">
                <a16:creationId xmlns:a16="http://schemas.microsoft.com/office/drawing/2014/main" id="{8FBFA176-92ED-E0CC-9C14-F16B1B07F981}"/>
              </a:ext>
            </a:extLst>
          </p:cNvPr>
          <p:cNvSpPr>
            <a:spLocks noGrp="1"/>
          </p:cNvSpPr>
          <p:nvPr>
            <p:ph idx="1"/>
          </p:nvPr>
        </p:nvSpPr>
        <p:spPr/>
        <p:txBody>
          <a:bodyPr/>
          <a:lstStyle/>
          <a:p>
            <a:r>
              <a:rPr lang="zh-CN" altLang="en-US" dirty="0"/>
              <a:t>存在型和数数型，不是完全不扩展</a:t>
            </a:r>
            <a:r>
              <a:rPr lang="en-US" altLang="zh-CN" dirty="0"/>
              <a:t>L2</a:t>
            </a:r>
            <a:r>
              <a:rPr lang="zh-CN" altLang="en-US" dirty="0"/>
              <a:t>，存不存在一个</a:t>
            </a:r>
            <a:r>
              <a:rPr lang="en-US" altLang="zh-CN" dirty="0"/>
              <a:t>car</a:t>
            </a:r>
            <a:r>
              <a:rPr lang="zh-CN" altLang="en-US" dirty="0"/>
              <a:t>在</a:t>
            </a:r>
            <a:r>
              <a:rPr lang="en-US" altLang="zh-CN" dirty="0"/>
              <a:t>a</a:t>
            </a:r>
            <a:r>
              <a:rPr lang="zh-CN" altLang="en-US" dirty="0"/>
              <a:t>的前面且在</a:t>
            </a:r>
            <a:r>
              <a:rPr lang="en-US" altLang="zh-CN" dirty="0"/>
              <a:t>c</a:t>
            </a:r>
            <a:r>
              <a:rPr lang="zh-CN" altLang="en-US" dirty="0"/>
              <a:t>的右边，这里面明显是存在</a:t>
            </a:r>
            <a:r>
              <a:rPr lang="en-US" altLang="zh-CN" dirty="0"/>
              <a:t>L2</a:t>
            </a:r>
            <a:r>
              <a:rPr lang="zh-CN" altLang="en-US" dirty="0"/>
              <a:t>语义的，那么这部分就要算，但是我们能找到比方说</a:t>
            </a:r>
            <a:r>
              <a:rPr lang="en-US" altLang="zh-CN" dirty="0"/>
              <a:t>car1</a:t>
            </a:r>
            <a:r>
              <a:rPr lang="zh-CN" altLang="en-US" dirty="0"/>
              <a:t>，</a:t>
            </a:r>
            <a:r>
              <a:rPr lang="en-US" altLang="zh-CN" dirty="0"/>
              <a:t>car2</a:t>
            </a:r>
            <a:r>
              <a:rPr lang="zh-CN" altLang="en-US" dirty="0"/>
              <a:t>，那么</a:t>
            </a:r>
            <a:r>
              <a:rPr lang="en-US" altLang="zh-CN" dirty="0"/>
              <a:t>a|car1|c</a:t>
            </a:r>
            <a:r>
              <a:rPr lang="zh-CN" altLang="en-US" dirty="0"/>
              <a:t>，</a:t>
            </a:r>
            <a:r>
              <a:rPr lang="en-US" altLang="zh-CN" dirty="0"/>
              <a:t>a|car2|c</a:t>
            </a:r>
            <a:r>
              <a:rPr lang="zh-CN" altLang="en-US" dirty="0"/>
              <a:t>都是算的，但是</a:t>
            </a:r>
            <a:r>
              <a:rPr lang="en-US" altLang="zh-CN" dirty="0"/>
              <a:t>car1|a|car2</a:t>
            </a:r>
            <a:r>
              <a:rPr lang="zh-CN" altLang="en-US" dirty="0"/>
              <a:t>或者</a:t>
            </a:r>
            <a:r>
              <a:rPr lang="en-US" altLang="zh-CN" dirty="0"/>
              <a:t>car1|c|car2</a:t>
            </a:r>
            <a:r>
              <a:rPr lang="zh-CN" altLang="en-US" dirty="0"/>
              <a:t>这种就明显不算。数数也是同一个逻辑，核心就是算有</a:t>
            </a:r>
            <a:r>
              <a:rPr lang="en-US" altLang="zh-CN" dirty="0"/>
              <a:t>L2</a:t>
            </a:r>
            <a:r>
              <a:rPr lang="zh-CN" altLang="en-US" dirty="0"/>
              <a:t>语义那边部分，不是一刀切。</a:t>
            </a:r>
          </a:p>
          <a:p>
            <a:endParaRPr lang="zh-CN" altLang="en-US" dirty="0"/>
          </a:p>
        </p:txBody>
      </p:sp>
    </p:spTree>
    <p:extLst>
      <p:ext uri="{BB962C8B-B14F-4D97-AF65-F5344CB8AC3E}">
        <p14:creationId xmlns:p14="http://schemas.microsoft.com/office/powerpoint/2010/main" val="1999273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E21248-6ABB-27A0-9BD2-DD38694792E8}"/>
              </a:ext>
            </a:extLst>
          </p:cNvPr>
          <p:cNvSpPr>
            <a:spLocks noGrp="1"/>
          </p:cNvSpPr>
          <p:nvPr>
            <p:ph type="title"/>
          </p:nvPr>
        </p:nvSpPr>
        <p:spPr/>
        <p:txBody>
          <a:bodyPr/>
          <a:lstStyle/>
          <a:p>
            <a:r>
              <a:rPr lang="zh-CN" altLang="en-US" dirty="0"/>
              <a:t>跳出方向约束定式，着眼</a:t>
            </a:r>
            <a:r>
              <a:rPr lang="en-US" altLang="zh-CN" dirty="0"/>
              <a:t>L2</a:t>
            </a:r>
            <a:r>
              <a:rPr lang="zh-CN" altLang="en-US" dirty="0"/>
              <a:t>级别的多关系结合的本质</a:t>
            </a:r>
          </a:p>
        </p:txBody>
      </p:sp>
      <p:sp>
        <p:nvSpPr>
          <p:cNvPr id="3" name="内容占位符 2">
            <a:extLst>
              <a:ext uri="{FF2B5EF4-FFF2-40B4-BE49-F238E27FC236}">
                <a16:creationId xmlns:a16="http://schemas.microsoft.com/office/drawing/2014/main" id="{CCE369B8-0AA1-71A8-AFB2-6B75E2975335}"/>
              </a:ext>
            </a:extLst>
          </p:cNvPr>
          <p:cNvSpPr>
            <a:spLocks noGrp="1"/>
          </p:cNvSpPr>
          <p:nvPr>
            <p:ph idx="1"/>
          </p:nvPr>
        </p:nvSpPr>
        <p:spPr/>
        <p:txBody>
          <a:bodyPr>
            <a:normAutofit fontScale="92500"/>
          </a:bodyPr>
          <a:lstStyle/>
          <a:p>
            <a:r>
              <a:rPr lang="en-US" altLang="zh-CN" dirty="0"/>
              <a:t>1.</a:t>
            </a:r>
            <a:r>
              <a:rPr lang="zh-CN" altLang="en-US" dirty="0"/>
              <a:t>关于“三节点状态一致性：”，我感觉这是一个</a:t>
            </a:r>
            <a:r>
              <a:rPr lang="en-US" altLang="zh-CN" dirty="0"/>
              <a:t>L0</a:t>
            </a:r>
            <a:r>
              <a:rPr lang="zh-CN" altLang="en-US" dirty="0"/>
              <a:t>级别的问题，因为从我们</a:t>
            </a:r>
            <a:r>
              <a:rPr lang="en-US" altLang="zh-CN" dirty="0"/>
              <a:t>L</a:t>
            </a:r>
            <a:r>
              <a:rPr lang="zh-CN" altLang="en-US" dirty="0"/>
              <a:t>的定义里来看就可以知道，我们的</a:t>
            </a:r>
            <a:r>
              <a:rPr lang="en-US" altLang="zh-CN" dirty="0"/>
              <a:t>L1</a:t>
            </a:r>
            <a:r>
              <a:rPr lang="zh-CN" altLang="en-US" dirty="0"/>
              <a:t>、</a:t>
            </a:r>
            <a:r>
              <a:rPr lang="en-US" altLang="zh-CN" dirty="0"/>
              <a:t>2</a:t>
            </a:r>
            <a:r>
              <a:rPr lang="zh-CN" altLang="en-US" dirty="0"/>
              <a:t>核心是出带有空间关系即有边的问题，但是我们驱动的时候主要是</a:t>
            </a:r>
            <a:r>
              <a:rPr lang="en-US" altLang="zh-CN" dirty="0"/>
              <a:t>L2</a:t>
            </a:r>
            <a:r>
              <a:rPr lang="zh-CN" altLang="en-US" dirty="0"/>
              <a:t>，这些问题很有趣，可以先放入</a:t>
            </a:r>
            <a:r>
              <a:rPr lang="en-US" altLang="zh-CN" dirty="0"/>
              <a:t>L0</a:t>
            </a:r>
            <a:r>
              <a:rPr lang="zh-CN" altLang="en-US" dirty="0"/>
              <a:t>、</a:t>
            </a:r>
            <a:r>
              <a:rPr lang="en-US" altLang="zh-CN" dirty="0"/>
              <a:t>1</a:t>
            </a:r>
            <a:r>
              <a:rPr lang="zh-CN" altLang="en-US" dirty="0"/>
              <a:t>的模板库里，到时候再决定怎么处理。</a:t>
            </a:r>
            <a:endParaRPr lang="en-US" altLang="zh-CN" dirty="0"/>
          </a:p>
          <a:p>
            <a:r>
              <a:rPr lang="en-US" altLang="zh-CN" dirty="0"/>
              <a:t>2.“</a:t>
            </a:r>
            <a:r>
              <a:rPr lang="zh-CN" altLang="en-US" dirty="0"/>
              <a:t>方向链比较”这个我很喜欢，还覆盖了我们之前避讳的</a:t>
            </a:r>
            <a:r>
              <a:rPr lang="en-US" altLang="zh-CN" dirty="0"/>
              <a:t>a</a:t>
            </a:r>
            <a:r>
              <a:rPr lang="zh-CN" altLang="en-US" dirty="0"/>
              <a:t>到</a:t>
            </a:r>
            <a:r>
              <a:rPr lang="en-US" altLang="zh-CN" dirty="0"/>
              <a:t>b</a:t>
            </a:r>
            <a:r>
              <a:rPr lang="zh-CN" altLang="en-US" dirty="0"/>
              <a:t>到</a:t>
            </a:r>
            <a:r>
              <a:rPr lang="en-US" altLang="zh-CN" dirty="0"/>
              <a:t>c</a:t>
            </a:r>
            <a:r>
              <a:rPr lang="zh-CN" altLang="en-US" dirty="0"/>
              <a:t>型结构，完美。</a:t>
            </a:r>
            <a:endParaRPr lang="en-US" altLang="zh-CN" dirty="0"/>
          </a:p>
          <a:p>
            <a:r>
              <a:rPr lang="en-US" altLang="zh-CN" dirty="0"/>
              <a:t>3.“</a:t>
            </a:r>
            <a:r>
              <a:rPr lang="zh-CN" altLang="en-US" dirty="0"/>
              <a:t>空间居间性”这个</a:t>
            </a:r>
            <a:r>
              <a:rPr lang="en-US" altLang="zh-CN" dirty="0"/>
              <a:t>between</a:t>
            </a:r>
            <a:r>
              <a:rPr lang="zh-CN" altLang="en-US" dirty="0"/>
              <a:t>太模糊抽象，不要。</a:t>
            </a:r>
            <a:endParaRPr lang="en-US" altLang="zh-CN" dirty="0"/>
          </a:p>
          <a:p>
            <a:r>
              <a:rPr lang="en-US" altLang="zh-CN" dirty="0"/>
              <a:t>4.“</a:t>
            </a:r>
            <a:r>
              <a:rPr lang="zh-CN" altLang="en-US" dirty="0"/>
              <a:t>距离链比较：”这个也很完美。</a:t>
            </a:r>
            <a:endParaRPr lang="en-US" altLang="zh-CN" dirty="0"/>
          </a:p>
          <a:p>
            <a:r>
              <a:rPr lang="en-US" altLang="zh-CN" dirty="0"/>
              <a:t>5.“If you face from {</a:t>
            </a:r>
            <a:r>
              <a:rPr lang="en-US" altLang="zh-CN" dirty="0" err="1"/>
              <a:t>a_id</a:t>
            </a:r>
            <a:r>
              <a:rPr lang="en-US" altLang="zh-CN" dirty="0"/>
              <a:t>} toward {</a:t>
            </a:r>
            <a:r>
              <a:rPr lang="en-US" altLang="zh-CN" dirty="0" err="1"/>
              <a:t>b_id</a:t>
            </a:r>
            <a:r>
              <a:rPr lang="en-US" altLang="zh-CN" dirty="0"/>
              <a:t>}, is {</a:t>
            </a:r>
            <a:r>
              <a:rPr lang="en-US" altLang="zh-CN" dirty="0" err="1"/>
              <a:t>c_id</a:t>
            </a:r>
            <a:r>
              <a:rPr lang="en-US" altLang="zh-CN" dirty="0"/>
              <a:t>} to your left or right?”</a:t>
            </a:r>
            <a:r>
              <a:rPr lang="zh-CN" altLang="en-US" dirty="0"/>
              <a:t>这个也超有意思，要了。</a:t>
            </a:r>
          </a:p>
          <a:p>
            <a:endParaRPr lang="zh-CN" altLang="en-US" dirty="0"/>
          </a:p>
        </p:txBody>
      </p:sp>
      <p:pic>
        <p:nvPicPr>
          <p:cNvPr id="5" name="图片 4">
            <a:extLst>
              <a:ext uri="{FF2B5EF4-FFF2-40B4-BE49-F238E27FC236}">
                <a16:creationId xmlns:a16="http://schemas.microsoft.com/office/drawing/2014/main" id="{F225580A-2A6C-18C8-6352-A97F02D5E446}"/>
              </a:ext>
            </a:extLst>
          </p:cNvPr>
          <p:cNvPicPr>
            <a:picLocks noChangeAspect="1"/>
          </p:cNvPicPr>
          <p:nvPr/>
        </p:nvPicPr>
        <p:blipFill>
          <a:blip r:embed="rId2"/>
          <a:stretch>
            <a:fillRect/>
          </a:stretch>
        </p:blipFill>
        <p:spPr>
          <a:xfrm>
            <a:off x="8786285" y="3735977"/>
            <a:ext cx="2184338" cy="1532612"/>
          </a:xfrm>
          <a:prstGeom prst="rect">
            <a:avLst/>
          </a:prstGeom>
        </p:spPr>
      </p:pic>
    </p:spTree>
    <p:extLst>
      <p:ext uri="{BB962C8B-B14F-4D97-AF65-F5344CB8AC3E}">
        <p14:creationId xmlns:p14="http://schemas.microsoft.com/office/powerpoint/2010/main" val="1435500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F3EB02-7ACB-6FA0-34B3-6230893BDDF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B5CC4DA-FC0C-0C53-B4F2-E5F31A25185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AAB790E5-FEF0-B4F9-CD66-4488155D08AC}"/>
              </a:ext>
            </a:extLst>
          </p:cNvPr>
          <p:cNvPicPr>
            <a:picLocks noChangeAspect="1"/>
          </p:cNvPicPr>
          <p:nvPr/>
        </p:nvPicPr>
        <p:blipFill>
          <a:blip r:embed="rId2"/>
          <a:stretch>
            <a:fillRect/>
          </a:stretch>
        </p:blipFill>
        <p:spPr>
          <a:xfrm>
            <a:off x="962121" y="0"/>
            <a:ext cx="10267757" cy="6858000"/>
          </a:xfrm>
          <a:prstGeom prst="rect">
            <a:avLst/>
          </a:prstGeom>
        </p:spPr>
      </p:pic>
    </p:spTree>
    <p:extLst>
      <p:ext uri="{BB962C8B-B14F-4D97-AF65-F5344CB8AC3E}">
        <p14:creationId xmlns:p14="http://schemas.microsoft.com/office/powerpoint/2010/main" val="16075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E544E-EF22-C559-CF06-2FCDEB993B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28BF8FA-E25D-B9E3-23A2-7DA25BE7BD01}"/>
              </a:ext>
            </a:extLst>
          </p:cNvPr>
          <p:cNvSpPr>
            <a:spLocks noGrp="1"/>
          </p:cNvSpPr>
          <p:nvPr>
            <p:ph idx="1"/>
          </p:nvPr>
        </p:nvSpPr>
        <p:spPr>
          <a:xfrm>
            <a:off x="838200" y="1825625"/>
            <a:ext cx="10729586" cy="4719224"/>
          </a:xfrm>
        </p:spPr>
        <p:txBody>
          <a:bodyPr/>
          <a:lstStyle/>
          <a:p>
            <a:r>
              <a:rPr lang="zh-CN" altLang="en-US" dirty="0"/>
              <a:t>约束→从句</a:t>
            </a:r>
            <a:endParaRPr lang="en-US" altLang="zh-CN" dirty="0"/>
          </a:p>
          <a:p>
            <a:r>
              <a:rPr lang="zh-CN" altLang="en-US" dirty="0"/>
              <a:t>都是候选集内贪心选参照 </a:t>
            </a:r>
            <a:r>
              <a:rPr lang="en-US" altLang="zh-CN" dirty="0"/>
              <a:t>+ </a:t>
            </a:r>
            <a:r>
              <a:rPr lang="en-US" altLang="zh-CN" dirty="0" err="1"/>
              <a:t>dist_rank</a:t>
            </a:r>
            <a:r>
              <a:rPr lang="zh-CN" altLang="en-US" dirty="0"/>
              <a:t>，两侧各自独立约束。这是对的，但是难点在于怎么精准的找到支部的候选集，这不像汇聚型，我们的候选集就在落脚点这个范围内，</a:t>
            </a:r>
            <a:r>
              <a:rPr lang="en-US" altLang="zh-CN" dirty="0" err="1"/>
              <a:t>llm</a:t>
            </a:r>
            <a:r>
              <a:rPr lang="zh-CN" altLang="en-US" dirty="0"/>
              <a:t>生成解决问题的</a:t>
            </a:r>
            <a:r>
              <a:rPr lang="en-US" altLang="zh-CN" dirty="0"/>
              <a:t>cypher</a:t>
            </a:r>
            <a:r>
              <a:rPr lang="zh-CN" altLang="en-US" dirty="0"/>
              <a:t>自动对应候选集，支部候选集他和问题落脚点其实隔了一层。</a:t>
            </a:r>
          </a:p>
          <a:p>
            <a:r>
              <a:rPr lang="zh-CN" altLang="en-US" dirty="0"/>
              <a:t>发散查询这类问题我们的初始问题是，</a:t>
            </a:r>
            <a:r>
              <a:rPr lang="en-US" altLang="zh-CN" dirty="0"/>
              <a:t>b</a:t>
            </a:r>
            <a:r>
              <a:rPr lang="zh-CN" altLang="en-US" dirty="0"/>
              <a:t>左边的</a:t>
            </a:r>
            <a:r>
              <a:rPr lang="en-US" altLang="zh-CN" dirty="0"/>
              <a:t>car</a:t>
            </a:r>
            <a:r>
              <a:rPr lang="zh-CN" altLang="en-US" dirty="0"/>
              <a:t>和</a:t>
            </a:r>
            <a:r>
              <a:rPr lang="en-US" altLang="zh-CN" dirty="0"/>
              <a:t>b</a:t>
            </a:r>
            <a:r>
              <a:rPr lang="zh-CN" altLang="en-US" dirty="0"/>
              <a:t>前面的</a:t>
            </a:r>
            <a:r>
              <a:rPr lang="en-US" altLang="zh-CN" dirty="0"/>
              <a:t>truck</a:t>
            </a:r>
            <a:r>
              <a:rPr lang="zh-CN" altLang="en-US" dirty="0"/>
              <a:t>是不是相同</a:t>
            </a:r>
            <a:r>
              <a:rPr lang="en-US" altLang="zh-CN" dirty="0"/>
              <a:t>status</a:t>
            </a:r>
            <a:r>
              <a:rPr lang="zh-CN" altLang="en-US" dirty="0"/>
              <a:t>，然后</a:t>
            </a:r>
            <a:r>
              <a:rPr lang="en-US" altLang="zh-CN" dirty="0" err="1"/>
              <a:t>llm</a:t>
            </a:r>
            <a:r>
              <a:rPr lang="zh-CN" altLang="en-US" dirty="0"/>
              <a:t>初步查询的情况应该是非常混乱的，我感觉只能查得两边的两份候选集，然后各自约束到我们指定的比如</a:t>
            </a:r>
            <a:r>
              <a:rPr lang="en-US" altLang="zh-CN" dirty="0"/>
              <a:t>car1</a:t>
            </a:r>
            <a:r>
              <a:rPr lang="zh-CN" altLang="en-US" dirty="0"/>
              <a:t>、</a:t>
            </a:r>
            <a:r>
              <a:rPr lang="en-US" altLang="zh-CN" dirty="0"/>
              <a:t>truck2</a:t>
            </a:r>
          </a:p>
          <a:p>
            <a:r>
              <a:rPr lang="zh-CN" altLang="en-US" dirty="0"/>
              <a:t>当</a:t>
            </a:r>
            <a:r>
              <a:rPr lang="en-US" altLang="zh-CN" dirty="0"/>
              <a:t>ego</a:t>
            </a:r>
            <a:r>
              <a:rPr lang="zh-CN" altLang="en-US" dirty="0"/>
              <a:t>做</a:t>
            </a:r>
            <a:r>
              <a:rPr lang="en-US" altLang="zh-CN" dirty="0"/>
              <a:t>b</a:t>
            </a:r>
            <a:r>
              <a:rPr lang="zh-CN" altLang="en-US" dirty="0"/>
              <a:t>的时候没问题，但</a:t>
            </a:r>
            <a:r>
              <a:rPr lang="en-US" altLang="zh-CN" dirty="0"/>
              <a:t>ego</a:t>
            </a:r>
            <a:r>
              <a:rPr lang="zh-CN" altLang="en-US" dirty="0"/>
              <a:t>做</a:t>
            </a:r>
            <a:r>
              <a:rPr lang="en-US" altLang="zh-CN" dirty="0"/>
              <a:t>a</a:t>
            </a:r>
            <a:r>
              <a:rPr lang="zh-CN" altLang="en-US" dirty="0"/>
              <a:t>、</a:t>
            </a:r>
            <a:r>
              <a:rPr lang="en-US" altLang="zh-CN" dirty="0"/>
              <a:t>c</a:t>
            </a:r>
            <a:r>
              <a:rPr lang="zh-CN" altLang="en-US" dirty="0"/>
              <a:t>的时候不能生成发散型问题。同理，</a:t>
            </a:r>
            <a:r>
              <a:rPr lang="en-US" altLang="zh-CN" dirty="0"/>
              <a:t>ego</a:t>
            </a:r>
            <a:r>
              <a:rPr lang="zh-CN" altLang="en-US" dirty="0"/>
              <a:t>做</a:t>
            </a:r>
            <a:r>
              <a:rPr lang="en-US" altLang="zh-CN" dirty="0"/>
              <a:t>b</a:t>
            </a:r>
            <a:r>
              <a:rPr lang="zh-CN" altLang="en-US" dirty="0"/>
              <a:t>的时候不能生成汇聚问题</a:t>
            </a:r>
          </a:p>
          <a:p>
            <a:endParaRPr lang="zh-CN" altLang="en-US" dirty="0"/>
          </a:p>
        </p:txBody>
      </p:sp>
    </p:spTree>
    <p:extLst>
      <p:ext uri="{BB962C8B-B14F-4D97-AF65-F5344CB8AC3E}">
        <p14:creationId xmlns:p14="http://schemas.microsoft.com/office/powerpoint/2010/main" val="745565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E3E9E-09F6-99F0-8A4A-56636112EB34}"/>
              </a:ext>
            </a:extLst>
          </p:cNvPr>
          <p:cNvSpPr>
            <a:spLocks noGrp="1"/>
          </p:cNvSpPr>
          <p:nvPr>
            <p:ph type="title"/>
          </p:nvPr>
        </p:nvSpPr>
        <p:spPr/>
        <p:txBody>
          <a:bodyPr/>
          <a:lstStyle/>
          <a:p>
            <a:r>
              <a:rPr lang="zh-CN" altLang="en-US" dirty="0"/>
              <a:t>参照对象是否允许跨分支</a:t>
            </a:r>
          </a:p>
        </p:txBody>
      </p:sp>
      <p:sp>
        <p:nvSpPr>
          <p:cNvPr id="3" name="内容占位符 2">
            <a:extLst>
              <a:ext uri="{FF2B5EF4-FFF2-40B4-BE49-F238E27FC236}">
                <a16:creationId xmlns:a16="http://schemas.microsoft.com/office/drawing/2014/main" id="{51606E85-B182-A389-87C0-EDCAD7CA1FA5}"/>
              </a:ext>
            </a:extLst>
          </p:cNvPr>
          <p:cNvSpPr>
            <a:spLocks noGrp="1"/>
          </p:cNvSpPr>
          <p:nvPr>
            <p:ph idx="1"/>
          </p:nvPr>
        </p:nvSpPr>
        <p:spPr/>
        <p:txBody>
          <a:bodyPr/>
          <a:lstStyle/>
          <a:p>
            <a:r>
              <a:rPr lang="zh-CN" altLang="en-US" dirty="0"/>
              <a:t>我没想好，但我们的核心应该是怎么样最有效地收束到唯一，这样的话区分就不在于是否在同一个候选集，而是哪个物体能对</a:t>
            </a:r>
            <a:r>
              <a:rPr lang="en-US" altLang="zh-CN" dirty="0"/>
              <a:t>target</a:t>
            </a:r>
            <a:r>
              <a:rPr lang="zh-CN" altLang="en-US" dirty="0"/>
              <a:t>造成直接约束，这个指标有点抽象，我不知道该怎么具体化，这可能是我们设置约束尝试层次要思考的一个问题</a:t>
            </a:r>
          </a:p>
          <a:p>
            <a:endParaRPr lang="zh-CN" altLang="en-US" dirty="0"/>
          </a:p>
          <a:p>
            <a:endParaRPr lang="zh-CN" altLang="en-US" dirty="0"/>
          </a:p>
        </p:txBody>
      </p:sp>
    </p:spTree>
    <p:extLst>
      <p:ext uri="{BB962C8B-B14F-4D97-AF65-F5344CB8AC3E}">
        <p14:creationId xmlns:p14="http://schemas.microsoft.com/office/powerpoint/2010/main" val="2829702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3C692-DF4F-67CC-A994-276C5CE99748}"/>
              </a:ext>
            </a:extLst>
          </p:cNvPr>
          <p:cNvSpPr>
            <a:spLocks noGrp="1"/>
          </p:cNvSpPr>
          <p:nvPr>
            <p:ph type="title"/>
          </p:nvPr>
        </p:nvSpPr>
        <p:spPr/>
        <p:txBody>
          <a:bodyPr/>
          <a:lstStyle/>
          <a:p>
            <a:r>
              <a:rPr lang="zh-CN" altLang="en-US" dirty="0"/>
              <a:t>我们是否真的有必要用</a:t>
            </a:r>
            <a:r>
              <a:rPr lang="en-US" altLang="zh-CN" dirty="0" err="1"/>
              <a:t>llm</a:t>
            </a:r>
            <a:r>
              <a:rPr lang="zh-CN" altLang="en-US" dirty="0"/>
              <a:t>做初步查询</a:t>
            </a:r>
          </a:p>
        </p:txBody>
      </p:sp>
      <p:sp>
        <p:nvSpPr>
          <p:cNvPr id="3" name="内容占位符 2">
            <a:extLst>
              <a:ext uri="{FF2B5EF4-FFF2-40B4-BE49-F238E27FC236}">
                <a16:creationId xmlns:a16="http://schemas.microsoft.com/office/drawing/2014/main" id="{FBE8E569-7523-8A81-BD68-60724AF8D210}"/>
              </a:ext>
            </a:extLst>
          </p:cNvPr>
          <p:cNvSpPr>
            <a:spLocks noGrp="1"/>
          </p:cNvSpPr>
          <p:nvPr>
            <p:ph idx="1"/>
          </p:nvPr>
        </p:nvSpPr>
        <p:spPr/>
        <p:txBody>
          <a:bodyPr/>
          <a:lstStyle/>
          <a:p>
            <a:r>
              <a:rPr lang="zh-CN" altLang="en-US" dirty="0"/>
              <a:t>像发散比较这种双候选集的初步查询，</a:t>
            </a:r>
            <a:r>
              <a:rPr lang="en-US" altLang="zh-CN" dirty="0" err="1"/>
              <a:t>llm</a:t>
            </a:r>
            <a:r>
              <a:rPr lang="zh-CN" altLang="en-US" dirty="0"/>
              <a:t>不一定做的好，做的顺序也不一定令人满意，很容易失控。我们实际上可以对每种模板情况写对应的</a:t>
            </a:r>
            <a:r>
              <a:rPr lang="en-US" altLang="zh-CN" dirty="0"/>
              <a:t>cypher</a:t>
            </a:r>
            <a:r>
              <a:rPr lang="zh-CN" altLang="en-US" dirty="0"/>
              <a:t>模板，完全可以达到效果。因为这是确定性结构，不需要 </a:t>
            </a:r>
            <a:r>
              <a:rPr lang="en-US" altLang="zh-CN" dirty="0"/>
              <a:t>LLM </a:t>
            </a:r>
            <a:r>
              <a:rPr lang="zh-CN" altLang="en-US" dirty="0"/>
              <a:t>理解。</a:t>
            </a:r>
            <a:endParaRPr lang="en-US" altLang="zh-CN" dirty="0"/>
          </a:p>
          <a:p>
            <a:r>
              <a:rPr lang="zh-CN" altLang="en-US" dirty="0"/>
              <a:t>是否要舍弃</a:t>
            </a:r>
            <a:r>
              <a:rPr lang="en-US" altLang="zh-CN" dirty="0" err="1"/>
              <a:t>llm</a:t>
            </a:r>
            <a:r>
              <a:rPr lang="zh-CN" altLang="en-US" dirty="0"/>
              <a:t>？</a:t>
            </a:r>
          </a:p>
        </p:txBody>
      </p:sp>
    </p:spTree>
    <p:extLst>
      <p:ext uri="{BB962C8B-B14F-4D97-AF65-F5344CB8AC3E}">
        <p14:creationId xmlns:p14="http://schemas.microsoft.com/office/powerpoint/2010/main" val="3991887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D458B0-AD33-D89E-2BF3-843C95C07059}"/>
              </a:ext>
            </a:extLst>
          </p:cNvPr>
          <p:cNvSpPr>
            <a:spLocks noGrp="1"/>
          </p:cNvSpPr>
          <p:nvPr>
            <p:ph type="title"/>
          </p:nvPr>
        </p:nvSpPr>
        <p:spPr/>
        <p:txBody>
          <a:bodyPr/>
          <a:lstStyle/>
          <a:p>
            <a:r>
              <a:rPr lang="zh-CN" altLang="en-US" dirty="0"/>
              <a:t>方位具体角度</a:t>
            </a:r>
          </a:p>
        </p:txBody>
      </p:sp>
      <p:sp>
        <p:nvSpPr>
          <p:cNvPr id="3" name="内容占位符 2">
            <a:extLst>
              <a:ext uri="{FF2B5EF4-FFF2-40B4-BE49-F238E27FC236}">
                <a16:creationId xmlns:a16="http://schemas.microsoft.com/office/drawing/2014/main" id="{B0B13DDE-1A89-1AFF-5F26-F87E5A2FDB57}"/>
              </a:ext>
            </a:extLst>
          </p:cNvPr>
          <p:cNvSpPr>
            <a:spLocks noGrp="1"/>
          </p:cNvSpPr>
          <p:nvPr>
            <p:ph idx="1"/>
          </p:nvPr>
        </p:nvSpPr>
        <p:spPr/>
        <p:txBody>
          <a:bodyPr/>
          <a:lstStyle/>
          <a:p>
            <a:r>
              <a:rPr lang="zh-CN" altLang="en-US" b="1" dirty="0"/>
              <a:t>离散方位把连续空间强行压缩成少数类别，导致候选集塌在同一个桶里。</a:t>
            </a:r>
            <a:r>
              <a:rPr lang="zh-CN" altLang="en-US" dirty="0"/>
              <a:t>离散空间关系不足时，引入连续角度提示是否能提升 </a:t>
            </a:r>
            <a:r>
              <a:rPr lang="en-US" altLang="zh-CN" dirty="0"/>
              <a:t>dense-object </a:t>
            </a:r>
            <a:r>
              <a:rPr lang="zh-CN" altLang="en-US" dirty="0"/>
              <a:t>场景中的唯一指称能力？</a:t>
            </a:r>
            <a:endParaRPr lang="en-US" altLang="zh-CN" dirty="0"/>
          </a:p>
          <a:p>
            <a:r>
              <a:rPr lang="zh-CN" altLang="en-US" dirty="0"/>
              <a:t>关于方位我想到一个很有意思的观点。我们拿着数据库来查询都这么难锁定，我感觉让视觉模型去做好像更难，究其原因在于这样的方位表达太离散，我们能不能把我们能知道的具体角度信息放到题目上然后给视觉模型去按角度检索，这算不算一种能力考察，疑问在于他们能做到吗以及这种考察是否有意义</a:t>
            </a:r>
            <a:endParaRPr lang="en-US" altLang="zh-CN" dirty="0"/>
          </a:p>
          <a:p>
            <a:r>
              <a:rPr lang="zh-CN" altLang="en-US" b="1" dirty="0"/>
              <a:t>相机视角不是鸟瞰视角，没有明确坐标轴，标注框不够支持精确角度</a:t>
            </a:r>
          </a:p>
          <a:p>
            <a:endParaRPr lang="zh-CN" altLang="en-US" b="1" dirty="0"/>
          </a:p>
          <a:p>
            <a:endParaRPr lang="zh-CN" altLang="en-US" b="1" dirty="0"/>
          </a:p>
          <a:p>
            <a:endParaRPr lang="zh-CN" altLang="en-US" dirty="0"/>
          </a:p>
          <a:p>
            <a:endParaRPr lang="zh-CN" altLang="en-US" dirty="0"/>
          </a:p>
        </p:txBody>
      </p:sp>
    </p:spTree>
    <p:extLst>
      <p:ext uri="{BB962C8B-B14F-4D97-AF65-F5344CB8AC3E}">
        <p14:creationId xmlns:p14="http://schemas.microsoft.com/office/powerpoint/2010/main" val="3883317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0C0B7E-86C0-15E4-A162-1E4BCB353DDE}"/>
              </a:ext>
            </a:extLst>
          </p:cNvPr>
          <p:cNvSpPr>
            <a:spLocks noGrp="1"/>
          </p:cNvSpPr>
          <p:nvPr>
            <p:ph type="title"/>
          </p:nvPr>
        </p:nvSpPr>
        <p:spPr/>
        <p:txBody>
          <a:bodyPr/>
          <a:lstStyle/>
          <a:p>
            <a:r>
              <a:rPr lang="zh-CN" altLang="en-US" dirty="0"/>
              <a:t>题型选择</a:t>
            </a:r>
          </a:p>
        </p:txBody>
      </p:sp>
      <p:sp>
        <p:nvSpPr>
          <p:cNvPr id="3" name="内容占位符 2">
            <a:extLst>
              <a:ext uri="{FF2B5EF4-FFF2-40B4-BE49-F238E27FC236}">
                <a16:creationId xmlns:a16="http://schemas.microsoft.com/office/drawing/2014/main" id="{1F4ECF7C-5357-CCBF-B436-95C7577A2B85}"/>
              </a:ext>
            </a:extLst>
          </p:cNvPr>
          <p:cNvSpPr>
            <a:spLocks noGrp="1"/>
          </p:cNvSpPr>
          <p:nvPr>
            <p:ph idx="1"/>
          </p:nvPr>
        </p:nvSpPr>
        <p:spPr/>
        <p:txBody>
          <a:bodyPr/>
          <a:lstStyle/>
          <a:p>
            <a:r>
              <a:rPr lang="zh-CN" altLang="en-US" dirty="0"/>
              <a:t>先枚举可用题型 → 对每个题型做 </a:t>
            </a:r>
            <a:r>
              <a:rPr lang="en-US" altLang="zh-CN" dirty="0"/>
              <a:t>dry-run → </a:t>
            </a:r>
            <a:r>
              <a:rPr lang="zh-CN" altLang="en-US" dirty="0"/>
              <a:t>只在可行题型里加权选择</a:t>
            </a:r>
          </a:p>
        </p:txBody>
      </p:sp>
      <p:pic>
        <p:nvPicPr>
          <p:cNvPr id="5" name="图片 4">
            <a:extLst>
              <a:ext uri="{FF2B5EF4-FFF2-40B4-BE49-F238E27FC236}">
                <a16:creationId xmlns:a16="http://schemas.microsoft.com/office/drawing/2014/main" id="{539C014B-0FEB-6DEB-20A7-7A0D5FB0D75E}"/>
              </a:ext>
            </a:extLst>
          </p:cNvPr>
          <p:cNvPicPr>
            <a:picLocks noChangeAspect="1"/>
          </p:cNvPicPr>
          <p:nvPr/>
        </p:nvPicPr>
        <p:blipFill>
          <a:blip r:embed="rId2"/>
          <a:stretch>
            <a:fillRect/>
          </a:stretch>
        </p:blipFill>
        <p:spPr>
          <a:xfrm>
            <a:off x="2066362" y="2625185"/>
            <a:ext cx="8059275" cy="3867690"/>
          </a:xfrm>
          <a:prstGeom prst="rect">
            <a:avLst/>
          </a:prstGeom>
        </p:spPr>
      </p:pic>
    </p:spTree>
    <p:extLst>
      <p:ext uri="{BB962C8B-B14F-4D97-AF65-F5344CB8AC3E}">
        <p14:creationId xmlns:p14="http://schemas.microsoft.com/office/powerpoint/2010/main" val="1863733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A4EE64-21F9-B947-10C8-C922F9FF12CA}"/>
              </a:ext>
            </a:extLst>
          </p:cNvPr>
          <p:cNvSpPr>
            <a:spLocks noGrp="1"/>
          </p:cNvSpPr>
          <p:nvPr>
            <p:ph type="title"/>
          </p:nvPr>
        </p:nvSpPr>
        <p:spPr/>
        <p:txBody>
          <a:bodyPr/>
          <a:lstStyle/>
          <a:p>
            <a:r>
              <a:rPr lang="zh-CN" altLang="en-US" dirty="0"/>
              <a:t>覆盖统计规定</a:t>
            </a:r>
          </a:p>
        </p:txBody>
      </p:sp>
      <p:sp>
        <p:nvSpPr>
          <p:cNvPr id="3" name="内容占位符 2">
            <a:extLst>
              <a:ext uri="{FF2B5EF4-FFF2-40B4-BE49-F238E27FC236}">
                <a16:creationId xmlns:a16="http://schemas.microsoft.com/office/drawing/2014/main" id="{6BDAFB1A-3B4F-7B22-BA39-FF29196DF885}"/>
              </a:ext>
            </a:extLst>
          </p:cNvPr>
          <p:cNvSpPr>
            <a:spLocks noGrp="1"/>
          </p:cNvSpPr>
          <p:nvPr>
            <p:ph idx="1"/>
          </p:nvPr>
        </p:nvSpPr>
        <p:spPr/>
        <p:txBody>
          <a:bodyPr/>
          <a:lstStyle/>
          <a:p>
            <a:r>
              <a:rPr lang="zh-CN" altLang="en-US" dirty="0"/>
              <a:t>一个问题显式写出了哪些空间关系边，就覆盖哪些 </a:t>
            </a:r>
            <a:r>
              <a:rPr lang="en-US" altLang="zh-CN" dirty="0"/>
              <a:t>L1</a:t>
            </a:r>
            <a:r>
              <a:rPr lang="zh-CN" altLang="en-US" dirty="0"/>
              <a:t>；</a:t>
            </a:r>
          </a:p>
          <a:p>
            <a:r>
              <a:rPr lang="zh-CN" altLang="en-US" dirty="0"/>
              <a:t>这些空间关系边如果在问题语义中共同构成某个 </a:t>
            </a:r>
            <a:r>
              <a:rPr lang="en-US" altLang="zh-CN" dirty="0"/>
              <a:t>pivot-centered L2 </a:t>
            </a:r>
            <a:r>
              <a:rPr lang="zh-CN" altLang="en-US" dirty="0"/>
              <a:t>子图，就覆盖对应 </a:t>
            </a:r>
            <a:r>
              <a:rPr lang="en-US" altLang="zh-CN" dirty="0"/>
              <a:t>L2</a:t>
            </a:r>
            <a:r>
              <a:rPr lang="zh-CN" altLang="en-US" dirty="0"/>
              <a:t>；</a:t>
            </a:r>
          </a:p>
          <a:p>
            <a:r>
              <a:rPr lang="zh-CN" altLang="en-US" dirty="0"/>
              <a:t>没有被问题语义连接起来的对象，不因为共同出现在一句话里就自动两两组合。</a:t>
            </a:r>
          </a:p>
        </p:txBody>
      </p:sp>
    </p:spTree>
    <p:extLst>
      <p:ext uri="{BB962C8B-B14F-4D97-AF65-F5344CB8AC3E}">
        <p14:creationId xmlns:p14="http://schemas.microsoft.com/office/powerpoint/2010/main" val="545219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E53CF-5575-C619-0107-63ECF8D8AFFA}"/>
              </a:ext>
            </a:extLst>
          </p:cNvPr>
          <p:cNvSpPr>
            <a:spLocks noGrp="1"/>
          </p:cNvSpPr>
          <p:nvPr>
            <p:ph type="title"/>
          </p:nvPr>
        </p:nvSpPr>
        <p:spPr/>
        <p:txBody>
          <a:bodyPr/>
          <a:lstStyle/>
          <a:p>
            <a:r>
              <a:rPr lang="en-US" altLang="zh-CN" dirty="0"/>
              <a:t>17ped</a:t>
            </a:r>
            <a:r>
              <a:rPr lang="zh-CN" altLang="en-US" dirty="0"/>
              <a:t>堆叠</a:t>
            </a:r>
          </a:p>
        </p:txBody>
      </p:sp>
      <p:sp>
        <p:nvSpPr>
          <p:cNvPr id="3" name="内容占位符 2">
            <a:extLst>
              <a:ext uri="{FF2B5EF4-FFF2-40B4-BE49-F238E27FC236}">
                <a16:creationId xmlns:a16="http://schemas.microsoft.com/office/drawing/2014/main" id="{7129E1A9-A03B-E7A2-4705-CE04F0161489}"/>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4A550484-37F5-79E3-A95A-FECDC77DBA68}"/>
              </a:ext>
            </a:extLst>
          </p:cNvPr>
          <p:cNvPicPr>
            <a:picLocks noChangeAspect="1"/>
          </p:cNvPicPr>
          <p:nvPr/>
        </p:nvPicPr>
        <p:blipFill>
          <a:blip r:embed="rId2"/>
          <a:stretch>
            <a:fillRect/>
          </a:stretch>
        </p:blipFill>
        <p:spPr>
          <a:xfrm>
            <a:off x="922831" y="1825625"/>
            <a:ext cx="6325483" cy="1533739"/>
          </a:xfrm>
          <a:prstGeom prst="rect">
            <a:avLst/>
          </a:prstGeom>
        </p:spPr>
      </p:pic>
    </p:spTree>
    <p:extLst>
      <p:ext uri="{BB962C8B-B14F-4D97-AF65-F5344CB8AC3E}">
        <p14:creationId xmlns:p14="http://schemas.microsoft.com/office/powerpoint/2010/main" val="3052974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2AC9C-6AB6-C3AA-D3A9-CAC2E17999AE}"/>
              </a:ext>
            </a:extLst>
          </p:cNvPr>
          <p:cNvSpPr>
            <a:spLocks noGrp="1"/>
          </p:cNvSpPr>
          <p:nvPr>
            <p:ph type="title"/>
          </p:nvPr>
        </p:nvSpPr>
        <p:spPr/>
        <p:txBody>
          <a:bodyPr/>
          <a:lstStyle/>
          <a:p>
            <a:r>
              <a:rPr lang="zh-CN" altLang="en-US" dirty="0"/>
              <a:t>感觉工作重心有点偏移</a:t>
            </a:r>
          </a:p>
        </p:txBody>
      </p:sp>
      <p:sp>
        <p:nvSpPr>
          <p:cNvPr id="3" name="内容占位符 2">
            <a:extLst>
              <a:ext uri="{FF2B5EF4-FFF2-40B4-BE49-F238E27FC236}">
                <a16:creationId xmlns:a16="http://schemas.microsoft.com/office/drawing/2014/main" id="{DEFBCEE8-EA17-21D8-6E86-714C04C9DD36}"/>
              </a:ext>
            </a:extLst>
          </p:cNvPr>
          <p:cNvSpPr>
            <a:spLocks noGrp="1"/>
          </p:cNvSpPr>
          <p:nvPr>
            <p:ph idx="1"/>
          </p:nvPr>
        </p:nvSpPr>
        <p:spPr/>
        <p:txBody>
          <a:bodyPr/>
          <a:lstStyle/>
          <a:p>
            <a:r>
              <a:rPr lang="zh-CN" altLang="en-US" dirty="0"/>
              <a:t>在模板、范式上花了大量时间考究</a:t>
            </a:r>
            <a:endParaRPr lang="en-US" altLang="zh-CN" dirty="0"/>
          </a:p>
          <a:p>
            <a:r>
              <a:rPr lang="zh-CN" altLang="en-US" dirty="0"/>
              <a:t>这是否能成为我们的一个亮点</a:t>
            </a:r>
          </a:p>
        </p:txBody>
      </p:sp>
    </p:spTree>
    <p:extLst>
      <p:ext uri="{BB962C8B-B14F-4D97-AF65-F5344CB8AC3E}">
        <p14:creationId xmlns:p14="http://schemas.microsoft.com/office/powerpoint/2010/main" val="1404365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D3D8BE-C617-312E-9EEF-5C3B170E45C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4F32F89-0FB1-0286-A480-976E9C02A9F1}"/>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102EB12-3448-9266-3863-8D970981A3D7}"/>
              </a:ext>
            </a:extLst>
          </p:cNvPr>
          <p:cNvPicPr>
            <a:picLocks noChangeAspect="1"/>
          </p:cNvPicPr>
          <p:nvPr/>
        </p:nvPicPr>
        <p:blipFill>
          <a:blip r:embed="rId2"/>
          <a:stretch>
            <a:fillRect/>
          </a:stretch>
        </p:blipFill>
        <p:spPr>
          <a:xfrm>
            <a:off x="3435185" y="0"/>
            <a:ext cx="5321630" cy="6858000"/>
          </a:xfrm>
          <a:prstGeom prst="rect">
            <a:avLst/>
          </a:prstGeom>
        </p:spPr>
      </p:pic>
    </p:spTree>
    <p:extLst>
      <p:ext uri="{BB962C8B-B14F-4D97-AF65-F5344CB8AC3E}">
        <p14:creationId xmlns:p14="http://schemas.microsoft.com/office/powerpoint/2010/main" val="34330163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DAB98E-F075-F61E-380B-7442D1E8800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C5E2925-1D24-C03F-8209-9239A96FD9D9}"/>
              </a:ext>
            </a:extLst>
          </p:cNvPr>
          <p:cNvSpPr>
            <a:spLocks noGrp="1"/>
          </p:cNvSpPr>
          <p:nvPr>
            <p:ph idx="1"/>
          </p:nvPr>
        </p:nvSpPr>
        <p:spPr/>
        <p:txBody>
          <a:bodyPr/>
          <a:lstStyle/>
          <a:p>
            <a:r>
              <a:rPr lang="en-US" altLang="zh-CN" b="1" dirty="0"/>
              <a:t>Referring Expression Generation, REG</a:t>
            </a:r>
          </a:p>
          <a:p>
            <a:endParaRPr lang="en-US" altLang="zh-CN" b="1" dirty="0"/>
          </a:p>
          <a:p>
            <a:endParaRPr lang="zh-CN" altLang="en-US" dirty="0"/>
          </a:p>
        </p:txBody>
      </p:sp>
    </p:spTree>
    <p:extLst>
      <p:ext uri="{BB962C8B-B14F-4D97-AF65-F5344CB8AC3E}">
        <p14:creationId xmlns:p14="http://schemas.microsoft.com/office/powerpoint/2010/main" val="1349256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7CA3D-8DAA-5521-1B0F-7BCE344016C6}"/>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08163584-998E-7271-BF2E-666762803794}"/>
              </a:ext>
            </a:extLst>
          </p:cNvPr>
          <p:cNvSpPr>
            <a:spLocks noGrp="1"/>
          </p:cNvSpPr>
          <p:nvPr>
            <p:ph idx="1"/>
          </p:nvPr>
        </p:nvSpPr>
        <p:spPr/>
        <p:txBody>
          <a:bodyPr/>
          <a:lstStyle/>
          <a:p>
            <a:r>
              <a:rPr lang="en-US" altLang="zh-CN" dirty="0"/>
              <a:t>1.llm</a:t>
            </a:r>
            <a:r>
              <a:rPr lang="zh-CN" altLang="en-US" dirty="0"/>
              <a:t>的使用</a:t>
            </a:r>
            <a:endParaRPr lang="en-US" altLang="zh-CN" dirty="0"/>
          </a:p>
          <a:p>
            <a:r>
              <a:rPr lang="en-US" altLang="zh-CN" dirty="0"/>
              <a:t>2.neo4j</a:t>
            </a:r>
            <a:r>
              <a:rPr lang="zh-CN" altLang="en-US" dirty="0"/>
              <a:t>的使用</a:t>
            </a:r>
            <a:endParaRPr lang="en-US" altLang="zh-CN" dirty="0"/>
          </a:p>
          <a:p>
            <a:endParaRPr lang="zh-CN" altLang="en-US" dirty="0"/>
          </a:p>
        </p:txBody>
      </p:sp>
    </p:spTree>
    <p:extLst>
      <p:ext uri="{BB962C8B-B14F-4D97-AF65-F5344CB8AC3E}">
        <p14:creationId xmlns:p14="http://schemas.microsoft.com/office/powerpoint/2010/main" val="12181988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2695</TotalTime>
  <Words>1693</Words>
  <Application>Microsoft Office PowerPoint</Application>
  <PresentationFormat>宽屏</PresentationFormat>
  <Paragraphs>73</Paragraphs>
  <Slides>40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40</vt:i4>
      </vt:variant>
    </vt:vector>
  </HeadingPairs>
  <TitlesOfParts>
    <vt:vector size="44" baseType="lpstr">
      <vt:lpstr>等线</vt:lpstr>
      <vt:lpstr>等线 Light</vt:lpstr>
      <vt:lpstr>Arial</vt:lpstr>
      <vt:lpstr>Office 主题​​</vt:lpstr>
      <vt:lpstr>PowerPoint 演示文稿</vt:lpstr>
      <vt:lpstr>PowerPoint 演示文稿</vt:lpstr>
      <vt:lpstr>PowerPoint 演示文稿</vt:lpstr>
      <vt:lpstr>PowerPoint 演示文稿</vt:lpstr>
      <vt:lpstr>缩短时间的方法</vt:lpstr>
      <vt:lpstr>PowerPoint 演示文稿</vt:lpstr>
      <vt:lpstr>PowerPoint 演示文稿</vt:lpstr>
      <vt:lpstr>PowerPoint 演示文稿</vt:lpstr>
      <vt:lpstr>模板库与约束库是否要融合</vt:lpstr>
      <vt:lpstr>将六千帧测试题对应的nuscenes数据单独抽出来，方便迁移</vt:lpstr>
      <vt:lpstr>原题集的llm转化能用离线吗</vt:lpstr>
      <vt:lpstr>大批量写入excel出现并发问题</vt:lpstr>
      <vt:lpstr>覆盖增长问题</vt:lpstr>
      <vt:lpstr>PowerPoint 演示文稿</vt:lpstr>
      <vt:lpstr>L0、1优选策略</vt:lpstr>
      <vt:lpstr> template="Is there a {target_type} to the {direction1} of the {mid_type} that is to the {direction2} of {ref_id}?",</vt:lpstr>
      <vt:lpstr>通过候选集来约束极大弊端</vt:lpstr>
      <vt:lpstr>PowerPoint 演示文稿</vt:lpstr>
      <vt:lpstr>How many pedestrians are near b?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存在、数数</vt:lpstr>
      <vt:lpstr>跳出方向约束定式，着眼L2级别的多关系结合的本质</vt:lpstr>
      <vt:lpstr>PowerPoint 演示文稿</vt:lpstr>
      <vt:lpstr>PowerPoint 演示文稿</vt:lpstr>
      <vt:lpstr>参照对象是否允许跨分支</vt:lpstr>
      <vt:lpstr>我们是否真的有必要用llm做初步查询</vt:lpstr>
      <vt:lpstr>方位具体角度</vt:lpstr>
      <vt:lpstr>题型选择</vt:lpstr>
      <vt:lpstr>覆盖统计规定</vt:lpstr>
      <vt:lpstr>17ped堆叠</vt:lpstr>
      <vt:lpstr>感觉工作重心有点偏移</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yunyang wan</dc:creator>
  <cp:lastModifiedBy>yunyang wan</cp:lastModifiedBy>
  <cp:revision>55</cp:revision>
  <dcterms:created xsi:type="dcterms:W3CDTF">2026-04-03T13:52:53Z</dcterms:created>
  <dcterms:modified xsi:type="dcterms:W3CDTF">2026-05-09T07:49:12Z</dcterms:modified>
</cp:coreProperties>
</file>