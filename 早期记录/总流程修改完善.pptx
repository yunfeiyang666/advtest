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1" r:id="rId2"/>
    <p:sldId id="262" r:id="rId3"/>
    <p:sldId id="267" r:id="rId4"/>
    <p:sldId id="268" r:id="rId5"/>
    <p:sldId id="287" r:id="rId6"/>
    <p:sldId id="288" r:id="rId7"/>
    <p:sldId id="289" r:id="rId8"/>
    <p:sldId id="261" r:id="rId9"/>
    <p:sldId id="269" r:id="rId10"/>
    <p:sldId id="270" r:id="rId11"/>
    <p:sldId id="271" r:id="rId12"/>
    <p:sldId id="272" r:id="rId13"/>
    <p:sldId id="273" r:id="rId14"/>
    <p:sldId id="274" r:id="rId15"/>
    <p:sldId id="258" r:id="rId16"/>
    <p:sldId id="275" r:id="rId17"/>
    <p:sldId id="276" r:id="rId18"/>
    <p:sldId id="277" r:id="rId19"/>
    <p:sldId id="278" r:id="rId20"/>
    <p:sldId id="279" r:id="rId21"/>
    <p:sldId id="260" r:id="rId22"/>
    <p:sldId id="292" r:id="rId23"/>
    <p:sldId id="280" r:id="rId24"/>
    <p:sldId id="281" r:id="rId25"/>
    <p:sldId id="290" r:id="rId26"/>
    <p:sldId id="282" r:id="rId27"/>
    <p:sldId id="263" r:id="rId28"/>
    <p:sldId id="283" r:id="rId29"/>
    <p:sldId id="284" r:id="rId30"/>
    <p:sldId id="285" r:id="rId31"/>
    <p:sldId id="286"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960725-4243-AE0C-DE88-EB2F456BF06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6A12D48-76AC-7B08-3C2D-1024490E8D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ADB6FDF-4B68-CDD3-0369-1A4DE576FFA3}"/>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B2DF95B6-BDB5-808C-CDBC-5D80FE60E7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9E21899-DAA9-8B27-3BF4-13EEF69454CE}"/>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2245892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52E5D4-D13F-8DF6-C93E-EE2A3D7F936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B5DA200-18A4-C21D-83DE-C4E12A9F985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C42D1E-5554-0F45-87CB-AA214E5349BD}"/>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D3DD2082-8989-5B0D-77F8-B1F9F6193E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A5777E5-9776-E6CC-56B5-1D9081187D3E}"/>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2885707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9B1FF-646E-E67C-A4FF-EC2AC958448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5C45022-4CA1-FC44-DD54-F74A65D491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83AEBC0-1C2C-C70F-B33A-A789BE0ECB67}"/>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8212B419-B084-6AA5-DA55-BFA076FC51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A783D6E-AC4B-5D27-C18D-14162853C7DA}"/>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2973392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68B7A-D294-816E-1250-CCE2328BC24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9CEEFF8-0C99-253A-254D-38185EE6C6E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F327F31-B4AD-1E75-FABB-C4D351C1C4D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08F710A-B969-D6E8-7A73-56257764F93B}"/>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6" name="页脚占位符 5">
            <a:extLst>
              <a:ext uri="{FF2B5EF4-FFF2-40B4-BE49-F238E27FC236}">
                <a16:creationId xmlns:a16="http://schemas.microsoft.com/office/drawing/2014/main" id="{E9B9B7C3-9F8C-FBB3-7C3F-D16C5BC2CB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D173186-E4DF-2AB1-56D4-00E7832EAD3C}"/>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511286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F3A692-1118-03BF-1E12-6E0AC9DE291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3ABECE4-9195-C974-2A21-35C65808C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D13DF80-E42F-2198-8C90-495AF359FE3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24BC0F8-5896-69FD-D25F-4331DE902E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7D275C7-5B7C-65A0-E551-BE639327E85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13F8C62-761E-3912-0AB0-D9D293C194F6}"/>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8" name="页脚占位符 7">
            <a:extLst>
              <a:ext uri="{FF2B5EF4-FFF2-40B4-BE49-F238E27FC236}">
                <a16:creationId xmlns:a16="http://schemas.microsoft.com/office/drawing/2014/main" id="{0788EB5F-0CC5-7AFF-C361-883E0E0A59E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BBA8AA5-511F-4ED1-2DDB-FD32B4017039}"/>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1450919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B09B6D-2A75-AD5E-D469-B992B3AA55E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9657E5-5D72-1573-4BCE-EF863941E099}"/>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4" name="页脚占位符 3">
            <a:extLst>
              <a:ext uri="{FF2B5EF4-FFF2-40B4-BE49-F238E27FC236}">
                <a16:creationId xmlns:a16="http://schemas.microsoft.com/office/drawing/2014/main" id="{BCA094AD-2EE5-3822-8271-A3AD9514CD4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0F904B4-D3BF-179A-3F62-50EE0128F2A9}"/>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2614039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4047668-E083-0F78-59D6-A55AD43D7B08}"/>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3" name="页脚占位符 2">
            <a:extLst>
              <a:ext uri="{FF2B5EF4-FFF2-40B4-BE49-F238E27FC236}">
                <a16:creationId xmlns:a16="http://schemas.microsoft.com/office/drawing/2014/main" id="{99D67F05-E05B-A2B2-A447-30768BFB748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BE5F371-6D14-F4C3-2544-36A80F488F70}"/>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383582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01EAE0-3554-4451-8F69-D6596DD9B80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D03855F-D0A4-19C1-6CA3-0BAB6D9B0C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C191846-825E-DD90-BC82-B2DCC050BB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A01D7D-0647-4BD8-B0AA-B213292B80F8}"/>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6" name="页脚占位符 5">
            <a:extLst>
              <a:ext uri="{FF2B5EF4-FFF2-40B4-BE49-F238E27FC236}">
                <a16:creationId xmlns:a16="http://schemas.microsoft.com/office/drawing/2014/main" id="{5DAAA972-C5B5-F3AA-87D2-4A8D16570C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BB42804-81C6-2B6C-A65C-187024F04579}"/>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3356917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F1FE1C-47F6-BC81-12BA-D28559002C9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2346EED-D78B-4FAC-818E-E657062148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14D7E8B-AA62-EAF3-4ECB-69F270F073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3E68080-7824-5AC9-F7A4-0AC6F9E9393C}"/>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6" name="页脚占位符 5">
            <a:extLst>
              <a:ext uri="{FF2B5EF4-FFF2-40B4-BE49-F238E27FC236}">
                <a16:creationId xmlns:a16="http://schemas.microsoft.com/office/drawing/2014/main" id="{6182FB8B-03E3-6FAB-8E3F-A9225D86A78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DF7BBFB-E770-455F-ADE0-BB87DCF4848D}"/>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2470415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277A2-FE2C-60C2-F6E2-09A5AE91502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9F3BFA3-009C-4C50-EEBE-99709F0AF2C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BDF1FA-AE37-CBC9-0814-A440774AA912}"/>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6AB643F5-B088-B735-61CA-D9C9F01B29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B55764-B77A-8483-ECE4-51C4DE46E155}"/>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1707089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A4741FD-83A2-5016-DA7C-FB7475D5A69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419087B-71C0-AA0B-EE08-4F9F8830A58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29899A-E21F-C8E1-152E-2AE77E70AA16}"/>
              </a:ext>
            </a:extLst>
          </p:cNvPr>
          <p:cNvSpPr>
            <a:spLocks noGrp="1"/>
          </p:cNvSpPr>
          <p:nvPr>
            <p:ph type="dt" sz="half" idx="10"/>
          </p:nvPr>
        </p:nvSpPr>
        <p:spPr/>
        <p:txBody>
          <a:bodyPr/>
          <a:lstStyle/>
          <a:p>
            <a:fld id="{DC77FC1C-FA21-4B5D-B99A-21F331393F6C}"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EE6AD78E-C160-CCCA-D0C9-7C4C861A9D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7DDA09-0CA2-D537-CE84-0E1C696BDB00}"/>
              </a:ext>
            </a:extLst>
          </p:cNvPr>
          <p:cNvSpPr>
            <a:spLocks noGrp="1"/>
          </p:cNvSpPr>
          <p:nvPr>
            <p:ph type="sldNum" sz="quarter" idx="12"/>
          </p:nvPr>
        </p:nvSpPr>
        <p:spPr/>
        <p:txBody>
          <a:body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202351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F411901-D141-08CE-DC11-134D996CAB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4C648BB-E0C3-EB37-F696-E9696D6D2E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2FE3478-8563-1E58-5FF6-0FE1F6CE45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77FC1C-FA21-4B5D-B99A-21F331393F6C}" type="datetimeFigureOut">
              <a:rPr lang="zh-CN" altLang="en-US" smtClean="0"/>
              <a:t>2026/3/15</a:t>
            </a:fld>
            <a:endParaRPr lang="zh-CN" altLang="en-US"/>
          </a:p>
        </p:txBody>
      </p:sp>
      <p:sp>
        <p:nvSpPr>
          <p:cNvPr id="5" name="页脚占位符 4">
            <a:extLst>
              <a:ext uri="{FF2B5EF4-FFF2-40B4-BE49-F238E27FC236}">
                <a16:creationId xmlns:a16="http://schemas.microsoft.com/office/drawing/2014/main" id="{8937837A-41A6-F27B-77BB-4DD01795A3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92E11F2-9BE0-EBE3-3163-CC01146C25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44E328-CB39-41FB-9CFA-DD31774AF3D1}" type="slidenum">
              <a:rPr lang="zh-CN" altLang="en-US" smtClean="0"/>
              <a:t>‹#›</a:t>
            </a:fld>
            <a:endParaRPr lang="zh-CN" altLang="en-US"/>
          </a:p>
        </p:txBody>
      </p:sp>
    </p:spTree>
    <p:extLst>
      <p:ext uri="{BB962C8B-B14F-4D97-AF65-F5344CB8AC3E}">
        <p14:creationId xmlns:p14="http://schemas.microsoft.com/office/powerpoint/2010/main" val="3756016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04FA72-3549-FAB5-E221-D7395754AB8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8A374E8-6A46-AEF7-CEC3-B3DDB48082B7}"/>
              </a:ext>
            </a:extLst>
          </p:cNvPr>
          <p:cNvSpPr>
            <a:spLocks noGrp="1"/>
          </p:cNvSpPr>
          <p:nvPr>
            <p:ph idx="1"/>
          </p:nvPr>
        </p:nvSpPr>
        <p:spPr/>
        <p:txBody>
          <a:bodyPr/>
          <a:lstStyle/>
          <a:p>
            <a:r>
              <a:rPr lang="en-US" altLang="zh-CN" dirty="0"/>
              <a:t>1.L2</a:t>
            </a:r>
            <a:r>
              <a:rPr lang="zh-CN" altLang="en-US" dirty="0"/>
              <a:t>问题对</a:t>
            </a:r>
            <a:r>
              <a:rPr lang="en-US" altLang="zh-CN" dirty="0"/>
              <a:t>L0</a:t>
            </a:r>
            <a:r>
              <a:rPr lang="zh-CN" altLang="en-US" dirty="0"/>
              <a:t>、</a:t>
            </a:r>
            <a:r>
              <a:rPr lang="en-US" altLang="zh-CN" dirty="0"/>
              <a:t>1</a:t>
            </a:r>
            <a:r>
              <a:rPr lang="zh-CN" altLang="en-US" dirty="0"/>
              <a:t>的影响，分开还是混在一起</a:t>
            </a:r>
          </a:p>
        </p:txBody>
      </p:sp>
    </p:spTree>
    <p:extLst>
      <p:ext uri="{BB962C8B-B14F-4D97-AF65-F5344CB8AC3E}">
        <p14:creationId xmlns:p14="http://schemas.microsoft.com/office/powerpoint/2010/main" val="1716512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D912DE-7771-1939-545F-77D646943FED}"/>
              </a:ext>
            </a:extLst>
          </p:cNvPr>
          <p:cNvSpPr>
            <a:spLocks noGrp="1"/>
          </p:cNvSpPr>
          <p:nvPr>
            <p:ph type="title"/>
          </p:nvPr>
        </p:nvSpPr>
        <p:spPr/>
        <p:txBody>
          <a:bodyPr/>
          <a:lstStyle/>
          <a:p>
            <a:r>
              <a:rPr lang="zh-CN" altLang="en-US" dirty="0"/>
              <a:t>模板库构建</a:t>
            </a:r>
          </a:p>
        </p:txBody>
      </p:sp>
      <p:sp>
        <p:nvSpPr>
          <p:cNvPr id="3" name="内容占位符 2">
            <a:extLst>
              <a:ext uri="{FF2B5EF4-FFF2-40B4-BE49-F238E27FC236}">
                <a16:creationId xmlns:a16="http://schemas.microsoft.com/office/drawing/2014/main" id="{0F0F328B-D1CA-AA70-808C-0E99B33F5AC4}"/>
              </a:ext>
            </a:extLst>
          </p:cNvPr>
          <p:cNvSpPr>
            <a:spLocks noGrp="1"/>
          </p:cNvSpPr>
          <p:nvPr>
            <p:ph idx="1"/>
          </p:nvPr>
        </p:nvSpPr>
        <p:spPr/>
        <p:txBody>
          <a:bodyPr/>
          <a:lstStyle/>
          <a:p>
            <a:r>
              <a:rPr lang="en-US" altLang="zh-CN" dirty="0"/>
              <a:t>1.</a:t>
            </a:r>
            <a:r>
              <a:rPr lang="zh-CN" altLang="en-US" dirty="0"/>
              <a:t>先从</a:t>
            </a:r>
            <a:r>
              <a:rPr lang="en-US" altLang="zh-CN" dirty="0" err="1"/>
              <a:t>NuscenesQA</a:t>
            </a:r>
            <a:r>
              <a:rPr lang="zh-CN" altLang="en-US" dirty="0"/>
              <a:t>中调研模式</a:t>
            </a:r>
            <a:endParaRPr lang="en-US" altLang="zh-CN" dirty="0"/>
          </a:p>
          <a:p>
            <a:r>
              <a:rPr lang="en-US" altLang="zh-CN" dirty="0"/>
              <a:t>2.</a:t>
            </a:r>
            <a:r>
              <a:rPr lang="zh-CN" altLang="en-US" dirty="0"/>
              <a:t>问题分级：</a:t>
            </a:r>
            <a:endParaRPr lang="en-US" altLang="zh-CN" dirty="0"/>
          </a:p>
          <a:p>
            <a:r>
              <a:rPr lang="zh-CN" altLang="en-US" dirty="0"/>
              <a:t>第一级：</a:t>
            </a:r>
            <a:r>
              <a:rPr lang="en-US" altLang="zh-CN" dirty="0"/>
              <a:t>L0</a:t>
            </a:r>
            <a:r>
              <a:rPr lang="zh-CN" altLang="en-US" dirty="0"/>
              <a:t>、</a:t>
            </a:r>
            <a:r>
              <a:rPr lang="en-US" altLang="zh-CN" dirty="0"/>
              <a:t>1</a:t>
            </a:r>
            <a:r>
              <a:rPr lang="zh-CN" altLang="en-US" dirty="0"/>
              <a:t>、</a:t>
            </a:r>
            <a:r>
              <a:rPr lang="en-US" altLang="zh-CN" dirty="0"/>
              <a:t>2</a:t>
            </a:r>
          </a:p>
          <a:p>
            <a:r>
              <a:rPr lang="zh-CN" altLang="en-US" dirty="0"/>
              <a:t>第二级：几种问题类别</a:t>
            </a:r>
            <a:endParaRPr lang="en-US" altLang="zh-CN" dirty="0"/>
          </a:p>
          <a:p>
            <a:r>
              <a:rPr lang="zh-CN" altLang="en-US" dirty="0"/>
              <a:t>第三级：每种类别下的不同提问方向</a:t>
            </a:r>
            <a:endParaRPr lang="en-US" altLang="zh-CN" dirty="0"/>
          </a:p>
          <a:p>
            <a:r>
              <a:rPr lang="zh-CN" altLang="en-US" dirty="0"/>
              <a:t>第四级：每种问题进行语义扩充</a:t>
            </a:r>
          </a:p>
        </p:txBody>
      </p:sp>
    </p:spTree>
    <p:extLst>
      <p:ext uri="{BB962C8B-B14F-4D97-AF65-F5344CB8AC3E}">
        <p14:creationId xmlns:p14="http://schemas.microsoft.com/office/powerpoint/2010/main" val="3772758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10E5B1-D684-3AA5-CDE7-6C7979B6988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228EE59-D3EA-D4D6-4AC2-8F026FECC7EF}"/>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65093469-9B62-CD41-98EB-1DE120D6F35F}"/>
              </a:ext>
            </a:extLst>
          </p:cNvPr>
          <p:cNvPicPr>
            <a:picLocks noChangeAspect="1"/>
          </p:cNvPicPr>
          <p:nvPr/>
        </p:nvPicPr>
        <p:blipFill>
          <a:blip r:embed="rId2"/>
          <a:stretch>
            <a:fillRect/>
          </a:stretch>
        </p:blipFill>
        <p:spPr>
          <a:xfrm>
            <a:off x="513571" y="513943"/>
            <a:ext cx="11164858" cy="5830114"/>
          </a:xfrm>
          <a:prstGeom prst="rect">
            <a:avLst/>
          </a:prstGeom>
        </p:spPr>
      </p:pic>
    </p:spTree>
    <p:extLst>
      <p:ext uri="{BB962C8B-B14F-4D97-AF65-F5344CB8AC3E}">
        <p14:creationId xmlns:p14="http://schemas.microsoft.com/office/powerpoint/2010/main" val="3278414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61F3F-B775-4C46-B0F1-FFFEE5A2C5A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B886E9F-B0C1-E481-AC00-96B31BDB0957}"/>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25D4E67F-C9BC-93BE-AEEA-FAC0219A0A28}"/>
              </a:ext>
            </a:extLst>
          </p:cNvPr>
          <p:cNvPicPr>
            <a:picLocks noChangeAspect="1"/>
          </p:cNvPicPr>
          <p:nvPr/>
        </p:nvPicPr>
        <p:blipFill>
          <a:blip r:embed="rId2"/>
          <a:stretch>
            <a:fillRect/>
          </a:stretch>
        </p:blipFill>
        <p:spPr>
          <a:xfrm>
            <a:off x="623501" y="0"/>
            <a:ext cx="10944997" cy="6858000"/>
          </a:xfrm>
          <a:prstGeom prst="rect">
            <a:avLst/>
          </a:prstGeom>
        </p:spPr>
      </p:pic>
    </p:spTree>
    <p:extLst>
      <p:ext uri="{BB962C8B-B14F-4D97-AF65-F5344CB8AC3E}">
        <p14:creationId xmlns:p14="http://schemas.microsoft.com/office/powerpoint/2010/main" val="3495592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4AC10-4FD6-D08C-9E2C-8D83B819770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2B46399-8845-25E9-1253-4372925CD980}"/>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34C2CFE-CB7E-0E70-4217-8AD5EF9BFAE1}"/>
              </a:ext>
            </a:extLst>
          </p:cNvPr>
          <p:cNvPicPr>
            <a:picLocks noChangeAspect="1"/>
          </p:cNvPicPr>
          <p:nvPr/>
        </p:nvPicPr>
        <p:blipFill>
          <a:blip r:embed="rId2"/>
          <a:stretch>
            <a:fillRect/>
          </a:stretch>
        </p:blipFill>
        <p:spPr>
          <a:xfrm>
            <a:off x="2199731" y="456785"/>
            <a:ext cx="7792537" cy="5944430"/>
          </a:xfrm>
          <a:prstGeom prst="rect">
            <a:avLst/>
          </a:prstGeom>
        </p:spPr>
      </p:pic>
    </p:spTree>
    <p:extLst>
      <p:ext uri="{BB962C8B-B14F-4D97-AF65-F5344CB8AC3E}">
        <p14:creationId xmlns:p14="http://schemas.microsoft.com/office/powerpoint/2010/main" val="1881325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BF5B65-FFE7-60EB-B224-FDE470030C7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48E1B86-C391-3E6A-9D35-8E6F693B13CB}"/>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66499C0-28B6-5B18-6D3F-7D867F5D09BF}"/>
              </a:ext>
            </a:extLst>
          </p:cNvPr>
          <p:cNvPicPr>
            <a:picLocks noChangeAspect="1"/>
          </p:cNvPicPr>
          <p:nvPr/>
        </p:nvPicPr>
        <p:blipFill>
          <a:blip r:embed="rId2"/>
          <a:stretch>
            <a:fillRect/>
          </a:stretch>
        </p:blipFill>
        <p:spPr>
          <a:xfrm>
            <a:off x="2185442" y="156706"/>
            <a:ext cx="7821116" cy="6544588"/>
          </a:xfrm>
          <a:prstGeom prst="rect">
            <a:avLst/>
          </a:prstGeom>
        </p:spPr>
      </p:pic>
    </p:spTree>
    <p:extLst>
      <p:ext uri="{BB962C8B-B14F-4D97-AF65-F5344CB8AC3E}">
        <p14:creationId xmlns:p14="http://schemas.microsoft.com/office/powerpoint/2010/main" val="758459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AEB114-15AB-6CE6-CFBE-EED9A293A3B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6A1D8D3-E5B3-D1F3-4D02-D06B3092A903}"/>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7C98D514-3F32-3E27-D1F1-229135433620}"/>
              </a:ext>
            </a:extLst>
          </p:cNvPr>
          <p:cNvPicPr>
            <a:picLocks noChangeAspect="1"/>
          </p:cNvPicPr>
          <p:nvPr/>
        </p:nvPicPr>
        <p:blipFill>
          <a:blip r:embed="rId2"/>
          <a:stretch>
            <a:fillRect/>
          </a:stretch>
        </p:blipFill>
        <p:spPr>
          <a:xfrm>
            <a:off x="2190205" y="390101"/>
            <a:ext cx="7811590" cy="6077798"/>
          </a:xfrm>
          <a:prstGeom prst="rect">
            <a:avLst/>
          </a:prstGeom>
        </p:spPr>
      </p:pic>
    </p:spTree>
    <p:extLst>
      <p:ext uri="{BB962C8B-B14F-4D97-AF65-F5344CB8AC3E}">
        <p14:creationId xmlns:p14="http://schemas.microsoft.com/office/powerpoint/2010/main" val="2599673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63E965-EF5C-1CC5-3E1C-7211D7354032}"/>
              </a:ext>
            </a:extLst>
          </p:cNvPr>
          <p:cNvSpPr>
            <a:spLocks noGrp="1"/>
          </p:cNvSpPr>
          <p:nvPr>
            <p:ph type="title"/>
          </p:nvPr>
        </p:nvSpPr>
        <p:spPr/>
        <p:txBody>
          <a:bodyPr/>
          <a:lstStyle/>
          <a:p>
            <a:r>
              <a:rPr lang="zh-CN" altLang="en-US" dirty="0"/>
              <a:t>覆盖率数据</a:t>
            </a:r>
          </a:p>
        </p:txBody>
      </p:sp>
      <p:sp>
        <p:nvSpPr>
          <p:cNvPr id="3" name="内容占位符 2">
            <a:extLst>
              <a:ext uri="{FF2B5EF4-FFF2-40B4-BE49-F238E27FC236}">
                <a16:creationId xmlns:a16="http://schemas.microsoft.com/office/drawing/2014/main" id="{6135DFD1-DACD-B54C-676F-A7B4C503DAF5}"/>
              </a:ext>
            </a:extLst>
          </p:cNvPr>
          <p:cNvSpPr>
            <a:spLocks noGrp="1"/>
          </p:cNvSpPr>
          <p:nvPr>
            <p:ph idx="1"/>
          </p:nvPr>
        </p:nvSpPr>
        <p:spPr/>
        <p:txBody>
          <a:bodyPr>
            <a:normAutofit lnSpcReduction="10000"/>
          </a:bodyPr>
          <a:lstStyle/>
          <a:p>
            <a:r>
              <a:rPr lang="en-US" altLang="zh-CN" dirty="0"/>
              <a:t>1.</a:t>
            </a:r>
            <a:r>
              <a:rPr lang="zh-CN" altLang="en-US" dirty="0"/>
              <a:t>建场景图，导入数据库</a:t>
            </a:r>
            <a:endParaRPr lang="en-US" altLang="zh-CN" dirty="0"/>
          </a:p>
          <a:p>
            <a:r>
              <a:rPr lang="en-US" altLang="zh-CN" dirty="0"/>
              <a:t>2.</a:t>
            </a:r>
            <a:r>
              <a:rPr lang="zh-CN" altLang="en-US" dirty="0"/>
              <a:t> 构建三组键值对</a:t>
            </a:r>
            <a:r>
              <a:rPr lang="en-US" altLang="zh-CN" dirty="0"/>
              <a:t>map</a:t>
            </a:r>
            <a:r>
              <a:rPr lang="zh-CN" altLang="en-US" dirty="0"/>
              <a:t>，</a:t>
            </a:r>
            <a:r>
              <a:rPr lang="en-US" altLang="zh-CN" dirty="0"/>
              <a:t>key</a:t>
            </a:r>
            <a:r>
              <a:rPr lang="zh-CN" altLang="en-US" dirty="0"/>
              <a:t>为</a:t>
            </a:r>
            <a:r>
              <a:rPr lang="en-US" altLang="zh-CN" dirty="0"/>
              <a:t>L</a:t>
            </a:r>
            <a:r>
              <a:rPr lang="zh-CN" altLang="en-US" dirty="0"/>
              <a:t>中的某个对象，</a:t>
            </a:r>
            <a:r>
              <a:rPr lang="en-US" altLang="zh-CN" dirty="0"/>
              <a:t>value</a:t>
            </a:r>
            <a:r>
              <a:rPr lang="zh-CN" altLang="en-US" dirty="0"/>
              <a:t>为</a:t>
            </a:r>
            <a:r>
              <a:rPr lang="en-US" altLang="zh-CN" dirty="0"/>
              <a:t>0</a:t>
            </a:r>
            <a:r>
              <a:rPr lang="zh-CN" altLang="en-US" dirty="0"/>
              <a:t>、</a:t>
            </a:r>
            <a:r>
              <a:rPr lang="en-US" altLang="zh-CN" dirty="0"/>
              <a:t>1</a:t>
            </a:r>
            <a:r>
              <a:rPr lang="zh-CN" altLang="en-US" dirty="0"/>
              <a:t>表示是否已覆盖</a:t>
            </a:r>
            <a:endParaRPr lang="en-US" altLang="zh-CN" dirty="0"/>
          </a:p>
          <a:p>
            <a:r>
              <a:rPr lang="en-US" altLang="zh-CN" dirty="0"/>
              <a:t>3.</a:t>
            </a:r>
            <a:r>
              <a:rPr lang="zh-CN" altLang="en-US" dirty="0"/>
              <a:t>对初始</a:t>
            </a:r>
            <a:r>
              <a:rPr lang="en-US" altLang="zh-CN" dirty="0"/>
              <a:t>L0</a:t>
            </a:r>
            <a:r>
              <a:rPr lang="zh-CN" altLang="en-US" dirty="0"/>
              <a:t>、</a:t>
            </a:r>
            <a:r>
              <a:rPr lang="en-US" altLang="zh-CN" dirty="0"/>
              <a:t>1</a:t>
            </a:r>
            <a:r>
              <a:rPr lang="zh-CN" altLang="en-US" dirty="0"/>
              <a:t>、</a:t>
            </a:r>
            <a:r>
              <a:rPr lang="en-US" altLang="zh-CN" dirty="0"/>
              <a:t>2</a:t>
            </a:r>
            <a:r>
              <a:rPr lang="zh-CN" altLang="en-US" dirty="0"/>
              <a:t>进行计算</a:t>
            </a:r>
            <a:endParaRPr lang="en-US" altLang="zh-CN" dirty="0"/>
          </a:p>
          <a:p>
            <a:r>
              <a:rPr lang="en-US" altLang="zh-CN" dirty="0"/>
              <a:t>4.</a:t>
            </a:r>
            <a:r>
              <a:rPr lang="zh-CN" altLang="en-US" dirty="0"/>
              <a:t>三组键值对</a:t>
            </a:r>
            <a:r>
              <a:rPr lang="en-US" altLang="zh-CN" dirty="0"/>
              <a:t>map</a:t>
            </a:r>
            <a:r>
              <a:rPr lang="zh-CN" altLang="en-US" dirty="0"/>
              <a:t>存为</a:t>
            </a:r>
            <a:r>
              <a:rPr lang="en-US" altLang="zh-CN" dirty="0" err="1"/>
              <a:t>json</a:t>
            </a:r>
            <a:r>
              <a:rPr lang="zh-CN" altLang="en-US" dirty="0"/>
              <a:t>文件，后面抽取覆盖率信息可以直接读</a:t>
            </a:r>
            <a:endParaRPr lang="en-US" altLang="zh-CN" dirty="0"/>
          </a:p>
          <a:p>
            <a:r>
              <a:rPr lang="en-US" altLang="zh-CN" dirty="0"/>
              <a:t>5.</a:t>
            </a:r>
            <a:r>
              <a:rPr lang="zh-CN" altLang="en-US" dirty="0"/>
              <a:t>后续有新涉及到的对象，根据</a:t>
            </a:r>
            <a:r>
              <a:rPr lang="en-US" altLang="zh-CN" dirty="0"/>
              <a:t>key</a:t>
            </a:r>
            <a:r>
              <a:rPr lang="zh-CN" altLang="en-US" dirty="0"/>
              <a:t>找过去</a:t>
            </a:r>
            <a:r>
              <a:rPr lang="en-US" altLang="zh-CN" dirty="0"/>
              <a:t>value</a:t>
            </a:r>
            <a:r>
              <a:rPr lang="zh-CN" altLang="en-US" dirty="0"/>
              <a:t>更新为</a:t>
            </a:r>
            <a:r>
              <a:rPr lang="en-US" altLang="zh-CN" dirty="0"/>
              <a:t>1</a:t>
            </a:r>
          </a:p>
          <a:p>
            <a:r>
              <a:rPr lang="en-US" altLang="zh-CN" dirty="0"/>
              <a:t>6.</a:t>
            </a:r>
            <a:r>
              <a:rPr lang="zh-CN" altLang="en-US" dirty="0"/>
              <a:t>算覆盖率：统计</a:t>
            </a:r>
            <a:r>
              <a:rPr lang="en-US" altLang="zh-CN" dirty="0"/>
              <a:t>value</a:t>
            </a:r>
            <a:r>
              <a:rPr lang="zh-CN" altLang="en-US" dirty="0"/>
              <a:t>为</a:t>
            </a:r>
            <a:r>
              <a:rPr lang="en-US" altLang="zh-CN" dirty="0"/>
              <a:t>1</a:t>
            </a:r>
            <a:r>
              <a:rPr lang="zh-CN" altLang="en-US" dirty="0"/>
              <a:t>的个数</a:t>
            </a:r>
            <a:r>
              <a:rPr lang="en-US" altLang="zh-CN" dirty="0"/>
              <a:t>/</a:t>
            </a:r>
            <a:r>
              <a:rPr lang="en-US" altLang="zh-CN" dirty="0" err="1"/>
              <a:t>map.value</a:t>
            </a:r>
            <a:r>
              <a:rPr lang="zh-CN" altLang="en-US" dirty="0"/>
              <a:t>的长度</a:t>
            </a:r>
            <a:endParaRPr lang="en-US" altLang="zh-CN" dirty="0"/>
          </a:p>
          <a:p>
            <a:r>
              <a:rPr lang="zh-CN" altLang="en-US" dirty="0"/>
              <a:t>查询引入</a:t>
            </a:r>
            <a:r>
              <a:rPr lang="en-US" altLang="zh-CN" dirty="0"/>
              <a:t>hash</a:t>
            </a:r>
            <a:r>
              <a:rPr lang="zh-CN" altLang="en-US" dirty="0"/>
              <a:t>提高速度，以动态增加来看：</a:t>
            </a:r>
            <a:r>
              <a:rPr lang="en-US" altLang="zh-CN" dirty="0"/>
              <a:t>L2</a:t>
            </a:r>
            <a:r>
              <a:rPr lang="zh-CN" altLang="en-US" dirty="0"/>
              <a:t>有一张是完整</a:t>
            </a:r>
            <a:r>
              <a:rPr lang="en-US" altLang="zh-CN" dirty="0"/>
              <a:t>map</a:t>
            </a:r>
            <a:r>
              <a:rPr lang="zh-CN" altLang="en-US" dirty="0"/>
              <a:t>，新加入</a:t>
            </a:r>
            <a:r>
              <a:rPr lang="en-US" altLang="zh-CN" dirty="0"/>
              <a:t>key</a:t>
            </a:r>
            <a:r>
              <a:rPr lang="zh-CN" altLang="en-US" dirty="0"/>
              <a:t>时回原始</a:t>
            </a:r>
            <a:r>
              <a:rPr lang="en-US" altLang="zh-CN" dirty="0"/>
              <a:t>map</a:t>
            </a:r>
            <a:r>
              <a:rPr lang="zh-CN" altLang="en-US" dirty="0"/>
              <a:t>看是否已覆盖，未覆盖就插入。等等方法，这里需要找方法优化。十万级别的</a:t>
            </a:r>
            <a:r>
              <a:rPr lang="en-US" altLang="zh-CN" dirty="0"/>
              <a:t>map</a:t>
            </a:r>
            <a:r>
              <a:rPr lang="zh-CN" altLang="en-US" dirty="0"/>
              <a:t>怎么查最快</a:t>
            </a:r>
            <a:endParaRPr lang="en-US" altLang="zh-CN" dirty="0"/>
          </a:p>
          <a:p>
            <a:endParaRPr lang="zh-CN" altLang="en-US" dirty="0"/>
          </a:p>
        </p:txBody>
      </p:sp>
    </p:spTree>
    <p:extLst>
      <p:ext uri="{BB962C8B-B14F-4D97-AF65-F5344CB8AC3E}">
        <p14:creationId xmlns:p14="http://schemas.microsoft.com/office/powerpoint/2010/main" val="4083489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5B2BC7-0ACD-45BB-AC00-5C2A8E8CFD3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86BED82-7C3D-0C7B-D061-F073CC9A78B9}"/>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30A5AE5D-1CB4-6BAD-B108-5D05CE0E70D5}"/>
              </a:ext>
            </a:extLst>
          </p:cNvPr>
          <p:cNvPicPr>
            <a:picLocks noChangeAspect="1"/>
          </p:cNvPicPr>
          <p:nvPr/>
        </p:nvPicPr>
        <p:blipFill>
          <a:blip r:embed="rId2"/>
          <a:stretch>
            <a:fillRect/>
          </a:stretch>
        </p:blipFill>
        <p:spPr>
          <a:xfrm>
            <a:off x="0" y="355386"/>
            <a:ext cx="12192000" cy="6147227"/>
          </a:xfrm>
          <a:prstGeom prst="rect">
            <a:avLst/>
          </a:prstGeom>
        </p:spPr>
      </p:pic>
    </p:spTree>
    <p:extLst>
      <p:ext uri="{BB962C8B-B14F-4D97-AF65-F5344CB8AC3E}">
        <p14:creationId xmlns:p14="http://schemas.microsoft.com/office/powerpoint/2010/main" val="2379505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E681B5-DDE2-DF48-7226-510BD724EDB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E3297CD-8D23-6CB9-AB0D-D590AB362D94}"/>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F1DBA4FD-1E9B-5092-A628-8DD93E5A5DBA}"/>
              </a:ext>
            </a:extLst>
          </p:cNvPr>
          <p:cNvPicPr>
            <a:picLocks noChangeAspect="1"/>
          </p:cNvPicPr>
          <p:nvPr/>
        </p:nvPicPr>
        <p:blipFill>
          <a:blip r:embed="rId2"/>
          <a:stretch>
            <a:fillRect/>
          </a:stretch>
        </p:blipFill>
        <p:spPr>
          <a:xfrm>
            <a:off x="0" y="1035818"/>
            <a:ext cx="12192000" cy="4786363"/>
          </a:xfrm>
          <a:prstGeom prst="rect">
            <a:avLst/>
          </a:prstGeom>
        </p:spPr>
      </p:pic>
    </p:spTree>
    <p:extLst>
      <p:ext uri="{BB962C8B-B14F-4D97-AF65-F5344CB8AC3E}">
        <p14:creationId xmlns:p14="http://schemas.microsoft.com/office/powerpoint/2010/main" val="3140058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63522-19BC-FCE1-5B1E-DD22F276388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EEA49A2-10B6-9C37-803D-8F2F58E77408}"/>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87F5D2C3-4929-699F-3F20-174A7E3B49FD}"/>
              </a:ext>
            </a:extLst>
          </p:cNvPr>
          <p:cNvPicPr>
            <a:picLocks noChangeAspect="1"/>
          </p:cNvPicPr>
          <p:nvPr/>
        </p:nvPicPr>
        <p:blipFill>
          <a:blip r:embed="rId2"/>
          <a:stretch>
            <a:fillRect/>
          </a:stretch>
        </p:blipFill>
        <p:spPr>
          <a:xfrm>
            <a:off x="756183" y="0"/>
            <a:ext cx="10679633" cy="6858000"/>
          </a:xfrm>
          <a:prstGeom prst="rect">
            <a:avLst/>
          </a:prstGeom>
        </p:spPr>
      </p:pic>
    </p:spTree>
    <p:extLst>
      <p:ext uri="{BB962C8B-B14F-4D97-AF65-F5344CB8AC3E}">
        <p14:creationId xmlns:p14="http://schemas.microsoft.com/office/powerpoint/2010/main" val="3275323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C4FA90-FF58-CDDC-40BD-EEB803F68E6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6C7ED77-BE11-CC76-66FA-F38EDC5D08B7}"/>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A0CCF486-B96C-915C-3D38-F52E40A1622A}"/>
              </a:ext>
            </a:extLst>
          </p:cNvPr>
          <p:cNvPicPr>
            <a:picLocks noChangeAspect="1"/>
          </p:cNvPicPr>
          <p:nvPr/>
        </p:nvPicPr>
        <p:blipFill>
          <a:blip r:embed="rId2"/>
          <a:stretch>
            <a:fillRect/>
          </a:stretch>
        </p:blipFill>
        <p:spPr>
          <a:xfrm>
            <a:off x="0" y="588433"/>
            <a:ext cx="12192000" cy="5681133"/>
          </a:xfrm>
          <a:prstGeom prst="rect">
            <a:avLst/>
          </a:prstGeom>
        </p:spPr>
      </p:pic>
    </p:spTree>
    <p:extLst>
      <p:ext uri="{BB962C8B-B14F-4D97-AF65-F5344CB8AC3E}">
        <p14:creationId xmlns:p14="http://schemas.microsoft.com/office/powerpoint/2010/main" val="202853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F41F82-9423-2895-F4B9-1A1D2EC73B2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39AA00E-98A9-5637-6FD8-FA788A5649B9}"/>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5B3D3EA7-B266-25B1-D221-24A8C3A2A625}"/>
              </a:ext>
            </a:extLst>
          </p:cNvPr>
          <p:cNvPicPr>
            <a:picLocks noChangeAspect="1"/>
          </p:cNvPicPr>
          <p:nvPr/>
        </p:nvPicPr>
        <p:blipFill>
          <a:blip r:embed="rId2"/>
          <a:stretch>
            <a:fillRect/>
          </a:stretch>
        </p:blipFill>
        <p:spPr>
          <a:xfrm>
            <a:off x="2352152" y="1256997"/>
            <a:ext cx="7487695" cy="4344006"/>
          </a:xfrm>
          <a:prstGeom prst="rect">
            <a:avLst/>
          </a:prstGeom>
        </p:spPr>
      </p:pic>
    </p:spTree>
    <p:extLst>
      <p:ext uri="{BB962C8B-B14F-4D97-AF65-F5344CB8AC3E}">
        <p14:creationId xmlns:p14="http://schemas.microsoft.com/office/powerpoint/2010/main" val="3071008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17B510-2AE0-4C61-F1FD-2EE8523120C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730843D-5684-5877-C861-44566E493323}"/>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41574BCF-D1DA-F0AD-D8B4-51223755C0DF}"/>
              </a:ext>
            </a:extLst>
          </p:cNvPr>
          <p:cNvPicPr>
            <a:picLocks noChangeAspect="1"/>
          </p:cNvPicPr>
          <p:nvPr/>
        </p:nvPicPr>
        <p:blipFill>
          <a:blip r:embed="rId2"/>
          <a:stretch>
            <a:fillRect/>
          </a:stretch>
        </p:blipFill>
        <p:spPr>
          <a:xfrm>
            <a:off x="2214403" y="0"/>
            <a:ext cx="7763194" cy="6858000"/>
          </a:xfrm>
          <a:prstGeom prst="rect">
            <a:avLst/>
          </a:prstGeom>
        </p:spPr>
      </p:pic>
    </p:spTree>
    <p:extLst>
      <p:ext uri="{BB962C8B-B14F-4D97-AF65-F5344CB8AC3E}">
        <p14:creationId xmlns:p14="http://schemas.microsoft.com/office/powerpoint/2010/main" val="1481982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D7579C-2392-AD15-1CE2-D91E8F4E7BEA}"/>
              </a:ext>
            </a:extLst>
          </p:cNvPr>
          <p:cNvSpPr>
            <a:spLocks noGrp="1"/>
          </p:cNvSpPr>
          <p:nvPr>
            <p:ph type="title"/>
          </p:nvPr>
        </p:nvSpPr>
        <p:spPr/>
        <p:txBody>
          <a:bodyPr/>
          <a:lstStyle/>
          <a:p>
            <a:r>
              <a:rPr lang="zh-CN" altLang="en-US" dirty="0"/>
              <a:t>目标为导向生成</a:t>
            </a:r>
          </a:p>
        </p:txBody>
      </p:sp>
      <p:sp>
        <p:nvSpPr>
          <p:cNvPr id="3" name="内容占位符 2">
            <a:extLst>
              <a:ext uri="{FF2B5EF4-FFF2-40B4-BE49-F238E27FC236}">
                <a16:creationId xmlns:a16="http://schemas.microsoft.com/office/drawing/2014/main" id="{214CF2C6-8376-6C0B-1D4E-E9DB2E189DC8}"/>
              </a:ext>
            </a:extLst>
          </p:cNvPr>
          <p:cNvSpPr>
            <a:spLocks noGrp="1"/>
          </p:cNvSpPr>
          <p:nvPr>
            <p:ph idx="1"/>
          </p:nvPr>
        </p:nvSpPr>
        <p:spPr/>
        <p:txBody>
          <a:bodyPr/>
          <a:lstStyle/>
          <a:p>
            <a:r>
              <a:rPr lang="en-US" altLang="zh-CN" dirty="0"/>
              <a:t>1.</a:t>
            </a:r>
            <a:r>
              <a:rPr lang="zh-CN" altLang="en-US" dirty="0"/>
              <a:t>明确本轮生成</a:t>
            </a:r>
            <a:r>
              <a:rPr lang="en-US" altLang="zh-CN" dirty="0"/>
              <a:t>L0</a:t>
            </a:r>
            <a:r>
              <a:rPr lang="zh-CN" altLang="en-US" dirty="0"/>
              <a:t>、</a:t>
            </a:r>
            <a:r>
              <a:rPr lang="en-US" altLang="zh-CN" dirty="0"/>
              <a:t>1</a:t>
            </a:r>
            <a:r>
              <a:rPr lang="zh-CN" altLang="en-US" dirty="0"/>
              <a:t>、</a:t>
            </a:r>
            <a:r>
              <a:rPr lang="en-US" altLang="zh-CN" dirty="0"/>
              <a:t>2</a:t>
            </a:r>
          </a:p>
          <a:p>
            <a:r>
              <a:rPr lang="en-US" altLang="zh-CN" dirty="0"/>
              <a:t>2.</a:t>
            </a:r>
            <a:r>
              <a:rPr lang="zh-CN" altLang="en-US" dirty="0"/>
              <a:t>明确候选集</a:t>
            </a:r>
            <a:endParaRPr lang="en-US" altLang="zh-CN" dirty="0"/>
          </a:p>
          <a:p>
            <a:r>
              <a:rPr lang="en-US" altLang="zh-CN" dirty="0"/>
              <a:t>3.</a:t>
            </a:r>
            <a:r>
              <a:rPr lang="zh-CN" altLang="en-US" dirty="0"/>
              <a:t>确定测试预算，生成</a:t>
            </a:r>
            <a:r>
              <a:rPr lang="en-US" altLang="zh-CN" dirty="0"/>
              <a:t>n</a:t>
            </a:r>
            <a:r>
              <a:rPr lang="zh-CN" altLang="en-US" dirty="0"/>
              <a:t>个问题或覆盖率达到、提升多少</a:t>
            </a:r>
            <a:endParaRPr lang="en-US" altLang="zh-CN" dirty="0"/>
          </a:p>
          <a:p>
            <a:r>
              <a:rPr lang="en-US" altLang="zh-CN" dirty="0"/>
              <a:t>4.</a:t>
            </a:r>
            <a:r>
              <a:rPr lang="zh-CN" altLang="en-US" dirty="0"/>
              <a:t>打乱</a:t>
            </a:r>
            <a:r>
              <a:rPr lang="en-US" altLang="zh-CN" dirty="0"/>
              <a:t>candidate</a:t>
            </a:r>
            <a:r>
              <a:rPr lang="zh-CN" altLang="en-US" dirty="0"/>
              <a:t>，根据数量选前</a:t>
            </a:r>
            <a:r>
              <a:rPr lang="en-US" altLang="zh-CN" dirty="0"/>
              <a:t>n</a:t>
            </a:r>
            <a:r>
              <a:rPr lang="zh-CN" altLang="en-US" dirty="0"/>
              <a:t>个生成</a:t>
            </a:r>
            <a:endParaRPr lang="en-US" altLang="zh-CN" dirty="0"/>
          </a:p>
          <a:p>
            <a:r>
              <a:rPr lang="en-US" altLang="zh-CN" dirty="0"/>
              <a:t>5.</a:t>
            </a:r>
            <a:r>
              <a:rPr lang="zh-CN" altLang="en-US" dirty="0"/>
              <a:t>再调用生成程序，针对候选集的每个待生成、选择模板库中模板生成问题</a:t>
            </a:r>
            <a:endParaRPr lang="en-US" altLang="zh-CN" dirty="0"/>
          </a:p>
          <a:p>
            <a:r>
              <a:rPr lang="en-US" altLang="zh-CN" dirty="0"/>
              <a:t>6.</a:t>
            </a:r>
            <a:r>
              <a:rPr lang="zh-CN" altLang="en-US" dirty="0"/>
              <a:t>针对每个待覆盖对象，不需要每个类型问题都生成一个，预算有限，随机一个就好</a:t>
            </a:r>
          </a:p>
          <a:p>
            <a:endParaRPr lang="zh-CN" altLang="en-US" dirty="0"/>
          </a:p>
        </p:txBody>
      </p:sp>
    </p:spTree>
    <p:extLst>
      <p:ext uri="{BB962C8B-B14F-4D97-AF65-F5344CB8AC3E}">
        <p14:creationId xmlns:p14="http://schemas.microsoft.com/office/powerpoint/2010/main" val="1543386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20665-53C8-7715-BDEC-8556AE3DB9E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06B2572-49E7-7794-4779-B1D1A79DE9AC}"/>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85DC9647-CEBF-699B-8AF1-7DF7937AEB8B}"/>
              </a:ext>
            </a:extLst>
          </p:cNvPr>
          <p:cNvPicPr>
            <a:picLocks noChangeAspect="1"/>
          </p:cNvPicPr>
          <p:nvPr/>
        </p:nvPicPr>
        <p:blipFill>
          <a:blip r:embed="rId2"/>
          <a:stretch>
            <a:fillRect/>
          </a:stretch>
        </p:blipFill>
        <p:spPr>
          <a:xfrm>
            <a:off x="0" y="1141420"/>
            <a:ext cx="12192000" cy="4575160"/>
          </a:xfrm>
          <a:prstGeom prst="rect">
            <a:avLst/>
          </a:prstGeom>
        </p:spPr>
      </p:pic>
    </p:spTree>
    <p:extLst>
      <p:ext uri="{BB962C8B-B14F-4D97-AF65-F5344CB8AC3E}">
        <p14:creationId xmlns:p14="http://schemas.microsoft.com/office/powerpoint/2010/main" val="724200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AD7AD5-2BF0-72EF-19F0-8EA6BD059B0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4C132CE-31D9-1E40-DBBB-6BA0D5EABA13}"/>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F4E5E91F-BCEA-7124-7996-3EE171FB8F6C}"/>
              </a:ext>
            </a:extLst>
          </p:cNvPr>
          <p:cNvPicPr>
            <a:picLocks noChangeAspect="1"/>
          </p:cNvPicPr>
          <p:nvPr/>
        </p:nvPicPr>
        <p:blipFill>
          <a:blip r:embed="rId2"/>
          <a:stretch>
            <a:fillRect/>
          </a:stretch>
        </p:blipFill>
        <p:spPr>
          <a:xfrm>
            <a:off x="2973161" y="0"/>
            <a:ext cx="6245678" cy="6858000"/>
          </a:xfrm>
          <a:prstGeom prst="rect">
            <a:avLst/>
          </a:prstGeom>
        </p:spPr>
      </p:pic>
    </p:spTree>
    <p:extLst>
      <p:ext uri="{BB962C8B-B14F-4D97-AF65-F5344CB8AC3E}">
        <p14:creationId xmlns:p14="http://schemas.microsoft.com/office/powerpoint/2010/main" val="1517604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C939A7-8384-3CC4-C7D1-B8651E4A62C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BB797D7-B1A0-F334-EC69-F824B17DB31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5714BB54-AE6B-A316-9262-15445B524B4C}"/>
              </a:ext>
            </a:extLst>
          </p:cNvPr>
          <p:cNvPicPr>
            <a:picLocks noChangeAspect="1"/>
          </p:cNvPicPr>
          <p:nvPr/>
        </p:nvPicPr>
        <p:blipFill>
          <a:blip r:embed="rId2"/>
          <a:stretch>
            <a:fillRect/>
          </a:stretch>
        </p:blipFill>
        <p:spPr>
          <a:xfrm>
            <a:off x="2156863" y="552048"/>
            <a:ext cx="7878274" cy="5753903"/>
          </a:xfrm>
          <a:prstGeom prst="rect">
            <a:avLst/>
          </a:prstGeom>
        </p:spPr>
      </p:pic>
    </p:spTree>
    <p:extLst>
      <p:ext uri="{BB962C8B-B14F-4D97-AF65-F5344CB8AC3E}">
        <p14:creationId xmlns:p14="http://schemas.microsoft.com/office/powerpoint/2010/main" val="84365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465201-C707-DAA7-41BC-A422A61C2F2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0CB763D-FA2A-7AE5-CD22-B3EAB6B1D67A}"/>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198CCCF3-8FC7-BB47-53DD-0008D117E727}"/>
              </a:ext>
            </a:extLst>
          </p:cNvPr>
          <p:cNvPicPr>
            <a:picLocks noChangeAspect="1"/>
          </p:cNvPicPr>
          <p:nvPr/>
        </p:nvPicPr>
        <p:blipFill>
          <a:blip r:embed="rId2"/>
          <a:stretch>
            <a:fillRect/>
          </a:stretch>
        </p:blipFill>
        <p:spPr>
          <a:xfrm>
            <a:off x="1656730" y="480601"/>
            <a:ext cx="8878539" cy="5896798"/>
          </a:xfrm>
          <a:prstGeom prst="rect">
            <a:avLst/>
          </a:prstGeom>
        </p:spPr>
      </p:pic>
    </p:spTree>
    <p:extLst>
      <p:ext uri="{BB962C8B-B14F-4D97-AF65-F5344CB8AC3E}">
        <p14:creationId xmlns:p14="http://schemas.microsoft.com/office/powerpoint/2010/main" val="1282596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669869-01EC-40D8-CCBF-D9BB6506520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D5EFCD0-229F-A7AF-1786-54B8E12F062D}"/>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DD47FEF8-05D7-E039-8D1E-9DABB1FE4FF5}"/>
              </a:ext>
            </a:extLst>
          </p:cNvPr>
          <p:cNvPicPr>
            <a:picLocks noChangeAspect="1"/>
          </p:cNvPicPr>
          <p:nvPr/>
        </p:nvPicPr>
        <p:blipFill>
          <a:blip r:embed="rId2"/>
          <a:stretch>
            <a:fillRect/>
          </a:stretch>
        </p:blipFill>
        <p:spPr>
          <a:xfrm>
            <a:off x="2360517" y="0"/>
            <a:ext cx="7470965" cy="6858000"/>
          </a:xfrm>
          <a:prstGeom prst="rect">
            <a:avLst/>
          </a:prstGeom>
        </p:spPr>
      </p:pic>
    </p:spTree>
    <p:extLst>
      <p:ext uri="{BB962C8B-B14F-4D97-AF65-F5344CB8AC3E}">
        <p14:creationId xmlns:p14="http://schemas.microsoft.com/office/powerpoint/2010/main" val="2651399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C4B04-98AE-30D5-7D7E-DF17A3C34356}"/>
              </a:ext>
            </a:extLst>
          </p:cNvPr>
          <p:cNvSpPr>
            <a:spLocks noGrp="1"/>
          </p:cNvSpPr>
          <p:nvPr>
            <p:ph type="title"/>
          </p:nvPr>
        </p:nvSpPr>
        <p:spPr/>
        <p:txBody>
          <a:bodyPr/>
          <a:lstStyle/>
          <a:p>
            <a:r>
              <a:rPr lang="zh-CN" altLang="en-US" dirty="0"/>
              <a:t>一个问题涉及多个对象的</a:t>
            </a:r>
          </a:p>
        </p:txBody>
      </p:sp>
      <p:sp>
        <p:nvSpPr>
          <p:cNvPr id="3" name="内容占位符 2">
            <a:extLst>
              <a:ext uri="{FF2B5EF4-FFF2-40B4-BE49-F238E27FC236}">
                <a16:creationId xmlns:a16="http://schemas.microsoft.com/office/drawing/2014/main" id="{B64280EB-735D-56F9-8E02-97F3D783AD98}"/>
              </a:ext>
            </a:extLst>
          </p:cNvPr>
          <p:cNvSpPr>
            <a:spLocks noGrp="1"/>
          </p:cNvSpPr>
          <p:nvPr>
            <p:ph idx="1"/>
          </p:nvPr>
        </p:nvSpPr>
        <p:spPr/>
        <p:txBody>
          <a:bodyPr/>
          <a:lstStyle/>
          <a:p>
            <a:r>
              <a:rPr lang="en-US" altLang="zh-CN" dirty="0"/>
              <a:t>1.</a:t>
            </a:r>
            <a:r>
              <a:rPr lang="zh-CN" altLang="en-US" dirty="0"/>
              <a:t>我是想到一个问题，比如说生成的</a:t>
            </a:r>
            <a:r>
              <a:rPr lang="en-US" altLang="zh-CN" dirty="0"/>
              <a:t>L2</a:t>
            </a:r>
            <a:r>
              <a:rPr lang="zh-CN" altLang="en-US" dirty="0"/>
              <a:t>问题，怎么用他来更新</a:t>
            </a:r>
            <a:r>
              <a:rPr lang="en-US" altLang="zh-CN" dirty="0"/>
              <a:t>L0</a:t>
            </a:r>
            <a:r>
              <a:rPr lang="zh-CN" altLang="en-US" dirty="0"/>
              <a:t>、</a:t>
            </a:r>
            <a:r>
              <a:rPr lang="en-US" altLang="zh-CN" dirty="0"/>
              <a:t>1</a:t>
            </a:r>
            <a:r>
              <a:rPr lang="zh-CN" altLang="en-US" dirty="0"/>
              <a:t>呢，直接从</a:t>
            </a:r>
            <a:r>
              <a:rPr lang="en-US" altLang="zh-CN" dirty="0"/>
              <a:t>L2</a:t>
            </a:r>
            <a:r>
              <a:rPr lang="zh-CN" altLang="en-US" dirty="0"/>
              <a:t>缺口程式分析出来吗？需要用大模型生成</a:t>
            </a:r>
            <a:r>
              <a:rPr lang="en-US" altLang="zh-CN" dirty="0"/>
              <a:t>cypher</a:t>
            </a:r>
            <a:r>
              <a:rPr lang="zh-CN" altLang="en-US" dirty="0"/>
              <a:t>来找过程涉及的所有对象吗。直接从模板填充时的参数解析。</a:t>
            </a:r>
            <a:endParaRPr lang="en-US" altLang="zh-CN" dirty="0"/>
          </a:p>
          <a:p>
            <a:r>
              <a:rPr lang="en-US" altLang="zh-CN" dirty="0"/>
              <a:t>2.</a:t>
            </a:r>
            <a:r>
              <a:rPr lang="zh-CN" altLang="en-US" dirty="0"/>
              <a:t>大模型生成</a:t>
            </a:r>
            <a:r>
              <a:rPr lang="en-US" altLang="zh-CN" dirty="0"/>
              <a:t>cypher</a:t>
            </a:r>
            <a:r>
              <a:rPr lang="zh-CN" altLang="en-US" dirty="0"/>
              <a:t>这个操作什么时候用得到呢，只有初始覆盖率计算需要吗 </a:t>
            </a:r>
            <a:endParaRPr lang="en-US" altLang="zh-CN" dirty="0"/>
          </a:p>
          <a:p>
            <a:r>
              <a:rPr lang="en-US" altLang="zh-CN" dirty="0"/>
              <a:t>3.</a:t>
            </a:r>
            <a:r>
              <a:rPr lang="zh-CN" altLang="en-US" dirty="0"/>
              <a:t>我们还能发现原</a:t>
            </a:r>
            <a:r>
              <a:rPr lang="en-US" altLang="zh-CN" dirty="0"/>
              <a:t>QA</a:t>
            </a:r>
            <a:r>
              <a:rPr lang="zh-CN" altLang="en-US" dirty="0"/>
              <a:t>有不少高级问题，即一个问题涉及很多个对象，如数数问题。</a:t>
            </a:r>
            <a:endParaRPr lang="en-US" altLang="zh-CN" dirty="0"/>
          </a:p>
          <a:p>
            <a:r>
              <a:rPr lang="en-US" altLang="zh-CN" dirty="0"/>
              <a:t>4.</a:t>
            </a:r>
            <a:r>
              <a:rPr lang="zh-CN" altLang="en-US" dirty="0"/>
              <a:t>还有，这种</a:t>
            </a:r>
            <a:r>
              <a:rPr lang="en-US" altLang="zh-CN" dirty="0"/>
              <a:t>L2</a:t>
            </a:r>
            <a:r>
              <a:rPr lang="zh-CN" altLang="en-US" dirty="0"/>
              <a:t>问题如</a:t>
            </a:r>
            <a:r>
              <a:rPr lang="en-US" altLang="zh-CN" dirty="0"/>
              <a:t>car1</a:t>
            </a:r>
            <a:r>
              <a:rPr lang="zh-CN" altLang="en-US" dirty="0"/>
              <a:t>的右边的行人</a:t>
            </a:r>
            <a:r>
              <a:rPr lang="en-US" altLang="zh-CN" dirty="0"/>
              <a:t>2</a:t>
            </a:r>
            <a:r>
              <a:rPr lang="zh-CN" altLang="en-US" dirty="0"/>
              <a:t>的前面是什么，那么行人</a:t>
            </a:r>
            <a:r>
              <a:rPr lang="en-US" altLang="zh-CN" dirty="0"/>
              <a:t>2</a:t>
            </a:r>
            <a:r>
              <a:rPr lang="zh-CN" altLang="en-US" dirty="0"/>
              <a:t>如果有多个对象那么实际上这个问题覆盖了这么多个对象还是说只覆盖了我们预设计的缺口</a:t>
            </a:r>
          </a:p>
        </p:txBody>
      </p:sp>
    </p:spTree>
    <p:extLst>
      <p:ext uri="{BB962C8B-B14F-4D97-AF65-F5344CB8AC3E}">
        <p14:creationId xmlns:p14="http://schemas.microsoft.com/office/powerpoint/2010/main" val="936564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761A80-5A7F-4DC4-CFC9-E1CAD75A99A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875DCA9-EC48-1D9B-E11F-3CDBFF909A8A}"/>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48475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15B442-1F47-2FB6-793E-33103AFF913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78F69B1-B725-1280-5A34-1B30D6993FA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42FFF32-1F80-FB32-8109-07E91A73FBEB}"/>
              </a:ext>
            </a:extLst>
          </p:cNvPr>
          <p:cNvPicPr>
            <a:picLocks noChangeAspect="1"/>
          </p:cNvPicPr>
          <p:nvPr/>
        </p:nvPicPr>
        <p:blipFill>
          <a:blip r:embed="rId2"/>
          <a:stretch>
            <a:fillRect/>
          </a:stretch>
        </p:blipFill>
        <p:spPr>
          <a:xfrm>
            <a:off x="1384122" y="0"/>
            <a:ext cx="9423755" cy="6858000"/>
          </a:xfrm>
          <a:prstGeom prst="rect">
            <a:avLst/>
          </a:prstGeom>
        </p:spPr>
      </p:pic>
    </p:spTree>
    <p:extLst>
      <p:ext uri="{BB962C8B-B14F-4D97-AF65-F5344CB8AC3E}">
        <p14:creationId xmlns:p14="http://schemas.microsoft.com/office/powerpoint/2010/main" val="1025256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335C1D-BBA3-6077-54B4-90A0FB5847A9}"/>
              </a:ext>
            </a:extLst>
          </p:cNvPr>
          <p:cNvSpPr>
            <a:spLocks noGrp="1"/>
          </p:cNvSpPr>
          <p:nvPr>
            <p:ph type="title"/>
          </p:nvPr>
        </p:nvSpPr>
        <p:spPr/>
        <p:txBody>
          <a:bodyPr/>
          <a:lstStyle/>
          <a:p>
            <a:r>
              <a:rPr lang="zh-CN" altLang="en-US" dirty="0"/>
              <a:t>初始覆盖率和从</a:t>
            </a:r>
            <a:r>
              <a:rPr lang="en-US" altLang="zh-CN" dirty="0"/>
              <a:t>cypher</a:t>
            </a:r>
            <a:r>
              <a:rPr lang="zh-CN" altLang="en-US" dirty="0"/>
              <a:t>找中间量的问题</a:t>
            </a:r>
          </a:p>
        </p:txBody>
      </p:sp>
      <p:sp>
        <p:nvSpPr>
          <p:cNvPr id="3" name="内容占位符 2">
            <a:extLst>
              <a:ext uri="{FF2B5EF4-FFF2-40B4-BE49-F238E27FC236}">
                <a16:creationId xmlns:a16="http://schemas.microsoft.com/office/drawing/2014/main" id="{8BEC59C8-F5C0-5C55-6290-87D4049B7E16}"/>
              </a:ext>
            </a:extLst>
          </p:cNvPr>
          <p:cNvSpPr>
            <a:spLocks noGrp="1"/>
          </p:cNvSpPr>
          <p:nvPr>
            <p:ph idx="1"/>
          </p:nvPr>
        </p:nvSpPr>
        <p:spPr/>
        <p:txBody>
          <a:bodyPr/>
          <a:lstStyle/>
          <a:p>
            <a:r>
              <a:rPr lang="zh-CN" altLang="en-US" dirty="0"/>
              <a:t>粗糙一点，可以不纠结过程中涉及所有变量，只是生成问题稍多一点，问题水平没那么高</a:t>
            </a:r>
            <a:endParaRPr lang="en-US" altLang="zh-CN" dirty="0"/>
          </a:p>
          <a:p>
            <a:r>
              <a:rPr lang="zh-CN" altLang="en-US" dirty="0"/>
              <a:t>初始覆盖率计算面临的问题是，原始</a:t>
            </a:r>
            <a:r>
              <a:rPr lang="en-US" altLang="zh-CN" dirty="0"/>
              <a:t>QA</a:t>
            </a:r>
            <a:r>
              <a:rPr lang="zh-CN" altLang="en-US" dirty="0"/>
              <a:t>没有给出对象</a:t>
            </a:r>
            <a:r>
              <a:rPr lang="en-US" altLang="zh-CN" dirty="0"/>
              <a:t>id</a:t>
            </a:r>
            <a:r>
              <a:rPr lang="zh-CN" altLang="en-US" dirty="0"/>
              <a:t>，每一步都是缩小锁定范围的过程而不是直接精确锁定的，所以感觉必须通过大模型生成</a:t>
            </a:r>
            <a:r>
              <a:rPr lang="en-US" altLang="zh-CN" dirty="0"/>
              <a:t>cypher</a:t>
            </a:r>
            <a:r>
              <a:rPr lang="zh-CN" altLang="en-US" dirty="0"/>
              <a:t>来找中间量，这里我没想好，因为按这个思路的话我们还要继续研究怎么从大模型生成的返回问题答案的</a:t>
            </a:r>
            <a:r>
              <a:rPr lang="en-US" altLang="zh-CN" dirty="0"/>
              <a:t>cypher</a:t>
            </a:r>
            <a:r>
              <a:rPr lang="zh-CN" altLang="en-US" dirty="0"/>
              <a:t>变成返回中间量的</a:t>
            </a:r>
            <a:r>
              <a:rPr lang="en-US" altLang="zh-CN" dirty="0"/>
              <a:t>cypher</a:t>
            </a:r>
            <a:r>
              <a:rPr lang="zh-CN" altLang="en-US" dirty="0"/>
              <a:t>。而且我们的初始覆盖率必须要比较准确。不过据我观察初始</a:t>
            </a:r>
            <a:r>
              <a:rPr lang="en-US" altLang="zh-CN" dirty="0"/>
              <a:t>QA</a:t>
            </a:r>
            <a:r>
              <a:rPr lang="zh-CN" altLang="en-US" dirty="0"/>
              <a:t>库其实覆盖率很低，我们甚至可以不要初始，直接从零开始用模式生成，只是问题稍多一点。我没想好</a:t>
            </a:r>
          </a:p>
        </p:txBody>
      </p:sp>
    </p:spTree>
    <p:extLst>
      <p:ext uri="{BB962C8B-B14F-4D97-AF65-F5344CB8AC3E}">
        <p14:creationId xmlns:p14="http://schemas.microsoft.com/office/powerpoint/2010/main" val="3450507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8909E0-8385-3BEE-27F2-DDC90B5482D6}"/>
              </a:ext>
            </a:extLst>
          </p:cNvPr>
          <p:cNvSpPr>
            <a:spLocks noGrp="1"/>
          </p:cNvSpPr>
          <p:nvPr>
            <p:ph type="title"/>
          </p:nvPr>
        </p:nvSpPr>
        <p:spPr/>
        <p:txBody>
          <a:bodyPr>
            <a:normAutofit fontScale="90000"/>
          </a:bodyPr>
          <a:lstStyle/>
          <a:p>
            <a:r>
              <a:rPr lang="zh-CN" altLang="en-US" dirty="0"/>
              <a:t>收集全部中间量是否有意义，覆盖程度不深的感觉</a:t>
            </a:r>
            <a:br>
              <a:rPr lang="zh-CN" altLang="en-US" dirty="0"/>
            </a:br>
            <a:endParaRPr lang="zh-CN" altLang="en-US" dirty="0"/>
          </a:p>
        </p:txBody>
      </p:sp>
      <p:sp>
        <p:nvSpPr>
          <p:cNvPr id="3" name="内容占位符 2">
            <a:extLst>
              <a:ext uri="{FF2B5EF4-FFF2-40B4-BE49-F238E27FC236}">
                <a16:creationId xmlns:a16="http://schemas.microsoft.com/office/drawing/2014/main" id="{D4C39A0C-934A-4A81-3278-03D002BC598E}"/>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5E5D7553-89A8-7D44-C364-E0A27CE87FAD}"/>
              </a:ext>
            </a:extLst>
          </p:cNvPr>
          <p:cNvPicPr>
            <a:picLocks noChangeAspect="1"/>
          </p:cNvPicPr>
          <p:nvPr/>
        </p:nvPicPr>
        <p:blipFill>
          <a:blip r:embed="rId2"/>
          <a:stretch>
            <a:fillRect/>
          </a:stretch>
        </p:blipFill>
        <p:spPr>
          <a:xfrm>
            <a:off x="2481499" y="1096896"/>
            <a:ext cx="7229002" cy="5333855"/>
          </a:xfrm>
          <a:prstGeom prst="rect">
            <a:avLst/>
          </a:prstGeom>
        </p:spPr>
      </p:pic>
    </p:spTree>
    <p:extLst>
      <p:ext uri="{BB962C8B-B14F-4D97-AF65-F5344CB8AC3E}">
        <p14:creationId xmlns:p14="http://schemas.microsoft.com/office/powerpoint/2010/main" val="3952527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352435-1184-2AE6-0082-5566C2E17AA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F19C4D7-D1DE-5815-35C2-557CCDFDFDB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9B8313F1-5C8E-C03C-794B-382A902E2A0C}"/>
              </a:ext>
            </a:extLst>
          </p:cNvPr>
          <p:cNvPicPr>
            <a:picLocks noChangeAspect="1"/>
          </p:cNvPicPr>
          <p:nvPr/>
        </p:nvPicPr>
        <p:blipFill>
          <a:blip r:embed="rId2"/>
          <a:stretch>
            <a:fillRect/>
          </a:stretch>
        </p:blipFill>
        <p:spPr>
          <a:xfrm>
            <a:off x="508808" y="2257261"/>
            <a:ext cx="11174384" cy="2343477"/>
          </a:xfrm>
          <a:prstGeom prst="rect">
            <a:avLst/>
          </a:prstGeom>
        </p:spPr>
      </p:pic>
    </p:spTree>
    <p:extLst>
      <p:ext uri="{BB962C8B-B14F-4D97-AF65-F5344CB8AC3E}">
        <p14:creationId xmlns:p14="http://schemas.microsoft.com/office/powerpoint/2010/main" val="3863634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0A1127-E338-A2AE-6E40-67FFAA78821E}"/>
              </a:ext>
            </a:extLst>
          </p:cNvPr>
          <p:cNvSpPr>
            <a:spLocks noGrp="1"/>
          </p:cNvSpPr>
          <p:nvPr>
            <p:ph type="title"/>
          </p:nvPr>
        </p:nvSpPr>
        <p:spPr/>
        <p:txBody>
          <a:bodyPr/>
          <a:lstStyle/>
          <a:p>
            <a:r>
              <a:rPr lang="zh-CN" altLang="en-US" dirty="0"/>
              <a:t>自动化找错题程序</a:t>
            </a:r>
          </a:p>
        </p:txBody>
      </p:sp>
      <p:sp>
        <p:nvSpPr>
          <p:cNvPr id="3" name="内容占位符 2">
            <a:extLst>
              <a:ext uri="{FF2B5EF4-FFF2-40B4-BE49-F238E27FC236}">
                <a16:creationId xmlns:a16="http://schemas.microsoft.com/office/drawing/2014/main" id="{C2459786-7CDF-361C-9885-239F95456F17}"/>
              </a:ext>
            </a:extLst>
          </p:cNvPr>
          <p:cNvSpPr>
            <a:spLocks noGrp="1"/>
          </p:cNvSpPr>
          <p:nvPr>
            <p:ph idx="1"/>
          </p:nvPr>
        </p:nvSpPr>
        <p:spPr/>
        <p:txBody>
          <a:bodyPr/>
          <a:lstStyle/>
          <a:p>
            <a:r>
              <a:rPr lang="en-US" altLang="zh-CN" dirty="0"/>
              <a:t>Retry5</a:t>
            </a:r>
            <a:r>
              <a:rPr lang="zh-CN" altLang="en-US" dirty="0"/>
              <a:t>次做不对记为垃圾题，记录在</a:t>
            </a:r>
            <a:r>
              <a:rPr lang="en-US" altLang="zh-CN" dirty="0"/>
              <a:t>excel</a:t>
            </a:r>
            <a:r>
              <a:rPr lang="zh-CN" altLang="en-US" dirty="0"/>
              <a:t>里</a:t>
            </a:r>
          </a:p>
        </p:txBody>
      </p:sp>
    </p:spTree>
    <p:extLst>
      <p:ext uri="{BB962C8B-B14F-4D97-AF65-F5344CB8AC3E}">
        <p14:creationId xmlns:p14="http://schemas.microsoft.com/office/powerpoint/2010/main" val="2082655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4C09-6ED1-78F9-12C1-FE3353C57A47}"/>
              </a:ext>
            </a:extLst>
          </p:cNvPr>
          <p:cNvSpPr>
            <a:spLocks noGrp="1"/>
          </p:cNvSpPr>
          <p:nvPr>
            <p:ph type="title"/>
          </p:nvPr>
        </p:nvSpPr>
        <p:spPr/>
        <p:txBody>
          <a:bodyPr/>
          <a:lstStyle/>
          <a:p>
            <a:r>
              <a:rPr lang="zh-CN" altLang="en-US" dirty="0"/>
              <a:t>还有两个问题</a:t>
            </a:r>
          </a:p>
        </p:txBody>
      </p:sp>
      <p:sp>
        <p:nvSpPr>
          <p:cNvPr id="3" name="内容占位符 2">
            <a:extLst>
              <a:ext uri="{FF2B5EF4-FFF2-40B4-BE49-F238E27FC236}">
                <a16:creationId xmlns:a16="http://schemas.microsoft.com/office/drawing/2014/main" id="{1E4EF4F7-8614-DFE8-CAC9-7BA376AA3FEE}"/>
              </a:ext>
            </a:extLst>
          </p:cNvPr>
          <p:cNvSpPr>
            <a:spLocks noGrp="1"/>
          </p:cNvSpPr>
          <p:nvPr>
            <p:ph idx="1"/>
          </p:nvPr>
        </p:nvSpPr>
        <p:spPr>
          <a:xfrm>
            <a:off x="692426" y="1865382"/>
            <a:ext cx="10515600" cy="4351338"/>
          </a:xfrm>
        </p:spPr>
        <p:txBody>
          <a:bodyPr>
            <a:normAutofit lnSpcReduction="10000"/>
          </a:bodyPr>
          <a:lstStyle/>
          <a:p>
            <a:r>
              <a:rPr lang="en-US" altLang="zh-CN" dirty="0"/>
              <a:t>1.</a:t>
            </a:r>
            <a:r>
              <a:rPr lang="zh-CN" altLang="en-US" dirty="0"/>
              <a:t>我们的缺口信息只有单调的</a:t>
            </a:r>
            <a:r>
              <a:rPr lang="en-US" altLang="zh-CN" dirty="0"/>
              <a:t>id</a:t>
            </a:r>
            <a:r>
              <a:rPr lang="zh-CN" altLang="en-US" dirty="0"/>
              <a:t>，很多时候没有模板需要的对象的具体性质，这里是不是需要</a:t>
            </a:r>
            <a:r>
              <a:rPr lang="en-US" altLang="zh-CN" dirty="0"/>
              <a:t>cypher</a:t>
            </a:r>
            <a:r>
              <a:rPr lang="zh-CN" altLang="en-US" dirty="0"/>
              <a:t>查询呢。初始化时就把整个场景图 </a:t>
            </a:r>
            <a:r>
              <a:rPr lang="en-US" altLang="zh-CN" dirty="0"/>
              <a:t>JSON </a:t>
            </a:r>
            <a:r>
              <a:rPr lang="zh-CN" altLang="en-US" dirty="0"/>
              <a:t>载入内存并建了多个索引（</a:t>
            </a:r>
            <a:r>
              <a:rPr lang="en-US" altLang="zh-CN" dirty="0" err="1"/>
              <a:t>node_by_id</a:t>
            </a:r>
            <a:r>
              <a:rPr lang="en-US" altLang="zh-CN" dirty="0"/>
              <a:t>, </a:t>
            </a:r>
            <a:r>
              <a:rPr lang="en-US" altLang="zh-CN" dirty="0" err="1"/>
              <a:t>nodes_by_type</a:t>
            </a:r>
            <a:r>
              <a:rPr lang="en-US" altLang="zh-CN" dirty="0"/>
              <a:t>, </a:t>
            </a:r>
            <a:r>
              <a:rPr lang="en-US" altLang="zh-CN" dirty="0" err="1"/>
              <a:t>edges_from</a:t>
            </a:r>
            <a:r>
              <a:rPr lang="en-US" altLang="zh-CN" dirty="0"/>
              <a:t> </a:t>
            </a:r>
            <a:r>
              <a:rPr lang="zh-CN" altLang="en-US" dirty="0"/>
              <a:t>等），所以填模板时只是字典查找，无需 </a:t>
            </a:r>
            <a:r>
              <a:rPr lang="en-US" altLang="zh-CN" dirty="0"/>
              <a:t>Cypher </a:t>
            </a:r>
            <a:r>
              <a:rPr lang="zh-CN" altLang="en-US" dirty="0"/>
              <a:t>查询。</a:t>
            </a:r>
            <a:endParaRPr lang="en-US" altLang="zh-CN" dirty="0"/>
          </a:p>
          <a:p>
            <a:r>
              <a:rPr lang="en-US" altLang="zh-CN" dirty="0"/>
              <a:t>2.</a:t>
            </a:r>
            <a:r>
              <a:rPr lang="zh-CN" altLang="en-US" dirty="0"/>
              <a:t>还有</a:t>
            </a:r>
            <a:r>
              <a:rPr lang="en-US" altLang="zh-CN" dirty="0" err="1"/>
              <a:t>nuscenes</a:t>
            </a:r>
            <a:r>
              <a:rPr lang="zh-CN" altLang="en-US" dirty="0"/>
              <a:t>官方数据中对象的</a:t>
            </a:r>
            <a:r>
              <a:rPr lang="en-US" altLang="zh-CN" dirty="0"/>
              <a:t>status</a:t>
            </a:r>
            <a:r>
              <a:rPr lang="zh-CN" altLang="en-US" dirty="0"/>
              <a:t>包含哪些，是只有静和动吗，那么动静能通过单帧图判断吗，我们只准备做单帧问答，按理说也应该可以，比如通过车辆的位置，停在路边就是静的状态，马路上就是动的状态，这里该怎么处理。然后就是官方</a:t>
            </a:r>
            <a:r>
              <a:rPr lang="en-US" altLang="zh-CN" dirty="0" err="1"/>
              <a:t>qa</a:t>
            </a:r>
            <a:r>
              <a:rPr lang="zh-CN" altLang="en-US" dirty="0"/>
              <a:t>有问对象的颜色之类的观察问题吗，不知道这些更丰富的属性</a:t>
            </a:r>
            <a:r>
              <a:rPr lang="en-US" altLang="zh-CN" dirty="0" err="1"/>
              <a:t>nuscnes</a:t>
            </a:r>
            <a:r>
              <a:rPr lang="zh-CN" altLang="en-US" dirty="0"/>
              <a:t>数据里有没有</a:t>
            </a:r>
          </a:p>
        </p:txBody>
      </p:sp>
    </p:spTree>
    <p:extLst>
      <p:ext uri="{BB962C8B-B14F-4D97-AF65-F5344CB8AC3E}">
        <p14:creationId xmlns:p14="http://schemas.microsoft.com/office/powerpoint/2010/main" val="589053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C53706-8DDC-7179-EB0E-E04845ED6A0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8D1ACBB-61C0-CCBD-E4FB-2C29424A3DA8}"/>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D6309CE0-AA4D-30F1-A1C7-5709D0C864CA}"/>
              </a:ext>
            </a:extLst>
          </p:cNvPr>
          <p:cNvPicPr>
            <a:picLocks noChangeAspect="1"/>
          </p:cNvPicPr>
          <p:nvPr/>
        </p:nvPicPr>
        <p:blipFill>
          <a:blip r:embed="rId2"/>
          <a:stretch>
            <a:fillRect/>
          </a:stretch>
        </p:blipFill>
        <p:spPr>
          <a:xfrm>
            <a:off x="784678" y="0"/>
            <a:ext cx="10622643" cy="6858000"/>
          </a:xfrm>
          <a:prstGeom prst="rect">
            <a:avLst/>
          </a:prstGeom>
        </p:spPr>
      </p:pic>
    </p:spTree>
    <p:extLst>
      <p:ext uri="{BB962C8B-B14F-4D97-AF65-F5344CB8AC3E}">
        <p14:creationId xmlns:p14="http://schemas.microsoft.com/office/powerpoint/2010/main" val="819596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0FEB33-88C3-1B0B-9A9E-C57207C4BEF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9B97528-A7FD-89F4-0E0F-D199B8358724}"/>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6A7B09D9-7CDC-C17B-7C11-93BC5B3F25B9}"/>
              </a:ext>
            </a:extLst>
          </p:cNvPr>
          <p:cNvPicPr>
            <a:picLocks noChangeAspect="1"/>
          </p:cNvPicPr>
          <p:nvPr/>
        </p:nvPicPr>
        <p:blipFill>
          <a:blip r:embed="rId2"/>
          <a:stretch>
            <a:fillRect/>
          </a:stretch>
        </p:blipFill>
        <p:spPr>
          <a:xfrm>
            <a:off x="2823706" y="1095049"/>
            <a:ext cx="6544588" cy="4667901"/>
          </a:xfrm>
          <a:prstGeom prst="rect">
            <a:avLst/>
          </a:prstGeom>
        </p:spPr>
      </p:pic>
    </p:spTree>
    <p:extLst>
      <p:ext uri="{BB962C8B-B14F-4D97-AF65-F5344CB8AC3E}">
        <p14:creationId xmlns:p14="http://schemas.microsoft.com/office/powerpoint/2010/main" val="4138789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FED25A-1803-7AEA-9FF0-1994136156F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0D81914-18B4-F19D-E736-202F9FDCB6BD}"/>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6FB85CC-0A31-FBA3-6619-9D47939C9276}"/>
              </a:ext>
            </a:extLst>
          </p:cNvPr>
          <p:cNvPicPr>
            <a:picLocks noChangeAspect="1"/>
          </p:cNvPicPr>
          <p:nvPr/>
        </p:nvPicPr>
        <p:blipFill>
          <a:blip r:embed="rId2"/>
          <a:stretch>
            <a:fillRect/>
          </a:stretch>
        </p:blipFill>
        <p:spPr>
          <a:xfrm>
            <a:off x="537387" y="642548"/>
            <a:ext cx="11117226" cy="5572903"/>
          </a:xfrm>
          <a:prstGeom prst="rect">
            <a:avLst/>
          </a:prstGeom>
        </p:spPr>
      </p:pic>
    </p:spTree>
    <p:extLst>
      <p:ext uri="{BB962C8B-B14F-4D97-AF65-F5344CB8AC3E}">
        <p14:creationId xmlns:p14="http://schemas.microsoft.com/office/powerpoint/2010/main" val="366239425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1458</TotalTime>
  <Words>837</Words>
  <Application>Microsoft Office PowerPoint</Application>
  <PresentationFormat>宽屏</PresentationFormat>
  <Paragraphs>37</Paragraphs>
  <Slides>31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31</vt:i4>
      </vt:variant>
    </vt:vector>
  </HeadingPairs>
  <TitlesOfParts>
    <vt:vector size="35" baseType="lpstr">
      <vt:lpstr>等线</vt:lpstr>
      <vt:lpstr>等线 Light</vt:lpstr>
      <vt:lpstr>Arial</vt:lpstr>
      <vt:lpstr>Office 主题​​</vt:lpstr>
      <vt:lpstr>PowerPoint 演示文稿</vt:lpstr>
      <vt:lpstr>模板库构建</vt:lpstr>
      <vt:lpstr>PowerPoint 演示文稿</vt:lpstr>
      <vt:lpstr>PowerPoint 演示文稿</vt:lpstr>
      <vt:lpstr>PowerPoint 演示文稿</vt:lpstr>
      <vt:lpstr>PowerPoint 演示文稿</vt:lpstr>
      <vt:lpstr>PowerPoint 演示文稿</vt:lpstr>
      <vt:lpstr>覆盖率数据</vt:lpstr>
      <vt:lpstr>PowerPoint 演示文稿</vt:lpstr>
      <vt:lpstr>PowerPoint 演示文稿</vt:lpstr>
      <vt:lpstr>PowerPoint 演示文稿</vt:lpstr>
      <vt:lpstr>PowerPoint 演示文稿</vt:lpstr>
      <vt:lpstr>PowerPoint 演示文稿</vt:lpstr>
      <vt:lpstr>PowerPoint 演示文稿</vt:lpstr>
      <vt:lpstr>目标为导向生成</vt:lpstr>
      <vt:lpstr>PowerPoint 演示文稿</vt:lpstr>
      <vt:lpstr>PowerPoint 演示文稿</vt:lpstr>
      <vt:lpstr>PowerPoint 演示文稿</vt:lpstr>
      <vt:lpstr>PowerPoint 演示文稿</vt:lpstr>
      <vt:lpstr>PowerPoint 演示文稿</vt:lpstr>
      <vt:lpstr>一个问题涉及多个对象的</vt:lpstr>
      <vt:lpstr>PowerPoint 演示文稿</vt:lpstr>
      <vt:lpstr>PowerPoint 演示文稿</vt:lpstr>
      <vt:lpstr>初始覆盖率和从cypher找中间量的问题</vt:lpstr>
      <vt:lpstr>收集全部中间量是否有意义，覆盖程度不深的感觉 </vt:lpstr>
      <vt:lpstr>PowerPoint 演示文稿</vt:lpstr>
      <vt:lpstr>自动化找错题程序</vt:lpstr>
      <vt:lpstr>还有两个问题</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yunyang wan</dc:creator>
  <cp:lastModifiedBy>yunyang wan</cp:lastModifiedBy>
  <cp:revision>26</cp:revision>
  <dcterms:created xsi:type="dcterms:W3CDTF">2026-03-02T00:40:15Z</dcterms:created>
  <dcterms:modified xsi:type="dcterms:W3CDTF">2026-03-15T12:18:05Z</dcterms:modified>
</cp:coreProperties>
</file>