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9" r:id="rId3"/>
    <p:sldId id="258" r:id="rId4"/>
    <p:sldId id="257" r:id="rId5"/>
    <p:sldId id="265" r:id="rId6"/>
    <p:sldId id="264" r:id="rId7"/>
    <p:sldId id="263" r:id="rId8"/>
    <p:sldId id="277" r:id="rId9"/>
    <p:sldId id="271" r:id="rId10"/>
    <p:sldId id="273" r:id="rId11"/>
    <p:sldId id="272" r:id="rId12"/>
    <p:sldId id="261" r:id="rId13"/>
    <p:sldId id="270" r:id="rId14"/>
    <p:sldId id="269" r:id="rId15"/>
    <p:sldId id="278" r:id="rId16"/>
    <p:sldId id="285" r:id="rId17"/>
    <p:sldId id="286" r:id="rId18"/>
    <p:sldId id="287" r:id="rId19"/>
    <p:sldId id="280" r:id="rId20"/>
    <p:sldId id="274" r:id="rId21"/>
    <p:sldId id="275" r:id="rId22"/>
    <p:sldId id="267" r:id="rId23"/>
    <p:sldId id="266" r:id="rId24"/>
    <p:sldId id="268" r:id="rId25"/>
    <p:sldId id="284" r:id="rId26"/>
    <p:sldId id="283" r:id="rId27"/>
    <p:sldId id="281" r:id="rId28"/>
    <p:sldId id="288"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4E215C-E6B8-4176-8584-CAD07B628655}" type="datetimeFigureOut">
              <a:rPr lang="zh-CN" altLang="en-US" smtClean="0"/>
              <a:t>2026/2/12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28C760-5F0C-4940-979D-FCDA765873F2}" type="slidenum">
              <a:rPr lang="zh-CN" altLang="en-US" smtClean="0"/>
              <a:t>‹#›</a:t>
            </a:fld>
            <a:endParaRPr lang="zh-CN" altLang="en-US"/>
          </a:p>
        </p:txBody>
      </p:sp>
    </p:spTree>
    <p:extLst>
      <p:ext uri="{BB962C8B-B14F-4D97-AF65-F5344CB8AC3E}">
        <p14:creationId xmlns:p14="http://schemas.microsoft.com/office/powerpoint/2010/main" val="327494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B28C760-5F0C-4940-979D-FCDA765873F2}" type="slidenum">
              <a:rPr lang="zh-CN" altLang="en-US" smtClean="0"/>
              <a:t>28</a:t>
            </a:fld>
            <a:endParaRPr lang="zh-CN" altLang="en-US"/>
          </a:p>
        </p:txBody>
      </p:sp>
    </p:spTree>
    <p:extLst>
      <p:ext uri="{BB962C8B-B14F-4D97-AF65-F5344CB8AC3E}">
        <p14:creationId xmlns:p14="http://schemas.microsoft.com/office/powerpoint/2010/main" val="49136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EEEB1-7608-88EE-A175-C986A915420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45A5B32-51E0-9769-0D21-13ECF8A602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8D3FA63-41AC-E423-CF99-0C69F0917575}"/>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5" name="页脚占位符 4">
            <a:extLst>
              <a:ext uri="{FF2B5EF4-FFF2-40B4-BE49-F238E27FC236}">
                <a16:creationId xmlns:a16="http://schemas.microsoft.com/office/drawing/2014/main" id="{5466817B-5ABA-DB22-94C9-C6E93D830F7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C97B43-9DF2-3619-21D5-7037A7C4EBEA}"/>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849604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91CFF4-B0C7-5C21-1C39-AAFAC97A61A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BBB1DA5-A3F1-808B-1BA1-8B965E2DB56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86EE91C-B37C-682C-9FF4-7DA80058C803}"/>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5" name="页脚占位符 4">
            <a:extLst>
              <a:ext uri="{FF2B5EF4-FFF2-40B4-BE49-F238E27FC236}">
                <a16:creationId xmlns:a16="http://schemas.microsoft.com/office/drawing/2014/main" id="{AA55B03B-672A-8D1D-BE6E-AA71A974555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4712E9-8208-491A-02E8-39C9DCE80FB0}"/>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386401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64B19F-107E-1410-9CD3-3E9B69F9F71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A8C9D4B-2DA1-CF4C-E650-D0BEC0D2FD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9F13B6B-441C-D89A-E470-6E550735A256}"/>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5" name="页脚占位符 4">
            <a:extLst>
              <a:ext uri="{FF2B5EF4-FFF2-40B4-BE49-F238E27FC236}">
                <a16:creationId xmlns:a16="http://schemas.microsoft.com/office/drawing/2014/main" id="{67FBD499-D756-712B-3FAA-0AEA877B014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0BBE00-9BBC-3D85-093F-0DC56B4D6205}"/>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3182854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0A105F-4821-4839-71E2-DC499FB4226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13338F5-D33F-B9C7-0F54-5A12B1898D7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569CBFF-752E-1DAB-6B8C-0DA663F96B6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C62B943-B655-334D-E047-6798C97BCA33}"/>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6" name="页脚占位符 5">
            <a:extLst>
              <a:ext uri="{FF2B5EF4-FFF2-40B4-BE49-F238E27FC236}">
                <a16:creationId xmlns:a16="http://schemas.microsoft.com/office/drawing/2014/main" id="{F2C20C57-5900-63E3-F24D-D6749035A8D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DF36B27-EFD0-0BE9-5D4A-79453C841552}"/>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1559279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C9EE2D-695E-B209-80C9-AE091E47DCC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FDD26BC-E79B-9A1E-0127-8DAB3870BE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C55B211-1199-CB75-C457-EB759963B25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200F10B-D5E9-CD36-A5AD-01D294BF57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DB0BC52-CEE7-A97D-E507-90F81CAFBBD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8C0A76D-9EE1-5C0E-7510-501A1EAC2F65}"/>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8" name="页脚占位符 7">
            <a:extLst>
              <a:ext uri="{FF2B5EF4-FFF2-40B4-BE49-F238E27FC236}">
                <a16:creationId xmlns:a16="http://schemas.microsoft.com/office/drawing/2014/main" id="{9EF16141-5C6C-5676-91E7-EAFCE2B1380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A70A4D2-2044-5ADB-5B9D-F9014A5AFEAD}"/>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3911748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CDA12-A03D-34B0-F156-846F7EC29C7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EC028EB-2C4A-7009-7DE4-27BBDCEBE205}"/>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4" name="页脚占位符 3">
            <a:extLst>
              <a:ext uri="{FF2B5EF4-FFF2-40B4-BE49-F238E27FC236}">
                <a16:creationId xmlns:a16="http://schemas.microsoft.com/office/drawing/2014/main" id="{482DBBFF-D077-C28B-669F-1FF2560A3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85348D3-61EB-80AF-AA27-4DA7B3CBBFBE}"/>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1768653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5605B4B-D7C0-71B8-02CE-4D018247185A}"/>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3" name="页脚占位符 2">
            <a:extLst>
              <a:ext uri="{FF2B5EF4-FFF2-40B4-BE49-F238E27FC236}">
                <a16:creationId xmlns:a16="http://schemas.microsoft.com/office/drawing/2014/main" id="{2BABBE67-D2A4-80DB-E6A3-ECEF5B56B01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6E8E691-8751-0E7A-1992-C11622399547}"/>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65338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0BB70-FEB8-05E2-B3B7-96585631FF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964A95E-2EA8-1D94-BC03-6F162F95AB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F1D1823-A051-B68C-A1EA-CD43704066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62C7F89-CDA2-82B1-9228-0CD5FA435D6B}"/>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6" name="页脚占位符 5">
            <a:extLst>
              <a:ext uri="{FF2B5EF4-FFF2-40B4-BE49-F238E27FC236}">
                <a16:creationId xmlns:a16="http://schemas.microsoft.com/office/drawing/2014/main" id="{684344B2-5B95-A7B9-5B4C-DFFE527FE0B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2DD88C6-91B6-BB81-CF9E-066FF3B573E5}"/>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3155549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B72572-4A75-6FC8-4E52-63E416F2A7F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C1766CD-51E5-83C3-2084-26D9C4086E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2ED91B8-FEF4-A913-962B-8D75704257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E43CBDB-2028-B3B0-53E9-92AE4CEE4AA1}"/>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6" name="页脚占位符 5">
            <a:extLst>
              <a:ext uri="{FF2B5EF4-FFF2-40B4-BE49-F238E27FC236}">
                <a16:creationId xmlns:a16="http://schemas.microsoft.com/office/drawing/2014/main" id="{659D26D7-D2DA-A42C-A04B-34E061C5662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8E3C26-D41B-23FA-3F85-A39FB0CC6A56}"/>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1497293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2BED8-A7CE-8045-CF15-C8549F43D8C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14A8A8F-1C8E-9D8E-0AFE-95D674B496C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5748F6F-A47F-5BF1-740D-2B3DCA0EAE8D}"/>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5" name="页脚占位符 4">
            <a:extLst>
              <a:ext uri="{FF2B5EF4-FFF2-40B4-BE49-F238E27FC236}">
                <a16:creationId xmlns:a16="http://schemas.microsoft.com/office/drawing/2014/main" id="{F63232B9-E5E1-8292-8040-878E2F38B5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403448-4514-D5EC-FDB5-A29B4E7818FF}"/>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1154272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5568C4E-1D68-09CC-EE0D-473221023AC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CBACC56-8A58-3A99-5CC5-A7030DC39FF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85C9397-5550-1528-23EB-3EA5E3E9820F}"/>
              </a:ext>
            </a:extLst>
          </p:cNvPr>
          <p:cNvSpPr>
            <a:spLocks noGrp="1"/>
          </p:cNvSpPr>
          <p:nvPr>
            <p:ph type="dt" sz="half" idx="10"/>
          </p:nvPr>
        </p:nvSpPr>
        <p:spPr/>
        <p:txBody>
          <a:bodyPr/>
          <a:lstStyle/>
          <a:p>
            <a:fld id="{44A113ED-84ED-4BE4-BA83-65B3CEF989AA}" type="datetimeFigureOut">
              <a:rPr lang="zh-CN" altLang="en-US" smtClean="0"/>
              <a:t>2026/2/12</a:t>
            </a:fld>
            <a:endParaRPr lang="zh-CN" altLang="en-US"/>
          </a:p>
        </p:txBody>
      </p:sp>
      <p:sp>
        <p:nvSpPr>
          <p:cNvPr id="5" name="页脚占位符 4">
            <a:extLst>
              <a:ext uri="{FF2B5EF4-FFF2-40B4-BE49-F238E27FC236}">
                <a16:creationId xmlns:a16="http://schemas.microsoft.com/office/drawing/2014/main" id="{5B6321F3-91DA-DC51-A446-57DADC0C8E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9B5E82D-7FE5-09FA-01E3-078FA4861685}"/>
              </a:ext>
            </a:extLst>
          </p:cNvPr>
          <p:cNvSpPr>
            <a:spLocks noGrp="1"/>
          </p:cNvSpPr>
          <p:nvPr>
            <p:ph type="sldNum" sz="quarter" idx="12"/>
          </p:nvPr>
        </p:nvSpPr>
        <p:spPr/>
        <p:txBody>
          <a:body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875648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4188A0C-8C1C-7DF0-BEF9-6BE3F37ABD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5D70471-8227-2FA0-1DAD-E89078DEC4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765C94C-0286-2426-75D3-F872B706D9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A113ED-84ED-4BE4-BA83-65B3CEF989AA}" type="datetimeFigureOut">
              <a:rPr lang="zh-CN" altLang="en-US" smtClean="0"/>
              <a:t>2026/2/12</a:t>
            </a:fld>
            <a:endParaRPr lang="zh-CN" altLang="en-US"/>
          </a:p>
        </p:txBody>
      </p:sp>
      <p:sp>
        <p:nvSpPr>
          <p:cNvPr id="5" name="页脚占位符 4">
            <a:extLst>
              <a:ext uri="{FF2B5EF4-FFF2-40B4-BE49-F238E27FC236}">
                <a16:creationId xmlns:a16="http://schemas.microsoft.com/office/drawing/2014/main" id="{C880E4F0-C586-8C0B-D21E-2CD3FF14D5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291F524-D3C1-3DD7-7071-F2913968E8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921590-D730-487C-A614-EDBB09DA51AC}" type="slidenum">
              <a:rPr lang="zh-CN" altLang="en-US" smtClean="0"/>
              <a:t>‹#›</a:t>
            </a:fld>
            <a:endParaRPr lang="zh-CN" altLang="en-US"/>
          </a:p>
        </p:txBody>
      </p:sp>
    </p:spTree>
    <p:extLst>
      <p:ext uri="{BB962C8B-B14F-4D97-AF65-F5344CB8AC3E}">
        <p14:creationId xmlns:p14="http://schemas.microsoft.com/office/powerpoint/2010/main" val="1550703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00F1C7-1061-7028-F2ED-5BA7CCEB2F3B}"/>
              </a:ext>
            </a:extLst>
          </p:cNvPr>
          <p:cNvSpPr>
            <a:spLocks noGrp="1"/>
          </p:cNvSpPr>
          <p:nvPr>
            <p:ph type="ctrTitle"/>
          </p:nvPr>
        </p:nvSpPr>
        <p:spPr/>
        <p:txBody>
          <a:bodyPr/>
          <a:lstStyle/>
          <a:p>
            <a:r>
              <a:rPr lang="zh-CN" altLang="en-US" dirty="0"/>
              <a:t>正确率</a:t>
            </a:r>
            <a:r>
              <a:rPr lang="zh-CN" altLang="en-US"/>
              <a:t>测试标准、覆盖率测试脚本和图像打标</a:t>
            </a:r>
            <a:endParaRPr lang="zh-CN" altLang="en-US" dirty="0"/>
          </a:p>
        </p:txBody>
      </p:sp>
      <p:sp>
        <p:nvSpPr>
          <p:cNvPr id="3" name="副标题 2">
            <a:extLst>
              <a:ext uri="{FF2B5EF4-FFF2-40B4-BE49-F238E27FC236}">
                <a16:creationId xmlns:a16="http://schemas.microsoft.com/office/drawing/2014/main" id="{6025FE33-4F47-39D1-B40B-6E66DBFFA9A5}"/>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182795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BE9A70-79F0-1D49-3ADA-5BCBE63C05A8}"/>
              </a:ext>
            </a:extLst>
          </p:cNvPr>
          <p:cNvSpPr>
            <a:spLocks noGrp="1"/>
          </p:cNvSpPr>
          <p:nvPr>
            <p:ph type="title"/>
          </p:nvPr>
        </p:nvSpPr>
        <p:spPr/>
        <p:txBody>
          <a:bodyPr/>
          <a:lstStyle/>
          <a:p>
            <a:r>
              <a:rPr lang="en-US" altLang="zh-CN" dirty="0"/>
              <a:t>VQA</a:t>
            </a:r>
            <a:r>
              <a:rPr lang="zh-CN" altLang="en-US" dirty="0"/>
              <a:t>后续</a:t>
            </a:r>
          </a:p>
        </p:txBody>
      </p:sp>
      <p:sp>
        <p:nvSpPr>
          <p:cNvPr id="3" name="内容占位符 2">
            <a:extLst>
              <a:ext uri="{FF2B5EF4-FFF2-40B4-BE49-F238E27FC236}">
                <a16:creationId xmlns:a16="http://schemas.microsoft.com/office/drawing/2014/main" id="{AA8CDFB1-6E08-59B1-A907-3F8D01FDAAFA}"/>
              </a:ext>
            </a:extLst>
          </p:cNvPr>
          <p:cNvSpPr>
            <a:spLocks noGrp="1"/>
          </p:cNvSpPr>
          <p:nvPr>
            <p:ph idx="1"/>
          </p:nvPr>
        </p:nvSpPr>
        <p:spPr/>
        <p:txBody>
          <a:bodyPr/>
          <a:lstStyle/>
          <a:p>
            <a:r>
              <a:rPr lang="zh-CN" altLang="en-US" dirty="0"/>
              <a:t>之前语义限制的过于宽松，有时候会出现</a:t>
            </a:r>
            <a:r>
              <a:rPr lang="en-US" altLang="zh-CN" dirty="0" err="1"/>
              <a:t>llm</a:t>
            </a:r>
            <a:r>
              <a:rPr lang="zh-CN" altLang="en-US" dirty="0"/>
              <a:t>主动忽略掉部分重要条件导致题目碰巧做对</a:t>
            </a:r>
            <a:endParaRPr lang="en-US" altLang="zh-CN" dirty="0"/>
          </a:p>
          <a:p>
            <a:r>
              <a:rPr lang="zh-CN" altLang="en-US" dirty="0"/>
              <a:t>之前针对第一波的</a:t>
            </a:r>
            <a:r>
              <a:rPr lang="en-US" altLang="zh-CN" dirty="0"/>
              <a:t>13</a:t>
            </a:r>
            <a:r>
              <a:rPr lang="zh-CN" altLang="en-US" dirty="0"/>
              <a:t>道错题进行了核心修正，但是我完整跑</a:t>
            </a:r>
            <a:r>
              <a:rPr lang="en-US" altLang="zh-CN" dirty="0"/>
              <a:t>58</a:t>
            </a:r>
            <a:r>
              <a:rPr lang="zh-CN" altLang="en-US" dirty="0"/>
              <a:t>道时原来的题不能全对，还得继续修改</a:t>
            </a:r>
            <a:endParaRPr lang="en-US" altLang="zh-CN" dirty="0"/>
          </a:p>
          <a:p>
            <a:r>
              <a:rPr lang="zh-CN" altLang="en-US" dirty="0"/>
              <a:t>严格限制后找到一些语义存疑的题目</a:t>
            </a:r>
          </a:p>
        </p:txBody>
      </p:sp>
    </p:spTree>
    <p:extLst>
      <p:ext uri="{BB962C8B-B14F-4D97-AF65-F5344CB8AC3E}">
        <p14:creationId xmlns:p14="http://schemas.microsoft.com/office/powerpoint/2010/main" val="3199447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DE8D73-8237-86AD-CC05-2B268974E73A}"/>
              </a:ext>
            </a:extLst>
          </p:cNvPr>
          <p:cNvSpPr>
            <a:spLocks noGrp="1"/>
          </p:cNvSpPr>
          <p:nvPr>
            <p:ph type="title"/>
          </p:nvPr>
        </p:nvSpPr>
        <p:spPr/>
        <p:txBody>
          <a:bodyPr/>
          <a:lstStyle/>
          <a:p>
            <a:r>
              <a:rPr lang="en-US" altLang="zh-CN" dirty="0"/>
              <a:t>0553</a:t>
            </a:r>
            <a:endParaRPr lang="zh-CN" altLang="en-US" dirty="0"/>
          </a:p>
        </p:txBody>
      </p:sp>
      <p:sp>
        <p:nvSpPr>
          <p:cNvPr id="3" name="内容占位符 2">
            <a:extLst>
              <a:ext uri="{FF2B5EF4-FFF2-40B4-BE49-F238E27FC236}">
                <a16:creationId xmlns:a16="http://schemas.microsoft.com/office/drawing/2014/main" id="{2FAAB2ED-CF67-0DC3-6948-FD7D3C648581}"/>
              </a:ext>
            </a:extLst>
          </p:cNvPr>
          <p:cNvSpPr>
            <a:spLocks noGrp="1"/>
          </p:cNvSpPr>
          <p:nvPr>
            <p:ph idx="1"/>
          </p:nvPr>
        </p:nvSpPr>
        <p:spPr/>
        <p:txBody>
          <a:bodyPr>
            <a:normAutofit lnSpcReduction="10000"/>
          </a:bodyPr>
          <a:lstStyle/>
          <a:p>
            <a:r>
              <a:rPr lang="en-US" altLang="zh-CN" dirty="0"/>
              <a:t>Are there any other cars of the same status as the truck that is to the front left of the with rider thing?</a:t>
            </a:r>
          </a:p>
          <a:p>
            <a:r>
              <a:rPr lang="en-US" altLang="zh-CN" dirty="0"/>
              <a:t>Yes</a:t>
            </a:r>
          </a:p>
          <a:p>
            <a:r>
              <a:rPr lang="zh-CN" altLang="en-US" dirty="0"/>
              <a:t>题意存疑，看图可知</a:t>
            </a:r>
            <a:endParaRPr lang="en-US" altLang="zh-CN" dirty="0"/>
          </a:p>
          <a:p>
            <a:r>
              <a:rPr lang="en-US" altLang="zh-CN" dirty="0"/>
              <a:t>There is a stopped trailer; are there any with rider bicycles to the front left of it?</a:t>
            </a:r>
          </a:p>
          <a:p>
            <a:r>
              <a:rPr lang="en-US" altLang="zh-CN" dirty="0"/>
              <a:t>Yes</a:t>
            </a:r>
          </a:p>
          <a:p>
            <a:r>
              <a:rPr lang="en-US" altLang="zh-CN" dirty="0"/>
              <a:t>There is a stopped trailer; are there any with rider bicycles to the front left of it?</a:t>
            </a:r>
          </a:p>
          <a:p>
            <a:r>
              <a:rPr lang="en-US" altLang="zh-CN" dirty="0"/>
              <a:t>Yes </a:t>
            </a:r>
            <a:r>
              <a:rPr lang="zh-CN" altLang="en-US" dirty="0"/>
              <a:t>这个前左得忽略朝向？</a:t>
            </a:r>
          </a:p>
        </p:txBody>
      </p:sp>
    </p:spTree>
    <p:extLst>
      <p:ext uri="{BB962C8B-B14F-4D97-AF65-F5344CB8AC3E}">
        <p14:creationId xmlns:p14="http://schemas.microsoft.com/office/powerpoint/2010/main" val="2063017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A18DE-48DE-DE5F-517E-E4691899B71B}"/>
              </a:ext>
            </a:extLst>
          </p:cNvPr>
          <p:cNvSpPr>
            <a:spLocks noGrp="1"/>
          </p:cNvSpPr>
          <p:nvPr>
            <p:ph type="title"/>
          </p:nvPr>
        </p:nvSpPr>
        <p:spPr/>
        <p:txBody>
          <a:bodyPr/>
          <a:lstStyle/>
          <a:p>
            <a:r>
              <a:rPr lang="en-US" altLang="zh-CN" dirty="0"/>
              <a:t>0553</a:t>
            </a:r>
            <a:endParaRPr lang="zh-CN" altLang="en-US" dirty="0"/>
          </a:p>
        </p:txBody>
      </p:sp>
      <p:sp>
        <p:nvSpPr>
          <p:cNvPr id="3" name="内容占位符 2">
            <a:extLst>
              <a:ext uri="{FF2B5EF4-FFF2-40B4-BE49-F238E27FC236}">
                <a16:creationId xmlns:a16="http://schemas.microsoft.com/office/drawing/2014/main" id="{9F5D041F-7A5F-99E1-1A9F-8BD7489374F9}"/>
              </a:ext>
            </a:extLst>
          </p:cNvPr>
          <p:cNvSpPr>
            <a:spLocks noGrp="1"/>
          </p:cNvSpPr>
          <p:nvPr>
            <p:ph idx="1"/>
          </p:nvPr>
        </p:nvSpPr>
        <p:spPr>
          <a:xfrm>
            <a:off x="877039" y="1777279"/>
            <a:ext cx="10515600" cy="4351338"/>
          </a:xfrm>
        </p:spPr>
        <p:txBody>
          <a:bodyPr>
            <a:normAutofit fontScale="92500" lnSpcReduction="20000"/>
          </a:bodyPr>
          <a:lstStyle/>
          <a:p>
            <a:endParaRPr lang="en-US" altLang="zh-CN" dirty="0"/>
          </a:p>
          <a:p>
            <a:endParaRPr lang="en-US" altLang="zh-CN" dirty="0"/>
          </a:p>
          <a:p>
            <a:endParaRPr lang="en-US" altLang="zh-CN" dirty="0"/>
          </a:p>
          <a:p>
            <a:endParaRPr lang="en-US" altLang="zh-CN" dirty="0"/>
          </a:p>
          <a:p>
            <a:r>
              <a:rPr lang="zh-CN" altLang="en-US" dirty="0"/>
              <a:t>这题肯定是答案给错了</a:t>
            </a:r>
            <a:endParaRPr lang="en-US" altLang="zh-CN" dirty="0"/>
          </a:p>
          <a:p>
            <a:endParaRPr lang="en-US" altLang="zh-CN" dirty="0"/>
          </a:p>
          <a:p>
            <a:endParaRPr lang="en-US" altLang="zh-CN" dirty="0"/>
          </a:p>
          <a:p>
            <a:endParaRPr lang="en-US" altLang="zh-CN" dirty="0"/>
          </a:p>
          <a:p>
            <a:endParaRPr lang="en-US" altLang="zh-CN" dirty="0"/>
          </a:p>
          <a:p>
            <a:r>
              <a:rPr lang="zh-CN" altLang="en-US" dirty="0"/>
              <a:t>这题答案是全匹配，算</a:t>
            </a:r>
            <a:r>
              <a:rPr lang="en-US" altLang="zh-CN" dirty="0"/>
              <a:t>barrier</a:t>
            </a:r>
            <a:r>
              <a:rPr lang="zh-CN" altLang="en-US" dirty="0"/>
              <a:t>？</a:t>
            </a:r>
          </a:p>
        </p:txBody>
      </p:sp>
      <p:pic>
        <p:nvPicPr>
          <p:cNvPr id="5" name="图片 4" descr="文本&#10;&#10;AI 生成的内容可能不正确。">
            <a:extLst>
              <a:ext uri="{FF2B5EF4-FFF2-40B4-BE49-F238E27FC236}">
                <a16:creationId xmlns:a16="http://schemas.microsoft.com/office/drawing/2014/main" id="{B39742D1-8D2B-876C-D723-5A9C28D2429E}"/>
              </a:ext>
            </a:extLst>
          </p:cNvPr>
          <p:cNvPicPr>
            <a:picLocks noChangeAspect="1"/>
          </p:cNvPicPr>
          <p:nvPr/>
        </p:nvPicPr>
        <p:blipFill>
          <a:blip r:embed="rId2"/>
          <a:stretch>
            <a:fillRect/>
          </a:stretch>
        </p:blipFill>
        <p:spPr>
          <a:xfrm>
            <a:off x="634929" y="1366751"/>
            <a:ext cx="12192000" cy="1975202"/>
          </a:xfrm>
          <a:prstGeom prst="rect">
            <a:avLst/>
          </a:prstGeom>
        </p:spPr>
      </p:pic>
      <p:pic>
        <p:nvPicPr>
          <p:cNvPr id="7" name="图片 6">
            <a:extLst>
              <a:ext uri="{FF2B5EF4-FFF2-40B4-BE49-F238E27FC236}">
                <a16:creationId xmlns:a16="http://schemas.microsoft.com/office/drawing/2014/main" id="{2972F1E0-C81C-318E-4407-90EEC2B393F6}"/>
              </a:ext>
            </a:extLst>
          </p:cNvPr>
          <p:cNvPicPr>
            <a:picLocks noChangeAspect="1"/>
          </p:cNvPicPr>
          <p:nvPr/>
        </p:nvPicPr>
        <p:blipFill>
          <a:blip r:embed="rId3"/>
          <a:stretch>
            <a:fillRect/>
          </a:stretch>
        </p:blipFill>
        <p:spPr>
          <a:xfrm>
            <a:off x="877039" y="4018832"/>
            <a:ext cx="10593278" cy="1047896"/>
          </a:xfrm>
          <a:prstGeom prst="rect">
            <a:avLst/>
          </a:prstGeom>
        </p:spPr>
      </p:pic>
    </p:spTree>
    <p:extLst>
      <p:ext uri="{BB962C8B-B14F-4D97-AF65-F5344CB8AC3E}">
        <p14:creationId xmlns:p14="http://schemas.microsoft.com/office/powerpoint/2010/main" val="849270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0C40D8-1438-1AB6-C918-BE24498841D6}"/>
              </a:ext>
            </a:extLst>
          </p:cNvPr>
          <p:cNvSpPr>
            <a:spLocks noGrp="1"/>
          </p:cNvSpPr>
          <p:nvPr>
            <p:ph type="title"/>
          </p:nvPr>
        </p:nvSpPr>
        <p:spPr/>
        <p:txBody>
          <a:bodyPr/>
          <a:lstStyle/>
          <a:p>
            <a:r>
              <a:rPr lang="zh-CN" altLang="en-US" dirty="0"/>
              <a:t>标准确定</a:t>
            </a:r>
            <a:r>
              <a:rPr lang="en-US" altLang="zh-CN" dirty="0"/>
              <a:t>-</a:t>
            </a:r>
            <a:r>
              <a:rPr lang="zh-CN" altLang="en-US" dirty="0"/>
              <a:t>关系方向定义</a:t>
            </a:r>
          </a:p>
        </p:txBody>
      </p:sp>
      <p:sp>
        <p:nvSpPr>
          <p:cNvPr id="3" name="内容占位符 2">
            <a:extLst>
              <a:ext uri="{FF2B5EF4-FFF2-40B4-BE49-F238E27FC236}">
                <a16:creationId xmlns:a16="http://schemas.microsoft.com/office/drawing/2014/main" id="{1A43C45E-322E-3AD5-A33D-D7798FA7E856}"/>
              </a:ext>
            </a:extLst>
          </p:cNvPr>
          <p:cNvSpPr>
            <a:spLocks noGrp="1"/>
          </p:cNvSpPr>
          <p:nvPr>
            <p:ph idx="1"/>
          </p:nvPr>
        </p:nvSpPr>
        <p:spPr/>
        <p:txBody>
          <a:bodyPr/>
          <a:lstStyle/>
          <a:p>
            <a:r>
              <a:rPr lang="en-US" altLang="zh-CN" dirty="0"/>
              <a:t>X to the left of Y</a:t>
            </a:r>
          </a:p>
          <a:p>
            <a:r>
              <a:rPr lang="en-US" altLang="zh-CN" dirty="0"/>
              <a:t>MATCH (Y)-[</a:t>
            </a:r>
            <a:r>
              <a:rPr lang="en-US" altLang="zh-CN" dirty="0" err="1"/>
              <a:t>r:RELATES_TO</a:t>
            </a:r>
            <a:r>
              <a:rPr lang="en-US" altLang="zh-CN" dirty="0"/>
              <a:t>]-&gt;(X) WHERE r.direction_8 = 'left'</a:t>
            </a:r>
            <a:endParaRPr lang="zh-CN" altLang="en-US" dirty="0"/>
          </a:p>
        </p:txBody>
      </p:sp>
    </p:spTree>
    <p:extLst>
      <p:ext uri="{BB962C8B-B14F-4D97-AF65-F5344CB8AC3E}">
        <p14:creationId xmlns:p14="http://schemas.microsoft.com/office/powerpoint/2010/main" val="425056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8DE1A1-1D6B-6C6C-AEE9-43BFD076AF7F}"/>
              </a:ext>
            </a:extLst>
          </p:cNvPr>
          <p:cNvSpPr>
            <a:spLocks noGrp="1"/>
          </p:cNvSpPr>
          <p:nvPr>
            <p:ph type="title"/>
          </p:nvPr>
        </p:nvSpPr>
        <p:spPr/>
        <p:txBody>
          <a:bodyPr/>
          <a:lstStyle/>
          <a:p>
            <a:r>
              <a:rPr lang="zh-CN" altLang="en-US" dirty="0"/>
              <a:t>标准确定</a:t>
            </a:r>
            <a:r>
              <a:rPr lang="en-US" altLang="zh-CN" dirty="0"/>
              <a:t>- 0</a:t>
            </a:r>
            <a:r>
              <a:rPr lang="zh-CN" altLang="en-US" dirty="0"/>
              <a:t>度线的定义</a:t>
            </a:r>
          </a:p>
        </p:txBody>
      </p:sp>
      <p:sp>
        <p:nvSpPr>
          <p:cNvPr id="3" name="内容占位符 2">
            <a:extLst>
              <a:ext uri="{FF2B5EF4-FFF2-40B4-BE49-F238E27FC236}">
                <a16:creationId xmlns:a16="http://schemas.microsoft.com/office/drawing/2014/main" id="{98171047-C2D8-2269-A4A5-8698BA9717B0}"/>
              </a:ext>
            </a:extLst>
          </p:cNvPr>
          <p:cNvSpPr>
            <a:spLocks noGrp="1"/>
          </p:cNvSpPr>
          <p:nvPr>
            <p:ph idx="1"/>
          </p:nvPr>
        </p:nvSpPr>
        <p:spPr/>
        <p:txBody>
          <a:bodyPr>
            <a:normAutofit fontScale="92500" lnSpcReduction="10000"/>
          </a:bodyPr>
          <a:lstStyle/>
          <a:p>
            <a:r>
              <a:rPr lang="zh-CN" altLang="en-US" dirty="0"/>
              <a:t>一开始是</a:t>
            </a:r>
            <a:r>
              <a:rPr lang="en-US" altLang="zh-CN" dirty="0" err="1"/>
              <a:t>sourceframe</a:t>
            </a:r>
            <a:r>
              <a:rPr lang="zh-CN" altLang="en-US" dirty="0"/>
              <a:t>，即以描述物体的朝向为</a:t>
            </a:r>
            <a:r>
              <a:rPr lang="en-US" altLang="zh-CN" dirty="0"/>
              <a:t>0</a:t>
            </a:r>
            <a:r>
              <a:rPr lang="zh-CN" altLang="en-US" dirty="0"/>
              <a:t>度，很多错误怎么都解决不了</a:t>
            </a:r>
            <a:endParaRPr lang="en-US" altLang="zh-CN" dirty="0"/>
          </a:p>
          <a:p>
            <a:r>
              <a:rPr lang="zh-CN" altLang="en-US" dirty="0"/>
              <a:t>后来调整到</a:t>
            </a:r>
            <a:r>
              <a:rPr lang="en-US" altLang="zh-CN" dirty="0" err="1"/>
              <a:t>egoframe</a:t>
            </a:r>
            <a:r>
              <a:rPr lang="zh-CN" altLang="en-US" dirty="0"/>
              <a:t>，即统一以</a:t>
            </a:r>
            <a:r>
              <a:rPr lang="en-US" altLang="zh-CN" dirty="0"/>
              <a:t>ego</a:t>
            </a:r>
            <a:r>
              <a:rPr lang="zh-CN" altLang="en-US" dirty="0"/>
              <a:t>的朝向为</a:t>
            </a:r>
            <a:r>
              <a:rPr lang="en-US" altLang="zh-CN" dirty="0"/>
              <a:t>0</a:t>
            </a:r>
            <a:r>
              <a:rPr lang="zh-CN" altLang="en-US" dirty="0"/>
              <a:t>度，原来问题能解决不少，但是本来正确的题又做不对</a:t>
            </a:r>
            <a:endParaRPr lang="en-US" altLang="zh-CN" dirty="0"/>
          </a:p>
          <a:p>
            <a:r>
              <a:rPr lang="zh-CN" altLang="en-US" dirty="0"/>
              <a:t>重做了一遍，发现这个</a:t>
            </a:r>
            <a:r>
              <a:rPr lang="en-US" altLang="zh-CN" dirty="0" err="1"/>
              <a:t>qa</a:t>
            </a:r>
            <a:r>
              <a:rPr lang="zh-CN" altLang="en-US" dirty="0"/>
              <a:t>集不同帧有些用的标准不同，甚至同一帧的题目有不同标准。单纯为了提高这个</a:t>
            </a:r>
            <a:r>
              <a:rPr lang="en-US" altLang="zh-CN" dirty="0" err="1"/>
              <a:t>qa</a:t>
            </a:r>
            <a:r>
              <a:rPr lang="zh-CN" altLang="en-US" dirty="0"/>
              <a:t>集的正确率，可以通过</a:t>
            </a:r>
            <a:r>
              <a:rPr lang="en-US" altLang="zh-CN" dirty="0"/>
              <a:t>retry</a:t>
            </a:r>
            <a:r>
              <a:rPr lang="zh-CN" altLang="en-US" dirty="0"/>
              <a:t>策略让大模型失败后尝试另一种标准做出答案</a:t>
            </a:r>
            <a:endParaRPr lang="en-US" altLang="zh-CN" dirty="0"/>
          </a:p>
          <a:p>
            <a:r>
              <a:rPr lang="en-US" altLang="zh-CN" dirty="0"/>
              <a:t>5</a:t>
            </a:r>
            <a:r>
              <a:rPr lang="zh-CN" altLang="en-US" dirty="0"/>
              <a:t>层</a:t>
            </a:r>
            <a:r>
              <a:rPr lang="en-US" altLang="zh-CN" dirty="0"/>
              <a:t>retry</a:t>
            </a:r>
            <a:r>
              <a:rPr lang="zh-CN" altLang="en-US" dirty="0"/>
              <a:t>太慢，个别题甚至要跑半个小时。但是后期我们自动构建</a:t>
            </a:r>
            <a:r>
              <a:rPr lang="en-US" altLang="zh-CN" dirty="0" err="1"/>
              <a:t>qa</a:t>
            </a:r>
            <a:r>
              <a:rPr lang="zh-CN" altLang="en-US" dirty="0"/>
              <a:t>对的时候只需统一标准（方位范围、</a:t>
            </a:r>
            <a:r>
              <a:rPr lang="en-US" altLang="zh-CN" dirty="0"/>
              <a:t>0</a:t>
            </a:r>
            <a:r>
              <a:rPr lang="zh-CN" altLang="en-US" dirty="0"/>
              <a:t>度线）即可，</a:t>
            </a:r>
            <a:endParaRPr lang="en-US" altLang="zh-CN" dirty="0"/>
          </a:p>
          <a:p>
            <a:r>
              <a:rPr lang="en-US" altLang="zh-CN" dirty="0" err="1"/>
              <a:t>egoframe</a:t>
            </a:r>
            <a:r>
              <a:rPr lang="zh-CN" altLang="en-US" dirty="0"/>
              <a:t>是不是对自动驾驶来说更合理？模型生成</a:t>
            </a:r>
            <a:r>
              <a:rPr lang="en-US" altLang="zh-CN" dirty="0"/>
              <a:t>cypher</a:t>
            </a:r>
            <a:r>
              <a:rPr lang="zh-CN" altLang="en-US" dirty="0"/>
              <a:t>、回答问题的能力是足够的。目前主要是这个</a:t>
            </a:r>
            <a:r>
              <a:rPr lang="en-US" altLang="zh-CN" dirty="0" err="1"/>
              <a:t>qa</a:t>
            </a:r>
            <a:r>
              <a:rPr lang="zh-CN" altLang="en-US" dirty="0"/>
              <a:t>集标准混乱</a:t>
            </a:r>
            <a:endParaRPr lang="en-US" altLang="zh-CN" dirty="0"/>
          </a:p>
          <a:p>
            <a:endParaRPr lang="zh-CN" altLang="en-US" dirty="0"/>
          </a:p>
        </p:txBody>
      </p:sp>
    </p:spTree>
    <p:extLst>
      <p:ext uri="{BB962C8B-B14F-4D97-AF65-F5344CB8AC3E}">
        <p14:creationId xmlns:p14="http://schemas.microsoft.com/office/powerpoint/2010/main" val="253895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F6EBC3-8980-1DF6-07AE-5E74B8762DA3}"/>
              </a:ext>
            </a:extLst>
          </p:cNvPr>
          <p:cNvSpPr>
            <a:spLocks noGrp="1"/>
          </p:cNvSpPr>
          <p:nvPr>
            <p:ph type="title"/>
          </p:nvPr>
        </p:nvSpPr>
        <p:spPr/>
        <p:txBody>
          <a:bodyPr/>
          <a:lstStyle/>
          <a:p>
            <a:r>
              <a:rPr lang="zh-CN" altLang="en-US" dirty="0"/>
              <a:t>标准确定</a:t>
            </a:r>
            <a:r>
              <a:rPr lang="en-US" altLang="zh-CN" dirty="0"/>
              <a:t>-</a:t>
            </a:r>
            <a:r>
              <a:rPr lang="zh-CN" altLang="en-US" dirty="0"/>
              <a:t>答案处理和方位</a:t>
            </a:r>
          </a:p>
        </p:txBody>
      </p:sp>
      <p:sp>
        <p:nvSpPr>
          <p:cNvPr id="3" name="内容占位符 2">
            <a:extLst>
              <a:ext uri="{FF2B5EF4-FFF2-40B4-BE49-F238E27FC236}">
                <a16:creationId xmlns:a16="http://schemas.microsoft.com/office/drawing/2014/main" id="{4ADBB6F0-BD6A-0074-F998-F44BBD560C6C}"/>
              </a:ext>
            </a:extLst>
          </p:cNvPr>
          <p:cNvSpPr>
            <a:spLocks noGrp="1"/>
          </p:cNvSpPr>
          <p:nvPr>
            <p:ph idx="1"/>
          </p:nvPr>
        </p:nvSpPr>
        <p:spPr/>
        <p:txBody>
          <a:bodyPr/>
          <a:lstStyle/>
          <a:p>
            <a:r>
              <a:rPr lang="zh-CN" altLang="en-US" dirty="0"/>
              <a:t>答案处理，扩充字典的同时引入了大模型判断语义近似的少数情况</a:t>
            </a:r>
            <a:endParaRPr lang="en-US" altLang="zh-CN" dirty="0"/>
          </a:p>
          <a:p>
            <a:r>
              <a:rPr lang="zh-CN" altLang="en-US" dirty="0"/>
              <a:t>我们亲自算的</a:t>
            </a:r>
            <a:r>
              <a:rPr lang="en-US" altLang="zh-CN" dirty="0"/>
              <a:t>-163.1°</a:t>
            </a:r>
            <a:r>
              <a:rPr lang="zh-CN" altLang="en-US" dirty="0"/>
              <a:t>我觉得视作后右也没太大问题，就是说我们关于这个角度的限制有点太严格了，我的想法是换一种方位定义，我们用三套方位定义扩大一下每个方位的角度。第一套方位是前和后各占</a:t>
            </a:r>
            <a:r>
              <a:rPr lang="en-US" altLang="zh-CN" dirty="0"/>
              <a:t>180</a:t>
            </a:r>
            <a:r>
              <a:rPr lang="zh-CN" altLang="en-US" dirty="0"/>
              <a:t>，第二套是左和右各占一百八，第三套是前右、前左、后右、后左各占</a:t>
            </a:r>
            <a:r>
              <a:rPr lang="en-US" altLang="zh-CN" dirty="0"/>
              <a:t>90</a:t>
            </a:r>
            <a:r>
              <a:rPr lang="zh-CN" altLang="en-US" dirty="0"/>
              <a:t>，彼此不冲突，题目说哪个我们就去对应哪个角度范围，不管部分重合，只要保证可以查到东西</a:t>
            </a:r>
          </a:p>
        </p:txBody>
      </p:sp>
    </p:spTree>
    <p:extLst>
      <p:ext uri="{BB962C8B-B14F-4D97-AF65-F5344CB8AC3E}">
        <p14:creationId xmlns:p14="http://schemas.microsoft.com/office/powerpoint/2010/main" val="3471808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03AC41-F77A-BD66-B147-15B457C298A3}"/>
              </a:ext>
            </a:extLst>
          </p:cNvPr>
          <p:cNvSpPr>
            <a:spLocks noGrp="1"/>
          </p:cNvSpPr>
          <p:nvPr>
            <p:ph type="title"/>
          </p:nvPr>
        </p:nvSpPr>
        <p:spPr/>
        <p:txBody>
          <a:bodyPr/>
          <a:lstStyle/>
          <a:p>
            <a:r>
              <a:rPr lang="zh-CN" altLang="en-US" dirty="0"/>
              <a:t>正确率结果</a:t>
            </a:r>
          </a:p>
        </p:txBody>
      </p:sp>
      <p:sp>
        <p:nvSpPr>
          <p:cNvPr id="3" name="内容占位符 2">
            <a:extLst>
              <a:ext uri="{FF2B5EF4-FFF2-40B4-BE49-F238E27FC236}">
                <a16:creationId xmlns:a16="http://schemas.microsoft.com/office/drawing/2014/main" id="{46FF87FE-3355-AD19-C779-BC3E0B24B415}"/>
              </a:ext>
            </a:extLst>
          </p:cNvPr>
          <p:cNvSpPr>
            <a:spLocks noGrp="1"/>
          </p:cNvSpPr>
          <p:nvPr>
            <p:ph idx="1"/>
          </p:nvPr>
        </p:nvSpPr>
        <p:spPr/>
        <p:txBody>
          <a:bodyPr/>
          <a:lstStyle/>
          <a:p>
            <a:endParaRPr lang="zh-CN" altLang="en-US"/>
          </a:p>
        </p:txBody>
      </p:sp>
      <p:pic>
        <p:nvPicPr>
          <p:cNvPr id="6" name="图片 5" descr="表格&#10;&#10;AI 生成的内容可能不正确。">
            <a:extLst>
              <a:ext uri="{FF2B5EF4-FFF2-40B4-BE49-F238E27FC236}">
                <a16:creationId xmlns:a16="http://schemas.microsoft.com/office/drawing/2014/main" id="{5653BB7E-608D-BF24-0E17-CDC2C5AC8048}"/>
              </a:ext>
            </a:extLst>
          </p:cNvPr>
          <p:cNvPicPr>
            <a:picLocks noChangeAspect="1"/>
          </p:cNvPicPr>
          <p:nvPr/>
        </p:nvPicPr>
        <p:blipFill>
          <a:blip r:embed="rId2"/>
          <a:stretch>
            <a:fillRect/>
          </a:stretch>
        </p:blipFill>
        <p:spPr>
          <a:xfrm>
            <a:off x="0" y="2202105"/>
            <a:ext cx="12192000" cy="2453790"/>
          </a:xfrm>
          <a:prstGeom prst="rect">
            <a:avLst/>
          </a:prstGeom>
        </p:spPr>
      </p:pic>
    </p:spTree>
    <p:extLst>
      <p:ext uri="{BB962C8B-B14F-4D97-AF65-F5344CB8AC3E}">
        <p14:creationId xmlns:p14="http://schemas.microsoft.com/office/powerpoint/2010/main" val="3077892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21E127-4B78-7A9F-D33D-B798A672D130}"/>
              </a:ext>
            </a:extLst>
          </p:cNvPr>
          <p:cNvSpPr>
            <a:spLocks noGrp="1"/>
          </p:cNvSpPr>
          <p:nvPr>
            <p:ph type="title"/>
          </p:nvPr>
        </p:nvSpPr>
        <p:spPr/>
        <p:txBody>
          <a:bodyPr/>
          <a:lstStyle/>
          <a:p>
            <a:r>
              <a:rPr lang="zh-CN" altLang="en-US" dirty="0"/>
              <a:t>覆盖率测试</a:t>
            </a:r>
            <a:r>
              <a:rPr lang="en-US" altLang="zh-CN" dirty="0"/>
              <a:t>-</a:t>
            </a:r>
            <a:r>
              <a:rPr lang="zh-CN" altLang="en-US" dirty="0"/>
              <a:t>指标定义</a:t>
            </a:r>
          </a:p>
        </p:txBody>
      </p:sp>
      <p:pic>
        <p:nvPicPr>
          <p:cNvPr id="11" name="内容占位符 10" descr="图形用户界面, 文本, 应用程序, 电子邮件&#10;&#10;AI 生成的内容可能不正确。">
            <a:extLst>
              <a:ext uri="{FF2B5EF4-FFF2-40B4-BE49-F238E27FC236}">
                <a16:creationId xmlns:a16="http://schemas.microsoft.com/office/drawing/2014/main" id="{30273B31-FA05-92B7-FC4C-5421EE1EE251}"/>
              </a:ext>
            </a:extLst>
          </p:cNvPr>
          <p:cNvPicPr>
            <a:picLocks noGrp="1" noChangeAspect="1"/>
          </p:cNvPicPr>
          <p:nvPr>
            <p:ph idx="1"/>
          </p:nvPr>
        </p:nvPicPr>
        <p:blipFill>
          <a:blip r:embed="rId2"/>
          <a:stretch>
            <a:fillRect/>
          </a:stretch>
        </p:blipFill>
        <p:spPr>
          <a:xfrm>
            <a:off x="663474" y="3479236"/>
            <a:ext cx="6992326" cy="3296110"/>
          </a:xfrm>
          <a:prstGeom prst="rect">
            <a:avLst/>
          </a:prstGeom>
        </p:spPr>
      </p:pic>
      <p:pic>
        <p:nvPicPr>
          <p:cNvPr id="9" name="图片 8" descr="表格&#10;&#10;AI 生成的内容可能不正确。">
            <a:extLst>
              <a:ext uri="{FF2B5EF4-FFF2-40B4-BE49-F238E27FC236}">
                <a16:creationId xmlns:a16="http://schemas.microsoft.com/office/drawing/2014/main" id="{CFF01039-3650-EA22-7550-4D3C43FD2498}"/>
              </a:ext>
            </a:extLst>
          </p:cNvPr>
          <p:cNvPicPr>
            <a:picLocks noChangeAspect="1"/>
          </p:cNvPicPr>
          <p:nvPr/>
        </p:nvPicPr>
        <p:blipFill>
          <a:blip r:embed="rId3"/>
          <a:stretch>
            <a:fillRect/>
          </a:stretch>
        </p:blipFill>
        <p:spPr>
          <a:xfrm>
            <a:off x="663474" y="1316759"/>
            <a:ext cx="8459381" cy="2162477"/>
          </a:xfrm>
          <a:prstGeom prst="rect">
            <a:avLst/>
          </a:prstGeom>
        </p:spPr>
      </p:pic>
    </p:spTree>
    <p:extLst>
      <p:ext uri="{BB962C8B-B14F-4D97-AF65-F5344CB8AC3E}">
        <p14:creationId xmlns:p14="http://schemas.microsoft.com/office/powerpoint/2010/main" val="2184149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FD533-627C-868F-C08B-D95DBD0E8B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24D6FA-1A0B-632B-9376-4FE844751A93}"/>
              </a:ext>
            </a:extLst>
          </p:cNvPr>
          <p:cNvSpPr>
            <a:spLocks noGrp="1"/>
          </p:cNvSpPr>
          <p:nvPr>
            <p:ph type="title"/>
          </p:nvPr>
        </p:nvSpPr>
        <p:spPr/>
        <p:txBody>
          <a:bodyPr/>
          <a:lstStyle/>
          <a:p>
            <a:r>
              <a:rPr lang="zh-CN" altLang="en-US" dirty="0"/>
              <a:t>覆盖率测试</a:t>
            </a:r>
            <a:r>
              <a:rPr lang="en-US" altLang="zh-CN" dirty="0"/>
              <a:t>-</a:t>
            </a:r>
            <a:r>
              <a:rPr lang="zh-CN" altLang="en-US" dirty="0"/>
              <a:t>统计模式</a:t>
            </a:r>
          </a:p>
        </p:txBody>
      </p:sp>
      <p:pic>
        <p:nvPicPr>
          <p:cNvPr id="6" name="图片 5" descr="文本&#10;&#10;AI 生成的内容可能不正确。">
            <a:extLst>
              <a:ext uri="{FF2B5EF4-FFF2-40B4-BE49-F238E27FC236}">
                <a16:creationId xmlns:a16="http://schemas.microsoft.com/office/drawing/2014/main" id="{AF3F42D1-525B-92DB-848E-A99256E8E520}"/>
              </a:ext>
            </a:extLst>
          </p:cNvPr>
          <p:cNvPicPr>
            <a:picLocks noChangeAspect="1"/>
          </p:cNvPicPr>
          <p:nvPr/>
        </p:nvPicPr>
        <p:blipFill>
          <a:blip r:embed="rId2"/>
          <a:stretch>
            <a:fillRect/>
          </a:stretch>
        </p:blipFill>
        <p:spPr>
          <a:xfrm>
            <a:off x="838200" y="1914788"/>
            <a:ext cx="8507012" cy="2181529"/>
          </a:xfrm>
          <a:prstGeom prst="rect">
            <a:avLst/>
          </a:prstGeom>
        </p:spPr>
      </p:pic>
    </p:spTree>
    <p:extLst>
      <p:ext uri="{BB962C8B-B14F-4D97-AF65-F5344CB8AC3E}">
        <p14:creationId xmlns:p14="http://schemas.microsoft.com/office/powerpoint/2010/main" val="2085648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72C37-3235-23F5-77F4-6DD2E6A068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777E9E9-8818-322A-8ADE-7C9E90C3EC26}"/>
              </a:ext>
            </a:extLst>
          </p:cNvPr>
          <p:cNvSpPr>
            <a:spLocks noGrp="1"/>
          </p:cNvSpPr>
          <p:nvPr>
            <p:ph type="title"/>
          </p:nvPr>
        </p:nvSpPr>
        <p:spPr/>
        <p:txBody>
          <a:bodyPr/>
          <a:lstStyle/>
          <a:p>
            <a:r>
              <a:rPr lang="zh-CN" altLang="en-US" dirty="0"/>
              <a:t>覆盖率测试</a:t>
            </a:r>
            <a:r>
              <a:rPr lang="en-US" altLang="zh-CN" dirty="0"/>
              <a:t>-</a:t>
            </a:r>
            <a:r>
              <a:rPr lang="zh-CN" altLang="en-US" dirty="0"/>
              <a:t>结果</a:t>
            </a:r>
          </a:p>
        </p:txBody>
      </p:sp>
      <p:pic>
        <p:nvPicPr>
          <p:cNvPr id="5" name="图片 4" descr="表格&#10;&#10;AI 生成的内容可能不正确。">
            <a:extLst>
              <a:ext uri="{FF2B5EF4-FFF2-40B4-BE49-F238E27FC236}">
                <a16:creationId xmlns:a16="http://schemas.microsoft.com/office/drawing/2014/main" id="{9641F914-A404-F752-6181-CA37630A7F3B}"/>
              </a:ext>
            </a:extLst>
          </p:cNvPr>
          <p:cNvPicPr>
            <a:picLocks noChangeAspect="1"/>
          </p:cNvPicPr>
          <p:nvPr/>
        </p:nvPicPr>
        <p:blipFill>
          <a:blip r:embed="rId2"/>
          <a:stretch>
            <a:fillRect/>
          </a:stretch>
        </p:blipFill>
        <p:spPr>
          <a:xfrm>
            <a:off x="735496" y="1610352"/>
            <a:ext cx="9601796" cy="4566611"/>
          </a:xfrm>
          <a:prstGeom prst="rect">
            <a:avLst/>
          </a:prstGeom>
        </p:spPr>
      </p:pic>
    </p:spTree>
    <p:extLst>
      <p:ext uri="{BB962C8B-B14F-4D97-AF65-F5344CB8AC3E}">
        <p14:creationId xmlns:p14="http://schemas.microsoft.com/office/powerpoint/2010/main" val="226287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DF0B5F-02BF-1B7C-D8BA-8CB4DAEEA075}"/>
              </a:ext>
            </a:extLst>
          </p:cNvPr>
          <p:cNvSpPr>
            <a:spLocks noGrp="1"/>
          </p:cNvSpPr>
          <p:nvPr>
            <p:ph type="title"/>
          </p:nvPr>
        </p:nvSpPr>
        <p:spPr/>
        <p:txBody>
          <a:bodyPr/>
          <a:lstStyle/>
          <a:p>
            <a:r>
              <a:rPr lang="zh-CN" altLang="en-US" dirty="0"/>
              <a:t>覆盖范围 </a:t>
            </a:r>
            <a:r>
              <a:rPr lang="en-US" altLang="zh-CN" dirty="0"/>
              <a:t>vs. </a:t>
            </a:r>
            <a:r>
              <a:rPr lang="zh-CN" altLang="en-US" dirty="0"/>
              <a:t>目标覆盖</a:t>
            </a:r>
          </a:p>
        </p:txBody>
      </p:sp>
      <p:sp>
        <p:nvSpPr>
          <p:cNvPr id="3" name="内容占位符 2">
            <a:extLst>
              <a:ext uri="{FF2B5EF4-FFF2-40B4-BE49-F238E27FC236}">
                <a16:creationId xmlns:a16="http://schemas.microsoft.com/office/drawing/2014/main" id="{4DD7AF9B-40A5-D3EE-43DA-039849E77D17}"/>
              </a:ext>
            </a:extLst>
          </p:cNvPr>
          <p:cNvSpPr>
            <a:spLocks noGrp="1"/>
          </p:cNvSpPr>
          <p:nvPr>
            <p:ph idx="1"/>
          </p:nvPr>
        </p:nvSpPr>
        <p:spPr/>
        <p:txBody>
          <a:bodyPr/>
          <a:lstStyle/>
          <a:p>
            <a:r>
              <a:rPr lang="zh-CN" altLang="en-US" dirty="0"/>
              <a:t>为了找到答案，必须检查、经过的所有对象，还是只统计最终作为答案的那个对象</a:t>
            </a:r>
          </a:p>
        </p:txBody>
      </p:sp>
    </p:spTree>
    <p:extLst>
      <p:ext uri="{BB962C8B-B14F-4D97-AF65-F5344CB8AC3E}">
        <p14:creationId xmlns:p14="http://schemas.microsoft.com/office/powerpoint/2010/main" val="3119975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FF392F-AB63-EAA8-9F55-CFE40431458F}"/>
              </a:ext>
            </a:extLst>
          </p:cNvPr>
          <p:cNvSpPr>
            <a:spLocks noGrp="1"/>
          </p:cNvSpPr>
          <p:nvPr>
            <p:ph type="title"/>
          </p:nvPr>
        </p:nvSpPr>
        <p:spPr/>
        <p:txBody>
          <a:bodyPr/>
          <a:lstStyle/>
          <a:p>
            <a:r>
              <a:rPr lang="zh-CN" altLang="en-US" dirty="0"/>
              <a:t>三维构图</a:t>
            </a:r>
          </a:p>
        </p:txBody>
      </p:sp>
      <p:sp>
        <p:nvSpPr>
          <p:cNvPr id="3" name="内容占位符 2">
            <a:extLst>
              <a:ext uri="{FF2B5EF4-FFF2-40B4-BE49-F238E27FC236}">
                <a16:creationId xmlns:a16="http://schemas.microsoft.com/office/drawing/2014/main" id="{315CC53B-5CF8-BE81-2E4B-931EC307E685}"/>
              </a:ext>
            </a:extLst>
          </p:cNvPr>
          <p:cNvSpPr>
            <a:spLocks noGrp="1"/>
          </p:cNvSpPr>
          <p:nvPr>
            <p:ph idx="1"/>
          </p:nvPr>
        </p:nvSpPr>
        <p:spPr/>
        <p:txBody>
          <a:bodyPr/>
          <a:lstStyle/>
          <a:p>
            <a:r>
              <a:rPr lang="zh-CN" altLang="en-US" dirty="0"/>
              <a:t>我想到一个巨有意思的构图法，我把每个对象的属性放在第三维。相当于对象间关系结构是二维图结构，而每个对象的属性我们把他竖起来当作高</a:t>
            </a:r>
            <a:endParaRPr lang="en-US" altLang="zh-CN" dirty="0"/>
          </a:p>
          <a:p>
            <a:r>
              <a:rPr lang="zh-CN" altLang="en-US" dirty="0"/>
              <a:t>有多层结构的建筑群</a:t>
            </a:r>
            <a:endParaRPr lang="en-US" altLang="zh-CN" dirty="0"/>
          </a:p>
          <a:p>
            <a:r>
              <a:rPr lang="zh-CN" altLang="en-US" dirty="0"/>
              <a:t>横向纵向两套参考指标？</a:t>
            </a:r>
          </a:p>
        </p:txBody>
      </p:sp>
      <p:pic>
        <p:nvPicPr>
          <p:cNvPr id="5" name="图片 4" descr="图形用户界面, 文本&#10;&#10;AI 生成的内容可能不正确。">
            <a:extLst>
              <a:ext uri="{FF2B5EF4-FFF2-40B4-BE49-F238E27FC236}">
                <a16:creationId xmlns:a16="http://schemas.microsoft.com/office/drawing/2014/main" id="{C59C7582-C6E3-2914-A647-C98F1D4F4862}"/>
              </a:ext>
            </a:extLst>
          </p:cNvPr>
          <p:cNvPicPr>
            <a:picLocks noChangeAspect="1"/>
          </p:cNvPicPr>
          <p:nvPr/>
        </p:nvPicPr>
        <p:blipFill>
          <a:blip r:embed="rId2"/>
          <a:stretch>
            <a:fillRect/>
          </a:stretch>
        </p:blipFill>
        <p:spPr>
          <a:xfrm>
            <a:off x="838200" y="4228733"/>
            <a:ext cx="7421011" cy="2629267"/>
          </a:xfrm>
          <a:prstGeom prst="rect">
            <a:avLst/>
          </a:prstGeom>
        </p:spPr>
      </p:pic>
    </p:spTree>
    <p:extLst>
      <p:ext uri="{BB962C8B-B14F-4D97-AF65-F5344CB8AC3E}">
        <p14:creationId xmlns:p14="http://schemas.microsoft.com/office/powerpoint/2010/main" val="3207991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8A97E-D75A-F6E1-142B-97C99C6605EC}"/>
              </a:ext>
            </a:extLst>
          </p:cNvPr>
          <p:cNvSpPr>
            <a:spLocks noGrp="1"/>
          </p:cNvSpPr>
          <p:nvPr>
            <p:ph type="title"/>
          </p:nvPr>
        </p:nvSpPr>
        <p:spPr/>
        <p:txBody>
          <a:bodyPr/>
          <a:lstStyle/>
          <a:p>
            <a:r>
              <a:rPr lang="zh-CN" altLang="en-US" dirty="0"/>
              <a:t>两跳</a:t>
            </a:r>
          </a:p>
        </p:txBody>
      </p:sp>
      <p:sp>
        <p:nvSpPr>
          <p:cNvPr id="3" name="内容占位符 2">
            <a:extLst>
              <a:ext uri="{FF2B5EF4-FFF2-40B4-BE49-F238E27FC236}">
                <a16:creationId xmlns:a16="http://schemas.microsoft.com/office/drawing/2014/main" id="{8BCF2F8A-86F5-3B99-2FCB-449C43E093E5}"/>
              </a:ext>
            </a:extLst>
          </p:cNvPr>
          <p:cNvSpPr>
            <a:spLocks noGrp="1"/>
          </p:cNvSpPr>
          <p:nvPr>
            <p:ph idx="1"/>
          </p:nvPr>
        </p:nvSpPr>
        <p:spPr/>
        <p:txBody>
          <a:bodyPr/>
          <a:lstStyle/>
          <a:p>
            <a:r>
              <a:rPr lang="zh-CN" altLang="en-US" dirty="0"/>
              <a:t>只算符合题目逻辑的连边还是子图里任意连边</a:t>
            </a:r>
            <a:endParaRPr lang="en-US" altLang="zh-CN" dirty="0"/>
          </a:p>
          <a:p>
            <a:r>
              <a:rPr lang="zh-CN" altLang="en-US" dirty="0"/>
              <a:t>前者的话目前统计里更复杂的题还没体现进来</a:t>
            </a:r>
          </a:p>
        </p:txBody>
      </p:sp>
      <p:pic>
        <p:nvPicPr>
          <p:cNvPr id="5" name="图片 4" descr="文本&#10;&#10;AI 生成的内容可能不正确。">
            <a:extLst>
              <a:ext uri="{FF2B5EF4-FFF2-40B4-BE49-F238E27FC236}">
                <a16:creationId xmlns:a16="http://schemas.microsoft.com/office/drawing/2014/main" id="{184A8F11-B272-0821-C672-666C8174347B}"/>
              </a:ext>
            </a:extLst>
          </p:cNvPr>
          <p:cNvPicPr>
            <a:picLocks noChangeAspect="1"/>
          </p:cNvPicPr>
          <p:nvPr/>
        </p:nvPicPr>
        <p:blipFill>
          <a:blip r:embed="rId2"/>
          <a:stretch>
            <a:fillRect/>
          </a:stretch>
        </p:blipFill>
        <p:spPr>
          <a:xfrm>
            <a:off x="0" y="2953987"/>
            <a:ext cx="12192000" cy="2715216"/>
          </a:xfrm>
          <a:prstGeom prst="rect">
            <a:avLst/>
          </a:prstGeom>
        </p:spPr>
      </p:pic>
    </p:spTree>
    <p:extLst>
      <p:ext uri="{BB962C8B-B14F-4D97-AF65-F5344CB8AC3E}">
        <p14:creationId xmlns:p14="http://schemas.microsoft.com/office/powerpoint/2010/main" val="2603591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20475-8F2F-0D51-3F69-77391E2C9B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336D44-5CD3-7946-6E94-465BEE32BF00}"/>
              </a:ext>
            </a:extLst>
          </p:cNvPr>
          <p:cNvSpPr>
            <a:spLocks noGrp="1"/>
          </p:cNvSpPr>
          <p:nvPr>
            <p:ph type="title"/>
          </p:nvPr>
        </p:nvSpPr>
        <p:spPr/>
        <p:txBody>
          <a:bodyPr/>
          <a:lstStyle/>
          <a:p>
            <a:r>
              <a:rPr lang="zh-CN" altLang="en-US" dirty="0"/>
              <a:t>两跳</a:t>
            </a:r>
            <a:r>
              <a:rPr lang="en-US" altLang="zh-CN" dirty="0"/>
              <a:t>-</a:t>
            </a:r>
            <a:r>
              <a:rPr lang="zh-CN" altLang="en-US" dirty="0"/>
              <a:t>怎么查</a:t>
            </a:r>
          </a:p>
        </p:txBody>
      </p:sp>
      <p:sp>
        <p:nvSpPr>
          <p:cNvPr id="3" name="内容占位符 2">
            <a:extLst>
              <a:ext uri="{FF2B5EF4-FFF2-40B4-BE49-F238E27FC236}">
                <a16:creationId xmlns:a16="http://schemas.microsoft.com/office/drawing/2014/main" id="{15C490C3-FD95-CCF6-CEC5-D925972B617B}"/>
              </a:ext>
            </a:extLst>
          </p:cNvPr>
          <p:cNvSpPr>
            <a:spLocks noGrp="1"/>
          </p:cNvSpPr>
          <p:nvPr>
            <p:ph idx="1"/>
          </p:nvPr>
        </p:nvSpPr>
        <p:spPr/>
        <p:txBody>
          <a:bodyPr/>
          <a:lstStyle/>
          <a:p>
            <a:r>
              <a:rPr lang="zh-CN" altLang="en-US" dirty="0"/>
              <a:t>大模型以做题角度生成</a:t>
            </a:r>
            <a:r>
              <a:rPr lang="en-US" altLang="zh-CN" dirty="0"/>
              <a:t>cypher</a:t>
            </a:r>
            <a:r>
              <a:rPr lang="zh-CN" altLang="en-US" dirty="0"/>
              <a:t>→程序通过正则对原始</a:t>
            </a:r>
            <a:r>
              <a:rPr lang="en-US" altLang="zh-CN" dirty="0"/>
              <a:t>cypher</a:t>
            </a:r>
            <a:r>
              <a:rPr lang="zh-CN" altLang="en-US" dirty="0"/>
              <a:t>进行变量注入，强行返回涉及对象的</a:t>
            </a:r>
            <a:r>
              <a:rPr lang="en-US" altLang="zh-CN" dirty="0"/>
              <a:t>id</a:t>
            </a:r>
            <a:r>
              <a:rPr lang="zh-CN" altLang="en-US" dirty="0"/>
              <a:t>、关系的起始→将改写的</a:t>
            </a:r>
            <a:r>
              <a:rPr lang="en-US" altLang="zh-CN" dirty="0"/>
              <a:t>cypher</a:t>
            </a:r>
            <a:r>
              <a:rPr lang="zh-CN" altLang="en-US" dirty="0"/>
              <a:t>交给数据库查询→得到查询结果→程序提取→计算二跳</a:t>
            </a:r>
          </a:p>
        </p:txBody>
      </p:sp>
      <p:pic>
        <p:nvPicPr>
          <p:cNvPr id="6" name="图片 5" descr="文本&#10;&#10;AI 生成的内容可能不正确。">
            <a:extLst>
              <a:ext uri="{FF2B5EF4-FFF2-40B4-BE49-F238E27FC236}">
                <a16:creationId xmlns:a16="http://schemas.microsoft.com/office/drawing/2014/main" id="{8701D898-8A1F-F4A7-9D31-999277755BFF}"/>
              </a:ext>
            </a:extLst>
          </p:cNvPr>
          <p:cNvPicPr>
            <a:picLocks noChangeAspect="1"/>
          </p:cNvPicPr>
          <p:nvPr/>
        </p:nvPicPr>
        <p:blipFill>
          <a:blip r:embed="rId2"/>
          <a:stretch>
            <a:fillRect/>
          </a:stretch>
        </p:blipFill>
        <p:spPr>
          <a:xfrm>
            <a:off x="768627" y="3173624"/>
            <a:ext cx="7311096" cy="3600217"/>
          </a:xfrm>
          <a:prstGeom prst="rect">
            <a:avLst/>
          </a:prstGeom>
        </p:spPr>
      </p:pic>
    </p:spTree>
    <p:extLst>
      <p:ext uri="{BB962C8B-B14F-4D97-AF65-F5344CB8AC3E}">
        <p14:creationId xmlns:p14="http://schemas.microsoft.com/office/powerpoint/2010/main" val="1340306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03844-2332-2A52-5744-AA1D272EE31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6D942EA-F068-1A2B-CFD2-9C0A4C262852}"/>
              </a:ext>
            </a:extLst>
          </p:cNvPr>
          <p:cNvSpPr>
            <a:spLocks noGrp="1"/>
          </p:cNvSpPr>
          <p:nvPr>
            <p:ph type="title"/>
          </p:nvPr>
        </p:nvSpPr>
        <p:spPr/>
        <p:txBody>
          <a:bodyPr/>
          <a:lstStyle/>
          <a:p>
            <a:r>
              <a:rPr lang="zh-CN" altLang="en-US" dirty="0"/>
              <a:t>两跳</a:t>
            </a:r>
            <a:r>
              <a:rPr lang="en-US" altLang="zh-CN" dirty="0"/>
              <a:t>-</a:t>
            </a:r>
            <a:r>
              <a:rPr lang="zh-CN" altLang="en-US" dirty="0"/>
              <a:t>怎么查</a:t>
            </a:r>
          </a:p>
        </p:txBody>
      </p:sp>
      <p:sp>
        <p:nvSpPr>
          <p:cNvPr id="3" name="内容占位符 2">
            <a:extLst>
              <a:ext uri="{FF2B5EF4-FFF2-40B4-BE49-F238E27FC236}">
                <a16:creationId xmlns:a16="http://schemas.microsoft.com/office/drawing/2014/main" id="{F2C7030B-4922-E8DB-A83E-AAC21DBCBCCC}"/>
              </a:ext>
            </a:extLst>
          </p:cNvPr>
          <p:cNvSpPr>
            <a:spLocks noGrp="1"/>
          </p:cNvSpPr>
          <p:nvPr>
            <p:ph idx="1"/>
          </p:nvPr>
        </p:nvSpPr>
        <p:spPr/>
        <p:txBody>
          <a:bodyPr/>
          <a:lstStyle/>
          <a:p>
            <a:r>
              <a:rPr lang="zh-CN" altLang="en-US" dirty="0"/>
              <a:t>大模型以做题角度生成</a:t>
            </a:r>
            <a:r>
              <a:rPr lang="en-US" altLang="zh-CN" dirty="0"/>
              <a:t>cypher</a:t>
            </a:r>
            <a:r>
              <a:rPr lang="zh-CN" altLang="en-US" dirty="0"/>
              <a:t>→程序通过正则对原始</a:t>
            </a:r>
            <a:r>
              <a:rPr lang="en-US" altLang="zh-CN" dirty="0"/>
              <a:t>cypher</a:t>
            </a:r>
            <a:r>
              <a:rPr lang="zh-CN" altLang="en-US" dirty="0"/>
              <a:t>进行变量注入，强行返回涉及对象的</a:t>
            </a:r>
            <a:r>
              <a:rPr lang="en-US" altLang="zh-CN" dirty="0"/>
              <a:t>id</a:t>
            </a:r>
            <a:r>
              <a:rPr lang="zh-CN" altLang="en-US" dirty="0"/>
              <a:t>、关系的起始→将改写的</a:t>
            </a:r>
            <a:r>
              <a:rPr lang="en-US" altLang="zh-CN" dirty="0"/>
              <a:t>cypher</a:t>
            </a:r>
            <a:r>
              <a:rPr lang="zh-CN" altLang="en-US" dirty="0"/>
              <a:t>交给数据库查询→得到查询结果→程序提取→计算二跳</a:t>
            </a:r>
          </a:p>
        </p:txBody>
      </p:sp>
      <p:pic>
        <p:nvPicPr>
          <p:cNvPr id="5" name="图片 4" descr="文本&#10;&#10;AI 生成的内容可能不正确。">
            <a:extLst>
              <a:ext uri="{FF2B5EF4-FFF2-40B4-BE49-F238E27FC236}">
                <a16:creationId xmlns:a16="http://schemas.microsoft.com/office/drawing/2014/main" id="{B6F259C5-A33A-F53D-DE49-5C25E55E80D8}"/>
              </a:ext>
            </a:extLst>
          </p:cNvPr>
          <p:cNvPicPr>
            <a:picLocks noChangeAspect="1"/>
          </p:cNvPicPr>
          <p:nvPr/>
        </p:nvPicPr>
        <p:blipFill>
          <a:blip r:embed="rId2"/>
          <a:stretch>
            <a:fillRect/>
          </a:stretch>
        </p:blipFill>
        <p:spPr>
          <a:xfrm>
            <a:off x="1099930" y="3134110"/>
            <a:ext cx="4940607" cy="3723890"/>
          </a:xfrm>
          <a:prstGeom prst="rect">
            <a:avLst/>
          </a:prstGeom>
        </p:spPr>
      </p:pic>
    </p:spTree>
    <p:extLst>
      <p:ext uri="{BB962C8B-B14F-4D97-AF65-F5344CB8AC3E}">
        <p14:creationId xmlns:p14="http://schemas.microsoft.com/office/powerpoint/2010/main" val="2256810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4FFC3-6907-C649-E82E-22DFBBE2EC7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9FAF31E-7682-1AC9-D99B-1779B70FB4CE}"/>
              </a:ext>
            </a:extLst>
          </p:cNvPr>
          <p:cNvSpPr>
            <a:spLocks noGrp="1"/>
          </p:cNvSpPr>
          <p:nvPr>
            <p:ph type="title"/>
          </p:nvPr>
        </p:nvSpPr>
        <p:spPr/>
        <p:txBody>
          <a:bodyPr/>
          <a:lstStyle/>
          <a:p>
            <a:r>
              <a:rPr lang="zh-CN" altLang="en-US" dirty="0"/>
              <a:t>两跳</a:t>
            </a:r>
            <a:r>
              <a:rPr lang="en-US" altLang="zh-CN" dirty="0"/>
              <a:t>-</a:t>
            </a:r>
            <a:r>
              <a:rPr lang="zh-CN" altLang="en-US" dirty="0"/>
              <a:t>怎么查</a:t>
            </a:r>
          </a:p>
        </p:txBody>
      </p:sp>
      <p:sp>
        <p:nvSpPr>
          <p:cNvPr id="3" name="内容占位符 2">
            <a:extLst>
              <a:ext uri="{FF2B5EF4-FFF2-40B4-BE49-F238E27FC236}">
                <a16:creationId xmlns:a16="http://schemas.microsoft.com/office/drawing/2014/main" id="{3363FD02-243F-6803-FCB7-9654EA11C9ED}"/>
              </a:ext>
            </a:extLst>
          </p:cNvPr>
          <p:cNvSpPr>
            <a:spLocks noGrp="1"/>
          </p:cNvSpPr>
          <p:nvPr>
            <p:ph idx="1"/>
          </p:nvPr>
        </p:nvSpPr>
        <p:spPr/>
        <p:txBody>
          <a:bodyPr/>
          <a:lstStyle/>
          <a:p>
            <a:r>
              <a:rPr lang="zh-CN" altLang="en-US" dirty="0"/>
              <a:t>大模型以做题角度生成</a:t>
            </a:r>
            <a:r>
              <a:rPr lang="en-US" altLang="zh-CN" dirty="0"/>
              <a:t>cypher</a:t>
            </a:r>
            <a:r>
              <a:rPr lang="zh-CN" altLang="en-US" dirty="0"/>
              <a:t>→程序通过正则对原始</a:t>
            </a:r>
            <a:r>
              <a:rPr lang="en-US" altLang="zh-CN" dirty="0"/>
              <a:t>cypher</a:t>
            </a:r>
            <a:r>
              <a:rPr lang="zh-CN" altLang="en-US" dirty="0"/>
              <a:t>进行变量注入，强行返回涉及对象的</a:t>
            </a:r>
            <a:r>
              <a:rPr lang="en-US" altLang="zh-CN" dirty="0"/>
              <a:t>id</a:t>
            </a:r>
            <a:r>
              <a:rPr lang="zh-CN" altLang="en-US" dirty="0"/>
              <a:t>、关系的起始→将改写的</a:t>
            </a:r>
            <a:r>
              <a:rPr lang="en-US" altLang="zh-CN" dirty="0"/>
              <a:t>cypher</a:t>
            </a:r>
            <a:r>
              <a:rPr lang="zh-CN" altLang="en-US" dirty="0"/>
              <a:t>交给数据库查询→得到查询结果→程序提取→计算二跳</a:t>
            </a:r>
          </a:p>
        </p:txBody>
      </p:sp>
      <p:pic>
        <p:nvPicPr>
          <p:cNvPr id="6" name="图片 5" descr="文本&#10;&#10;AI 生成的内容可能不正确。">
            <a:extLst>
              <a:ext uri="{FF2B5EF4-FFF2-40B4-BE49-F238E27FC236}">
                <a16:creationId xmlns:a16="http://schemas.microsoft.com/office/drawing/2014/main" id="{16BFBF33-5E14-0ED3-8474-9AF503B9F0ED}"/>
              </a:ext>
            </a:extLst>
          </p:cNvPr>
          <p:cNvPicPr>
            <a:picLocks noChangeAspect="1"/>
          </p:cNvPicPr>
          <p:nvPr/>
        </p:nvPicPr>
        <p:blipFill>
          <a:blip r:embed="rId2"/>
          <a:stretch>
            <a:fillRect/>
          </a:stretch>
        </p:blipFill>
        <p:spPr>
          <a:xfrm>
            <a:off x="1060174" y="3429000"/>
            <a:ext cx="4895029" cy="3211880"/>
          </a:xfrm>
          <a:prstGeom prst="rect">
            <a:avLst/>
          </a:prstGeom>
        </p:spPr>
      </p:pic>
    </p:spTree>
    <p:extLst>
      <p:ext uri="{BB962C8B-B14F-4D97-AF65-F5344CB8AC3E}">
        <p14:creationId xmlns:p14="http://schemas.microsoft.com/office/powerpoint/2010/main" val="1886484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9FF10-3031-D665-1F06-C38EB104A2F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20C089C-3A04-D80D-5D3E-0C9B311E0D18}"/>
              </a:ext>
            </a:extLst>
          </p:cNvPr>
          <p:cNvSpPr>
            <a:spLocks noGrp="1"/>
          </p:cNvSpPr>
          <p:nvPr>
            <p:ph type="title"/>
          </p:nvPr>
        </p:nvSpPr>
        <p:spPr/>
        <p:txBody>
          <a:bodyPr/>
          <a:lstStyle/>
          <a:p>
            <a:r>
              <a:rPr lang="zh-CN" altLang="en-US" dirty="0"/>
              <a:t>两跳</a:t>
            </a:r>
            <a:r>
              <a:rPr lang="en-US" altLang="zh-CN" dirty="0"/>
              <a:t>-</a:t>
            </a:r>
            <a:r>
              <a:rPr lang="zh-CN" altLang="en-US" dirty="0"/>
              <a:t>怎么查</a:t>
            </a:r>
          </a:p>
        </p:txBody>
      </p:sp>
      <p:sp>
        <p:nvSpPr>
          <p:cNvPr id="3" name="内容占位符 2">
            <a:extLst>
              <a:ext uri="{FF2B5EF4-FFF2-40B4-BE49-F238E27FC236}">
                <a16:creationId xmlns:a16="http://schemas.microsoft.com/office/drawing/2014/main" id="{078C9A7C-3E54-BFA6-CE58-C3E6E916A576}"/>
              </a:ext>
            </a:extLst>
          </p:cNvPr>
          <p:cNvSpPr>
            <a:spLocks noGrp="1"/>
          </p:cNvSpPr>
          <p:nvPr>
            <p:ph idx="1"/>
          </p:nvPr>
        </p:nvSpPr>
        <p:spPr/>
        <p:txBody>
          <a:bodyPr/>
          <a:lstStyle/>
          <a:p>
            <a:r>
              <a:rPr lang="zh-CN" altLang="en-US" dirty="0"/>
              <a:t>大模型以做题角度生成</a:t>
            </a:r>
            <a:r>
              <a:rPr lang="en-US" altLang="zh-CN" dirty="0"/>
              <a:t>cypher</a:t>
            </a:r>
            <a:r>
              <a:rPr lang="zh-CN" altLang="en-US" dirty="0"/>
              <a:t>→程序通过正则对原始</a:t>
            </a:r>
            <a:r>
              <a:rPr lang="en-US" altLang="zh-CN" dirty="0"/>
              <a:t>cypher</a:t>
            </a:r>
            <a:r>
              <a:rPr lang="zh-CN" altLang="en-US" dirty="0"/>
              <a:t>进行变量注入，强行返回涉及对象的</a:t>
            </a:r>
            <a:r>
              <a:rPr lang="en-US" altLang="zh-CN" dirty="0"/>
              <a:t>id</a:t>
            </a:r>
            <a:r>
              <a:rPr lang="zh-CN" altLang="en-US" dirty="0"/>
              <a:t>、关系的起始→将改写的</a:t>
            </a:r>
            <a:r>
              <a:rPr lang="en-US" altLang="zh-CN" dirty="0"/>
              <a:t>cypher</a:t>
            </a:r>
            <a:r>
              <a:rPr lang="zh-CN" altLang="en-US" dirty="0"/>
              <a:t>交给数据库查询→得到查询结果→程序提取→计算二跳</a:t>
            </a:r>
          </a:p>
        </p:txBody>
      </p:sp>
      <p:pic>
        <p:nvPicPr>
          <p:cNvPr id="5" name="图片 4" descr="文本&#10;&#10;AI 生成的内容可能不正确。">
            <a:extLst>
              <a:ext uri="{FF2B5EF4-FFF2-40B4-BE49-F238E27FC236}">
                <a16:creationId xmlns:a16="http://schemas.microsoft.com/office/drawing/2014/main" id="{184A9AD0-5397-336C-1062-F48D81116A14}"/>
              </a:ext>
            </a:extLst>
          </p:cNvPr>
          <p:cNvPicPr>
            <a:picLocks noChangeAspect="1"/>
          </p:cNvPicPr>
          <p:nvPr/>
        </p:nvPicPr>
        <p:blipFill>
          <a:blip r:embed="rId2"/>
          <a:stretch>
            <a:fillRect/>
          </a:stretch>
        </p:blipFill>
        <p:spPr>
          <a:xfrm>
            <a:off x="838200" y="3361418"/>
            <a:ext cx="7994374" cy="3338076"/>
          </a:xfrm>
          <a:prstGeom prst="rect">
            <a:avLst/>
          </a:prstGeom>
        </p:spPr>
      </p:pic>
    </p:spTree>
    <p:extLst>
      <p:ext uri="{BB962C8B-B14F-4D97-AF65-F5344CB8AC3E}">
        <p14:creationId xmlns:p14="http://schemas.microsoft.com/office/powerpoint/2010/main" val="2704629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3445A-1D20-4FF3-EC3E-DA34A3CE71E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843179-6759-D48B-8B67-5F9DB595C5E9}"/>
              </a:ext>
            </a:extLst>
          </p:cNvPr>
          <p:cNvSpPr>
            <a:spLocks noGrp="1"/>
          </p:cNvSpPr>
          <p:nvPr>
            <p:ph type="title"/>
          </p:nvPr>
        </p:nvSpPr>
        <p:spPr/>
        <p:txBody>
          <a:bodyPr/>
          <a:lstStyle/>
          <a:p>
            <a:r>
              <a:rPr lang="zh-CN" altLang="en-US" dirty="0"/>
              <a:t>两跳</a:t>
            </a:r>
            <a:r>
              <a:rPr lang="en-US" altLang="zh-CN" dirty="0"/>
              <a:t>-</a:t>
            </a:r>
            <a:r>
              <a:rPr lang="zh-CN" altLang="en-US" dirty="0"/>
              <a:t>怎么查</a:t>
            </a:r>
          </a:p>
        </p:txBody>
      </p:sp>
      <p:sp>
        <p:nvSpPr>
          <p:cNvPr id="3" name="内容占位符 2">
            <a:extLst>
              <a:ext uri="{FF2B5EF4-FFF2-40B4-BE49-F238E27FC236}">
                <a16:creationId xmlns:a16="http://schemas.microsoft.com/office/drawing/2014/main" id="{C1922C94-499A-8430-3B75-552A4DBCA5D9}"/>
              </a:ext>
            </a:extLst>
          </p:cNvPr>
          <p:cNvSpPr>
            <a:spLocks noGrp="1"/>
          </p:cNvSpPr>
          <p:nvPr>
            <p:ph idx="1"/>
          </p:nvPr>
        </p:nvSpPr>
        <p:spPr/>
        <p:txBody>
          <a:bodyPr/>
          <a:lstStyle/>
          <a:p>
            <a:r>
              <a:rPr lang="zh-CN" altLang="en-US" dirty="0"/>
              <a:t>这个方法受限于二跳的预设格式数量以及大模型能否以这么标准的形式输出链式查询</a:t>
            </a:r>
          </a:p>
        </p:txBody>
      </p:sp>
      <p:pic>
        <p:nvPicPr>
          <p:cNvPr id="6" name="图片 5" descr="文本&#10;&#10;AI 生成的内容可能不正确。">
            <a:extLst>
              <a:ext uri="{FF2B5EF4-FFF2-40B4-BE49-F238E27FC236}">
                <a16:creationId xmlns:a16="http://schemas.microsoft.com/office/drawing/2014/main" id="{79CA90B6-32D4-2019-616B-BB33C2C27C84}"/>
              </a:ext>
            </a:extLst>
          </p:cNvPr>
          <p:cNvPicPr>
            <a:picLocks noChangeAspect="1"/>
          </p:cNvPicPr>
          <p:nvPr/>
        </p:nvPicPr>
        <p:blipFill>
          <a:blip r:embed="rId2"/>
          <a:stretch>
            <a:fillRect/>
          </a:stretch>
        </p:blipFill>
        <p:spPr>
          <a:xfrm>
            <a:off x="838200" y="2717223"/>
            <a:ext cx="8716591" cy="4001058"/>
          </a:xfrm>
          <a:prstGeom prst="rect">
            <a:avLst/>
          </a:prstGeom>
        </p:spPr>
      </p:pic>
    </p:spTree>
    <p:extLst>
      <p:ext uri="{BB962C8B-B14F-4D97-AF65-F5344CB8AC3E}">
        <p14:creationId xmlns:p14="http://schemas.microsoft.com/office/powerpoint/2010/main" val="2115013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952899-B772-4714-5716-27B3774A5119}"/>
              </a:ext>
            </a:extLst>
          </p:cNvPr>
          <p:cNvSpPr>
            <a:spLocks noGrp="1"/>
          </p:cNvSpPr>
          <p:nvPr>
            <p:ph type="title"/>
          </p:nvPr>
        </p:nvSpPr>
        <p:spPr/>
        <p:txBody>
          <a:bodyPr/>
          <a:lstStyle/>
          <a:p>
            <a:r>
              <a:rPr lang="zh-CN" altLang="en-US" dirty="0"/>
              <a:t>比较问题算</a:t>
            </a:r>
            <a:r>
              <a:rPr lang="en-US" altLang="zh-CN" dirty="0"/>
              <a:t>L2</a:t>
            </a:r>
            <a:r>
              <a:rPr lang="zh-CN" altLang="en-US" dirty="0"/>
              <a:t>还是更复杂的问题</a:t>
            </a:r>
          </a:p>
        </p:txBody>
      </p:sp>
      <p:sp>
        <p:nvSpPr>
          <p:cNvPr id="3" name="内容占位符 2">
            <a:extLst>
              <a:ext uri="{FF2B5EF4-FFF2-40B4-BE49-F238E27FC236}">
                <a16:creationId xmlns:a16="http://schemas.microsoft.com/office/drawing/2014/main" id="{ABB5FEB4-2F5D-AE6F-0931-7161B09FBE2E}"/>
              </a:ext>
            </a:extLst>
          </p:cNvPr>
          <p:cNvSpPr>
            <a:spLocks noGrp="1"/>
          </p:cNvSpPr>
          <p:nvPr>
            <p:ph idx="1"/>
          </p:nvPr>
        </p:nvSpPr>
        <p:spPr/>
        <p:txBody>
          <a:bodyPr/>
          <a:lstStyle/>
          <a:p>
            <a:r>
              <a:rPr lang="zh-CN" altLang="en-US" dirty="0"/>
              <a:t>这道题</a:t>
            </a:r>
            <a:r>
              <a:rPr lang="en-US" altLang="zh-CN" dirty="0"/>
              <a:t>status</a:t>
            </a:r>
            <a:r>
              <a:rPr lang="zh-CN" altLang="en-US" dirty="0"/>
              <a:t>和</a:t>
            </a:r>
            <a:r>
              <a:rPr lang="en-US" altLang="zh-CN" dirty="0"/>
              <a:t>status</a:t>
            </a:r>
            <a:r>
              <a:rPr lang="zh-CN" altLang="en-US" dirty="0"/>
              <a:t>相比到底建不建边</a:t>
            </a:r>
          </a:p>
        </p:txBody>
      </p:sp>
      <p:pic>
        <p:nvPicPr>
          <p:cNvPr id="5" name="图片 4" descr="文本&#10;&#10;AI 生成的内容可能不正确。">
            <a:extLst>
              <a:ext uri="{FF2B5EF4-FFF2-40B4-BE49-F238E27FC236}">
                <a16:creationId xmlns:a16="http://schemas.microsoft.com/office/drawing/2014/main" id="{28586518-C5FC-8F46-8B0F-23F2703BA1B0}"/>
              </a:ext>
            </a:extLst>
          </p:cNvPr>
          <p:cNvPicPr>
            <a:picLocks noChangeAspect="1"/>
          </p:cNvPicPr>
          <p:nvPr/>
        </p:nvPicPr>
        <p:blipFill>
          <a:blip r:embed="rId2"/>
          <a:stretch>
            <a:fillRect/>
          </a:stretch>
        </p:blipFill>
        <p:spPr>
          <a:xfrm>
            <a:off x="838200" y="2476223"/>
            <a:ext cx="6611273" cy="2114845"/>
          </a:xfrm>
          <a:prstGeom prst="rect">
            <a:avLst/>
          </a:prstGeom>
        </p:spPr>
      </p:pic>
    </p:spTree>
    <p:extLst>
      <p:ext uri="{BB962C8B-B14F-4D97-AF65-F5344CB8AC3E}">
        <p14:creationId xmlns:p14="http://schemas.microsoft.com/office/powerpoint/2010/main" val="2373934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937E8D-C636-FDE4-733B-698F6ABCA5E0}"/>
              </a:ext>
            </a:extLst>
          </p:cNvPr>
          <p:cNvSpPr>
            <a:spLocks noGrp="1"/>
          </p:cNvSpPr>
          <p:nvPr>
            <p:ph type="title"/>
          </p:nvPr>
        </p:nvSpPr>
        <p:spPr>
          <a:xfrm>
            <a:off x="838200" y="404882"/>
            <a:ext cx="10515600" cy="1325563"/>
          </a:xfrm>
        </p:spPr>
        <p:txBody>
          <a:bodyPr/>
          <a:lstStyle/>
          <a:p>
            <a:r>
              <a:rPr lang="zh-CN" altLang="en-US" dirty="0"/>
              <a:t>比</a:t>
            </a:r>
            <a:r>
              <a:rPr lang="en-US" altLang="zh-CN" dirty="0"/>
              <a:t>L2</a:t>
            </a:r>
            <a:r>
              <a:rPr lang="zh-CN" altLang="en-US" dirty="0"/>
              <a:t>更复杂的问题</a:t>
            </a:r>
          </a:p>
        </p:txBody>
      </p:sp>
      <p:sp>
        <p:nvSpPr>
          <p:cNvPr id="3" name="内容占位符 2">
            <a:extLst>
              <a:ext uri="{FF2B5EF4-FFF2-40B4-BE49-F238E27FC236}">
                <a16:creationId xmlns:a16="http://schemas.microsoft.com/office/drawing/2014/main" id="{96C05F7A-45AB-F28D-D304-D4570B73C72E}"/>
              </a:ext>
            </a:extLst>
          </p:cNvPr>
          <p:cNvSpPr>
            <a:spLocks noGrp="1"/>
          </p:cNvSpPr>
          <p:nvPr>
            <p:ph idx="1"/>
          </p:nvPr>
        </p:nvSpPr>
        <p:spPr/>
        <p:txBody>
          <a:bodyPr/>
          <a:lstStyle/>
          <a:p>
            <a:r>
              <a:rPr lang="zh-CN" altLang="en-US" dirty="0"/>
              <a:t>相对来说这类题不少，有统计需求</a:t>
            </a:r>
            <a:endParaRPr lang="en-US" altLang="zh-CN" dirty="0"/>
          </a:p>
          <a:p>
            <a:r>
              <a:rPr lang="zh-CN" altLang="en-US" dirty="0"/>
              <a:t>怎么细分，否则分母不好算</a:t>
            </a:r>
          </a:p>
        </p:txBody>
      </p:sp>
    </p:spTree>
    <p:extLst>
      <p:ext uri="{BB962C8B-B14F-4D97-AF65-F5344CB8AC3E}">
        <p14:creationId xmlns:p14="http://schemas.microsoft.com/office/powerpoint/2010/main" val="9019295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A519F-74FA-1C3D-8045-0FB1A2DDAE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D9813C-0D6E-B811-E91D-A2FB1944F6DB}"/>
              </a:ext>
            </a:extLst>
          </p:cNvPr>
          <p:cNvSpPr>
            <a:spLocks noGrp="1"/>
          </p:cNvSpPr>
          <p:nvPr>
            <p:ph type="title"/>
          </p:nvPr>
        </p:nvSpPr>
        <p:spPr/>
        <p:txBody>
          <a:bodyPr/>
          <a:lstStyle/>
          <a:p>
            <a:r>
              <a:rPr lang="zh-CN" altLang="en-US" dirty="0"/>
              <a:t>物体过滤</a:t>
            </a:r>
          </a:p>
        </p:txBody>
      </p:sp>
      <p:sp>
        <p:nvSpPr>
          <p:cNvPr id="3" name="内容占位符 2">
            <a:extLst>
              <a:ext uri="{FF2B5EF4-FFF2-40B4-BE49-F238E27FC236}">
                <a16:creationId xmlns:a16="http://schemas.microsoft.com/office/drawing/2014/main" id="{339EC973-89B2-F523-44B7-75646D88C713}"/>
              </a:ext>
            </a:extLst>
          </p:cNvPr>
          <p:cNvSpPr>
            <a:spLocks noGrp="1"/>
          </p:cNvSpPr>
          <p:nvPr>
            <p:ph idx="1"/>
          </p:nvPr>
        </p:nvSpPr>
        <p:spPr/>
        <p:txBody>
          <a:bodyPr/>
          <a:lstStyle/>
          <a:p>
            <a:endParaRPr lang="zh-CN" altLang="en-US" dirty="0"/>
          </a:p>
        </p:txBody>
      </p:sp>
      <p:pic>
        <p:nvPicPr>
          <p:cNvPr id="6" name="图片 5" descr="表格&#10;&#10;AI 生成的内容可能不正确。">
            <a:extLst>
              <a:ext uri="{FF2B5EF4-FFF2-40B4-BE49-F238E27FC236}">
                <a16:creationId xmlns:a16="http://schemas.microsoft.com/office/drawing/2014/main" id="{79558FA8-48D8-58C5-5C87-5EE79A823C18}"/>
              </a:ext>
            </a:extLst>
          </p:cNvPr>
          <p:cNvPicPr>
            <a:picLocks noChangeAspect="1"/>
          </p:cNvPicPr>
          <p:nvPr/>
        </p:nvPicPr>
        <p:blipFill>
          <a:blip r:embed="rId2"/>
          <a:stretch>
            <a:fillRect/>
          </a:stretch>
        </p:blipFill>
        <p:spPr>
          <a:xfrm>
            <a:off x="0" y="4433841"/>
            <a:ext cx="12192000" cy="1954764"/>
          </a:xfrm>
          <a:prstGeom prst="rect">
            <a:avLst/>
          </a:prstGeom>
        </p:spPr>
      </p:pic>
      <p:pic>
        <p:nvPicPr>
          <p:cNvPr id="9" name="图片 8" descr="文本&#10;&#10;AI 生成的内容可能不正确。">
            <a:extLst>
              <a:ext uri="{FF2B5EF4-FFF2-40B4-BE49-F238E27FC236}">
                <a16:creationId xmlns:a16="http://schemas.microsoft.com/office/drawing/2014/main" id="{F15E9AF0-6E2B-2735-3FB8-8527B0162B57}"/>
              </a:ext>
            </a:extLst>
          </p:cNvPr>
          <p:cNvPicPr>
            <a:picLocks noChangeAspect="1"/>
          </p:cNvPicPr>
          <p:nvPr/>
        </p:nvPicPr>
        <p:blipFill>
          <a:blip r:embed="rId3"/>
          <a:stretch>
            <a:fillRect/>
          </a:stretch>
        </p:blipFill>
        <p:spPr>
          <a:xfrm>
            <a:off x="3780338" y="435109"/>
            <a:ext cx="7182489" cy="3931263"/>
          </a:xfrm>
          <a:prstGeom prst="rect">
            <a:avLst/>
          </a:prstGeom>
        </p:spPr>
      </p:pic>
    </p:spTree>
    <p:extLst>
      <p:ext uri="{BB962C8B-B14F-4D97-AF65-F5344CB8AC3E}">
        <p14:creationId xmlns:p14="http://schemas.microsoft.com/office/powerpoint/2010/main" val="920210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F15430-4ABD-F609-E045-0EC0C4D2A431}"/>
              </a:ext>
            </a:extLst>
          </p:cNvPr>
          <p:cNvSpPr>
            <a:spLocks noGrp="1"/>
          </p:cNvSpPr>
          <p:nvPr>
            <p:ph type="title"/>
          </p:nvPr>
        </p:nvSpPr>
        <p:spPr/>
        <p:txBody>
          <a:bodyPr/>
          <a:lstStyle/>
          <a:p>
            <a:r>
              <a:rPr lang="zh-CN" altLang="en-US" dirty="0"/>
              <a:t>物体过滤</a:t>
            </a:r>
          </a:p>
        </p:txBody>
      </p:sp>
      <p:sp>
        <p:nvSpPr>
          <p:cNvPr id="3" name="内容占位符 2">
            <a:extLst>
              <a:ext uri="{FF2B5EF4-FFF2-40B4-BE49-F238E27FC236}">
                <a16:creationId xmlns:a16="http://schemas.microsoft.com/office/drawing/2014/main" id="{7D7FE7A3-358C-0BB6-7561-8AFC2605DAB5}"/>
              </a:ext>
            </a:extLst>
          </p:cNvPr>
          <p:cNvSpPr>
            <a:spLocks noGrp="1"/>
          </p:cNvSpPr>
          <p:nvPr>
            <p:ph idx="1"/>
          </p:nvPr>
        </p:nvSpPr>
        <p:spPr/>
        <p:txBody>
          <a:bodyPr/>
          <a:lstStyle/>
          <a:p>
            <a:endParaRPr lang="zh-CN" altLang="en-US"/>
          </a:p>
        </p:txBody>
      </p:sp>
      <p:pic>
        <p:nvPicPr>
          <p:cNvPr id="5" name="图片 4" descr="图形用户界面, 表格&#10;&#10;AI 生成的内容可能不正确。">
            <a:extLst>
              <a:ext uri="{FF2B5EF4-FFF2-40B4-BE49-F238E27FC236}">
                <a16:creationId xmlns:a16="http://schemas.microsoft.com/office/drawing/2014/main" id="{B2CA3962-4A6F-AFF0-710E-6817F733B8E7}"/>
              </a:ext>
            </a:extLst>
          </p:cNvPr>
          <p:cNvPicPr>
            <a:picLocks noChangeAspect="1"/>
          </p:cNvPicPr>
          <p:nvPr/>
        </p:nvPicPr>
        <p:blipFill>
          <a:blip r:embed="rId2"/>
          <a:stretch>
            <a:fillRect/>
          </a:stretch>
        </p:blipFill>
        <p:spPr>
          <a:xfrm>
            <a:off x="705746" y="1322567"/>
            <a:ext cx="10258872" cy="5170308"/>
          </a:xfrm>
          <a:prstGeom prst="rect">
            <a:avLst/>
          </a:prstGeom>
        </p:spPr>
      </p:pic>
    </p:spTree>
    <p:extLst>
      <p:ext uri="{BB962C8B-B14F-4D97-AF65-F5344CB8AC3E}">
        <p14:creationId xmlns:p14="http://schemas.microsoft.com/office/powerpoint/2010/main" val="650492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4415A-5F12-5B73-9A48-C7D2E1DBC42E}"/>
              </a:ext>
            </a:extLst>
          </p:cNvPr>
          <p:cNvSpPr>
            <a:spLocks noGrp="1"/>
          </p:cNvSpPr>
          <p:nvPr>
            <p:ph type="title"/>
          </p:nvPr>
        </p:nvSpPr>
        <p:spPr/>
        <p:txBody>
          <a:bodyPr/>
          <a:lstStyle/>
          <a:p>
            <a:r>
              <a:rPr lang="zh-CN" altLang="en-US" dirty="0"/>
              <a:t>图像标注</a:t>
            </a:r>
          </a:p>
        </p:txBody>
      </p:sp>
      <p:sp>
        <p:nvSpPr>
          <p:cNvPr id="3" name="内容占位符 2">
            <a:extLst>
              <a:ext uri="{FF2B5EF4-FFF2-40B4-BE49-F238E27FC236}">
                <a16:creationId xmlns:a16="http://schemas.microsoft.com/office/drawing/2014/main" id="{249C2811-CC75-11B2-0A11-5BDA1AE96CBD}"/>
              </a:ext>
            </a:extLst>
          </p:cNvPr>
          <p:cNvSpPr>
            <a:spLocks noGrp="1"/>
          </p:cNvSpPr>
          <p:nvPr>
            <p:ph idx="1"/>
          </p:nvPr>
        </p:nvSpPr>
        <p:spPr/>
        <p:txBody>
          <a:bodyPr/>
          <a:lstStyle/>
          <a:p>
            <a:endParaRPr lang="zh-CN" altLang="en-US"/>
          </a:p>
        </p:txBody>
      </p:sp>
      <p:pic>
        <p:nvPicPr>
          <p:cNvPr id="5" name="图片 4" descr="文本&#10;&#10;AI 生成的内容可能不正确。">
            <a:extLst>
              <a:ext uri="{FF2B5EF4-FFF2-40B4-BE49-F238E27FC236}">
                <a16:creationId xmlns:a16="http://schemas.microsoft.com/office/drawing/2014/main" id="{9893A810-2A96-30EE-155B-6ED7CF9CBC7F}"/>
              </a:ext>
            </a:extLst>
          </p:cNvPr>
          <p:cNvPicPr>
            <a:picLocks noChangeAspect="1"/>
          </p:cNvPicPr>
          <p:nvPr/>
        </p:nvPicPr>
        <p:blipFill>
          <a:blip r:embed="rId2"/>
          <a:stretch>
            <a:fillRect/>
          </a:stretch>
        </p:blipFill>
        <p:spPr>
          <a:xfrm>
            <a:off x="3215506" y="0"/>
            <a:ext cx="8878539" cy="6811326"/>
          </a:xfrm>
          <a:prstGeom prst="rect">
            <a:avLst/>
          </a:prstGeom>
        </p:spPr>
      </p:pic>
    </p:spTree>
    <p:extLst>
      <p:ext uri="{BB962C8B-B14F-4D97-AF65-F5344CB8AC3E}">
        <p14:creationId xmlns:p14="http://schemas.microsoft.com/office/powerpoint/2010/main" val="4055525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5A5A85-91B0-5059-0609-22051A4E1448}"/>
              </a:ext>
            </a:extLst>
          </p:cNvPr>
          <p:cNvSpPr>
            <a:spLocks noGrp="1"/>
          </p:cNvSpPr>
          <p:nvPr>
            <p:ph type="title"/>
          </p:nvPr>
        </p:nvSpPr>
        <p:spPr/>
        <p:txBody>
          <a:bodyPr/>
          <a:lstStyle/>
          <a:p>
            <a:r>
              <a:rPr lang="en-US" altLang="zh-CN" dirty="0"/>
              <a:t>3D BBOX</a:t>
            </a:r>
            <a:r>
              <a:rPr lang="zh-CN" altLang="en-US" dirty="0"/>
              <a:t>投影</a:t>
            </a:r>
            <a:r>
              <a:rPr lang="en-US" altLang="zh-CN" dirty="0"/>
              <a:t>(3D </a:t>
            </a:r>
            <a:r>
              <a:rPr lang="en-US" altLang="zh-CN" dirty="0" err="1"/>
              <a:t>BBox</a:t>
            </a:r>
            <a:r>
              <a:rPr lang="en-US" altLang="zh-CN" dirty="0"/>
              <a:t> Projection)</a:t>
            </a:r>
            <a:endParaRPr lang="zh-CN" altLang="en-US" dirty="0"/>
          </a:p>
        </p:txBody>
      </p:sp>
      <p:sp>
        <p:nvSpPr>
          <p:cNvPr id="3" name="内容占位符 2">
            <a:extLst>
              <a:ext uri="{FF2B5EF4-FFF2-40B4-BE49-F238E27FC236}">
                <a16:creationId xmlns:a16="http://schemas.microsoft.com/office/drawing/2014/main" id="{27E70478-4C22-EA0B-57DF-BB0443B7B1DF}"/>
              </a:ext>
            </a:extLst>
          </p:cNvPr>
          <p:cNvSpPr>
            <a:spLocks noGrp="1"/>
          </p:cNvSpPr>
          <p:nvPr>
            <p:ph idx="1"/>
          </p:nvPr>
        </p:nvSpPr>
        <p:spPr/>
        <p:txBody>
          <a:bodyPr/>
          <a:lstStyle/>
          <a:p>
            <a:r>
              <a:rPr lang="zh-CN" altLang="en-US" dirty="0"/>
              <a:t>逻辑：先由人手工在</a:t>
            </a:r>
            <a:r>
              <a:rPr lang="en-US" altLang="zh-CN" dirty="0"/>
              <a:t>3D</a:t>
            </a:r>
            <a:r>
              <a:rPr lang="zh-CN" altLang="en-US" dirty="0"/>
              <a:t>点云中画一个立方体（</a:t>
            </a:r>
            <a:r>
              <a:rPr lang="en-US" altLang="zh-CN" dirty="0"/>
              <a:t>Cuboid</a:t>
            </a:r>
            <a:r>
              <a:rPr lang="zh-CN" altLang="en-US" dirty="0"/>
              <a:t>），然后根据相机的内外参，把这个立方体的</a:t>
            </a:r>
            <a:r>
              <a:rPr lang="en-US" altLang="zh-CN" dirty="0"/>
              <a:t>8</a:t>
            </a:r>
            <a:r>
              <a:rPr lang="zh-CN" altLang="en-US" dirty="0"/>
              <a:t>个角点投射到</a:t>
            </a:r>
            <a:r>
              <a:rPr lang="en-US" altLang="zh-CN" dirty="0"/>
              <a:t>2D</a:t>
            </a:r>
            <a:r>
              <a:rPr lang="zh-CN" altLang="en-US" dirty="0"/>
              <a:t>图像上，形成一个</a:t>
            </a:r>
            <a:r>
              <a:rPr lang="en-US" altLang="zh-CN" dirty="0"/>
              <a:t>2D</a:t>
            </a:r>
            <a:r>
              <a:rPr lang="zh-CN" altLang="en-US" dirty="0"/>
              <a:t>矩形框。</a:t>
            </a:r>
            <a:endParaRPr lang="en-US" altLang="zh-CN" dirty="0"/>
          </a:p>
          <a:p>
            <a:r>
              <a:rPr lang="zh-CN" altLang="en-US" dirty="0"/>
              <a:t>视觉效果：一个完整的矩形框，把物体包在里面。</a:t>
            </a:r>
            <a:endParaRPr lang="en-US" altLang="zh-CN" dirty="0"/>
          </a:p>
          <a:p>
            <a:endParaRPr lang="en-US" altLang="zh-CN" dirty="0"/>
          </a:p>
          <a:p>
            <a:r>
              <a:rPr lang="zh-CN" altLang="en-US" dirty="0"/>
              <a:t>圈入背景像素，遮挡歧义</a:t>
            </a:r>
          </a:p>
        </p:txBody>
      </p:sp>
    </p:spTree>
    <p:extLst>
      <p:ext uri="{BB962C8B-B14F-4D97-AF65-F5344CB8AC3E}">
        <p14:creationId xmlns:p14="http://schemas.microsoft.com/office/powerpoint/2010/main" val="2661151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49B49D-EEC3-0C72-84F7-C1A56DE01B90}"/>
              </a:ext>
            </a:extLst>
          </p:cNvPr>
          <p:cNvSpPr>
            <a:spLocks noGrp="1"/>
          </p:cNvSpPr>
          <p:nvPr>
            <p:ph type="title"/>
          </p:nvPr>
        </p:nvSpPr>
        <p:spPr/>
        <p:txBody>
          <a:bodyPr/>
          <a:lstStyle/>
          <a:p>
            <a:r>
              <a:rPr lang="en-US" altLang="zh-CN" dirty="0"/>
              <a:t>Panoptic Mask </a:t>
            </a:r>
            <a:r>
              <a:rPr lang="zh-CN" altLang="en-US" dirty="0"/>
              <a:t>投影 </a:t>
            </a:r>
            <a:r>
              <a:rPr lang="en-US" altLang="zh-CN" dirty="0"/>
              <a:t>(LiDAR Projection)</a:t>
            </a:r>
            <a:endParaRPr lang="zh-CN" altLang="en-US" dirty="0"/>
          </a:p>
        </p:txBody>
      </p:sp>
      <p:sp>
        <p:nvSpPr>
          <p:cNvPr id="3" name="内容占位符 2">
            <a:extLst>
              <a:ext uri="{FF2B5EF4-FFF2-40B4-BE49-F238E27FC236}">
                <a16:creationId xmlns:a16="http://schemas.microsoft.com/office/drawing/2014/main" id="{ABA48816-BEAF-752D-7933-C30970B5902F}"/>
              </a:ext>
            </a:extLst>
          </p:cNvPr>
          <p:cNvSpPr>
            <a:spLocks noGrp="1"/>
          </p:cNvSpPr>
          <p:nvPr>
            <p:ph idx="1"/>
          </p:nvPr>
        </p:nvSpPr>
        <p:spPr/>
        <p:txBody>
          <a:bodyPr/>
          <a:lstStyle/>
          <a:p>
            <a:r>
              <a:rPr lang="zh-CN" altLang="en-US" dirty="0"/>
              <a:t>逻辑：把</a:t>
            </a:r>
            <a:r>
              <a:rPr lang="en-US" altLang="zh-CN" dirty="0"/>
              <a:t>LiDAR</a:t>
            </a:r>
            <a:r>
              <a:rPr lang="zh-CN" altLang="en-US" dirty="0"/>
              <a:t>打到的每一个带标签的点（</a:t>
            </a:r>
            <a:r>
              <a:rPr lang="en-US" altLang="zh-CN" dirty="0"/>
              <a:t>Point</a:t>
            </a:r>
            <a:r>
              <a:rPr lang="zh-CN" altLang="en-US" dirty="0"/>
              <a:t>），投射到图像平面上。</a:t>
            </a:r>
            <a:endParaRPr lang="en-US" altLang="zh-CN" dirty="0"/>
          </a:p>
          <a:p>
            <a:r>
              <a:rPr lang="zh-CN" altLang="en-US" dirty="0"/>
              <a:t>视觉效果：非常稀疏的“麻子点”。图像上只有激光雷达扫到的那几个像素点有颜色，其他地方是空的。</a:t>
            </a:r>
            <a:endParaRPr lang="en-US" altLang="zh-CN" dirty="0"/>
          </a:p>
          <a:p>
            <a:endParaRPr lang="en-US" altLang="zh-CN" dirty="0"/>
          </a:p>
          <a:p>
            <a:r>
              <a:rPr lang="zh-CN" altLang="en-US" dirty="0"/>
              <a:t>深度精准</a:t>
            </a:r>
            <a:endParaRPr lang="en-US" altLang="zh-CN" dirty="0"/>
          </a:p>
          <a:p>
            <a:r>
              <a:rPr lang="zh-CN" altLang="en-US" dirty="0"/>
              <a:t>稀疏性</a:t>
            </a:r>
            <a:endParaRPr lang="en-US" altLang="zh-CN" dirty="0"/>
          </a:p>
          <a:p>
            <a:r>
              <a:rPr lang="zh-CN" altLang="en-US" dirty="0"/>
              <a:t>由于</a:t>
            </a:r>
            <a:r>
              <a:rPr lang="en-US" altLang="zh-CN" dirty="0"/>
              <a:t>LiDAR</a:t>
            </a:r>
            <a:r>
              <a:rPr lang="zh-CN" altLang="en-US" dirty="0"/>
              <a:t>和相机有安装位置差和时间同步差，投影边缘往往对不齐</a:t>
            </a:r>
          </a:p>
        </p:txBody>
      </p:sp>
    </p:spTree>
    <p:extLst>
      <p:ext uri="{BB962C8B-B14F-4D97-AF65-F5344CB8AC3E}">
        <p14:creationId xmlns:p14="http://schemas.microsoft.com/office/powerpoint/2010/main" val="2552932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D22422-E710-C728-CEF5-8A2160A54B76}"/>
              </a:ext>
            </a:extLst>
          </p:cNvPr>
          <p:cNvSpPr>
            <a:spLocks noGrp="1"/>
          </p:cNvSpPr>
          <p:nvPr>
            <p:ph type="title"/>
          </p:nvPr>
        </p:nvSpPr>
        <p:spPr/>
        <p:txBody>
          <a:bodyPr/>
          <a:lstStyle/>
          <a:p>
            <a:r>
              <a:rPr lang="zh-CN" altLang="en-US" dirty="0"/>
              <a:t>图像标注</a:t>
            </a:r>
          </a:p>
        </p:txBody>
      </p:sp>
      <p:sp>
        <p:nvSpPr>
          <p:cNvPr id="3" name="内容占位符 2">
            <a:extLst>
              <a:ext uri="{FF2B5EF4-FFF2-40B4-BE49-F238E27FC236}">
                <a16:creationId xmlns:a16="http://schemas.microsoft.com/office/drawing/2014/main" id="{8A362FB5-0EE8-AFF9-4513-19B48E25F59A}"/>
              </a:ext>
            </a:extLst>
          </p:cNvPr>
          <p:cNvSpPr>
            <a:spLocks noGrp="1"/>
          </p:cNvSpPr>
          <p:nvPr>
            <p:ph idx="1"/>
          </p:nvPr>
        </p:nvSpPr>
        <p:spPr/>
        <p:txBody>
          <a:bodyPr/>
          <a:lstStyle/>
          <a:p>
            <a:endParaRPr lang="zh-CN" altLang="en-US" dirty="0"/>
          </a:p>
        </p:txBody>
      </p:sp>
      <p:pic>
        <p:nvPicPr>
          <p:cNvPr id="5" name="图片 4" descr="文本&#10;&#10;AI 生成的内容可能不正确。">
            <a:extLst>
              <a:ext uri="{FF2B5EF4-FFF2-40B4-BE49-F238E27FC236}">
                <a16:creationId xmlns:a16="http://schemas.microsoft.com/office/drawing/2014/main" id="{4F9BBBD2-1B27-64F1-F789-02DFEBE9C152}"/>
              </a:ext>
            </a:extLst>
          </p:cNvPr>
          <p:cNvPicPr>
            <a:picLocks noChangeAspect="1"/>
          </p:cNvPicPr>
          <p:nvPr/>
        </p:nvPicPr>
        <p:blipFill>
          <a:blip r:embed="rId2"/>
          <a:stretch>
            <a:fillRect/>
          </a:stretch>
        </p:blipFill>
        <p:spPr>
          <a:xfrm>
            <a:off x="838200" y="1825625"/>
            <a:ext cx="6925642" cy="1047896"/>
          </a:xfrm>
          <a:prstGeom prst="rect">
            <a:avLst/>
          </a:prstGeom>
        </p:spPr>
      </p:pic>
    </p:spTree>
    <p:extLst>
      <p:ext uri="{BB962C8B-B14F-4D97-AF65-F5344CB8AC3E}">
        <p14:creationId xmlns:p14="http://schemas.microsoft.com/office/powerpoint/2010/main" val="2158132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03A88B-05CC-DA1B-A732-93D8E0DEB33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446E5B3-690D-A064-C95B-080E50FE6B3F}"/>
              </a:ext>
            </a:extLst>
          </p:cNvPr>
          <p:cNvSpPr>
            <a:spLocks noGrp="1"/>
          </p:cNvSpPr>
          <p:nvPr>
            <p:ph idx="1"/>
          </p:nvPr>
        </p:nvSpPr>
        <p:spPr/>
        <p:txBody>
          <a:bodyPr>
            <a:normAutofit fontScale="92500" lnSpcReduction="10000"/>
          </a:bodyPr>
          <a:lstStyle/>
          <a:p>
            <a:r>
              <a:rPr lang="zh-CN" altLang="en-US" dirty="0"/>
              <a:t>可见性</a:t>
            </a:r>
            <a:endParaRPr lang="en-US" altLang="zh-CN" dirty="0"/>
          </a:p>
          <a:p>
            <a:r>
              <a:rPr lang="zh-CN" altLang="en-US" dirty="0"/>
              <a:t>后筛</a:t>
            </a:r>
            <a:endParaRPr lang="en-US" altLang="zh-CN" dirty="0"/>
          </a:p>
          <a:p>
            <a:r>
              <a:rPr lang="en-US" altLang="zh-CN" dirty="0"/>
              <a:t>3D BBOX</a:t>
            </a:r>
          </a:p>
          <a:p>
            <a:r>
              <a:rPr lang="zh-CN" altLang="en-US" dirty="0"/>
              <a:t>覆盖率测试</a:t>
            </a:r>
            <a:r>
              <a:rPr lang="en-US" altLang="zh-CN" dirty="0"/>
              <a:t>L2.   </a:t>
            </a:r>
            <a:r>
              <a:rPr lang="zh-CN" altLang="en-US" dirty="0"/>
              <a:t>筛选和未筛选的两种测试</a:t>
            </a:r>
            <a:endParaRPr lang="en-US" altLang="zh-CN" dirty="0"/>
          </a:p>
          <a:p>
            <a:r>
              <a:rPr lang="zh-CN" altLang="en-US" dirty="0"/>
              <a:t>根据未覆盖生成新问题。给模板填空。</a:t>
            </a:r>
            <a:endParaRPr lang="en-US" altLang="zh-CN" dirty="0"/>
          </a:p>
          <a:p>
            <a:r>
              <a:rPr lang="zh-CN" altLang="en-US" dirty="0"/>
              <a:t>作题难度分级：不给选项、给选项</a:t>
            </a:r>
            <a:endParaRPr lang="en-US" altLang="zh-CN" dirty="0"/>
          </a:p>
          <a:p>
            <a:r>
              <a:rPr lang="zh-CN" altLang="en-US" dirty="0"/>
              <a:t>生成问题集给</a:t>
            </a:r>
            <a:r>
              <a:rPr lang="en-US" altLang="zh-CN" dirty="0"/>
              <a:t>CV</a:t>
            </a:r>
            <a:r>
              <a:rPr lang="zh-CN" altLang="en-US" dirty="0"/>
              <a:t>模型（只能看图）做</a:t>
            </a:r>
            <a:endParaRPr lang="en-US" altLang="zh-CN" dirty="0"/>
          </a:p>
          <a:p>
            <a:r>
              <a:rPr lang="en-US" altLang="zh-CN" dirty="0" err="1"/>
              <a:t>Sourceframe</a:t>
            </a:r>
            <a:r>
              <a:rPr lang="en-US" altLang="zh-CN" dirty="0"/>
              <a:t>+</a:t>
            </a:r>
            <a:r>
              <a:rPr lang="zh-CN" altLang="en-US" dirty="0"/>
              <a:t>六相机方位</a:t>
            </a:r>
            <a:endParaRPr lang="en-US" altLang="zh-CN" dirty="0"/>
          </a:p>
          <a:p>
            <a:r>
              <a:rPr lang="zh-CN" altLang="en-US" dirty="0"/>
              <a:t>两个方位都有按面积算？看</a:t>
            </a:r>
            <a:r>
              <a:rPr lang="en-US" altLang="zh-CN" dirty="0"/>
              <a:t>annotation</a:t>
            </a:r>
            <a:r>
              <a:rPr lang="zh-CN" altLang="en-US" dirty="0"/>
              <a:t>里是不是两张里面都有，都能查到</a:t>
            </a:r>
            <a:endParaRPr lang="en-US" altLang="zh-CN" dirty="0"/>
          </a:p>
          <a:p>
            <a:endParaRPr lang="zh-CN" altLang="en-US" dirty="0"/>
          </a:p>
        </p:txBody>
      </p:sp>
    </p:spTree>
    <p:extLst>
      <p:ext uri="{BB962C8B-B14F-4D97-AF65-F5344CB8AC3E}">
        <p14:creationId xmlns:p14="http://schemas.microsoft.com/office/powerpoint/2010/main" val="285117779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2960</TotalTime>
  <Words>1179</Words>
  <Application>Microsoft Office PowerPoint</Application>
  <PresentationFormat>宽屏</PresentationFormat>
  <Paragraphs>90</Paragraphs>
  <Slides>28</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28</vt:i4>
      </vt:variant>
    </vt:vector>
  </HeadingPairs>
  <TitlesOfParts>
    <vt:vector size="32" baseType="lpstr">
      <vt:lpstr>等线</vt:lpstr>
      <vt:lpstr>等线 Light</vt:lpstr>
      <vt:lpstr>Arial</vt:lpstr>
      <vt:lpstr>Office 主题​​</vt:lpstr>
      <vt:lpstr>正确率测试标准、覆盖率测试脚本和图像打标</vt:lpstr>
      <vt:lpstr>VQA后续</vt:lpstr>
      <vt:lpstr>0553</vt:lpstr>
      <vt:lpstr>0553</vt:lpstr>
      <vt:lpstr>标准确定-关系方向定义</vt:lpstr>
      <vt:lpstr>标准确定- 0度线的定义</vt:lpstr>
      <vt:lpstr>标准确定-答案处理和方位</vt:lpstr>
      <vt:lpstr>正确率结果</vt:lpstr>
      <vt:lpstr>覆盖率测试-指标定义</vt:lpstr>
      <vt:lpstr>覆盖率测试-统计模式</vt:lpstr>
      <vt:lpstr>覆盖率测试-结果</vt:lpstr>
      <vt:lpstr>覆盖范围 vs. 目标覆盖</vt:lpstr>
      <vt:lpstr>三维构图</vt:lpstr>
      <vt:lpstr>两跳</vt:lpstr>
      <vt:lpstr>两跳-怎么查</vt:lpstr>
      <vt:lpstr>两跳-怎么查</vt:lpstr>
      <vt:lpstr>两跳-怎么查</vt:lpstr>
      <vt:lpstr>两跳-怎么查</vt:lpstr>
      <vt:lpstr>两跳-怎么查</vt:lpstr>
      <vt:lpstr>比较问题算L2还是更复杂的问题</vt:lpstr>
      <vt:lpstr>比L2更复杂的问题</vt:lpstr>
      <vt:lpstr>物体过滤</vt:lpstr>
      <vt:lpstr>物体过滤</vt:lpstr>
      <vt:lpstr>图像标注</vt:lpstr>
      <vt:lpstr>3D BBOX投影(3D BBox Projection)</vt:lpstr>
      <vt:lpstr>Panoptic Mask 投影 (LiDAR Projection)</vt:lpstr>
      <vt:lpstr>图像标注</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yunyang wan</dc:creator>
  <cp:lastModifiedBy>yunyang wan</cp:lastModifiedBy>
  <cp:revision>65</cp:revision>
  <dcterms:created xsi:type="dcterms:W3CDTF">2026-01-23T03:47:44Z</dcterms:created>
  <dcterms:modified xsi:type="dcterms:W3CDTF">2026-02-12T12:58:27Z</dcterms:modified>
</cp:coreProperties>
</file>