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258" r:id="rId4"/>
    <p:sldId id="260" r:id="rId5"/>
    <p:sldId id="259" r:id="rId6"/>
    <p:sldId id="268" r:id="rId7"/>
    <p:sldId id="269" r:id="rId8"/>
    <p:sldId id="270" r:id="rId9"/>
    <p:sldId id="262" r:id="rId10"/>
    <p:sldId id="263" r:id="rId11"/>
    <p:sldId id="264" r:id="rId12"/>
    <p:sldId id="266" r:id="rId13"/>
    <p:sldId id="267" r:id="rId14"/>
  </p:sldIdLst>
  <p:sldSz cx="14630400" cy="8229600"/>
  <p:notesSz cx="8229600" cy="14630400"/>
  <p:embeddedFontLst>
    <p:embeddedFont>
      <p:font typeface="Barlow Bold" panose="02010600030101010101" charset="0"/>
      <p:bold r:id="rId16"/>
    </p:embeddedFont>
    <p:embeddedFont>
      <p:font typeface="Montserrat" panose="00000500000000000000" pitchFamily="2" charset="0"/>
      <p:regular r:id="rId17"/>
      <p:bold r:id="rId18"/>
      <p:italic r:id="rId19"/>
      <p:boldItalic r:id="rId20"/>
    </p:embeddedFont>
  </p:embeddedFont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87" d="100"/>
          <a:sy n="87" d="100"/>
        </p:scale>
        <p:origin x="72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3.fntdata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2.fntdata"/><Relationship Id="rId2" Type="http://schemas.openxmlformats.org/officeDocument/2006/relationships/slide" Target="slides/slide1.xml"/><Relationship Id="rId16" Type="http://schemas.openxmlformats.org/officeDocument/2006/relationships/font" Target="fonts/font1.fntdata"/><Relationship Id="rId20" Type="http://schemas.openxmlformats.org/officeDocument/2006/relationships/font" Target="fonts/font5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font" Target="fonts/font4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45716840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FCE265-BC5D-4B7C-7D4C-ED91321A6C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5F8B89F-DAE5-9A62-7D3E-2D102E8DDCB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5C3C21F-1B61-F5CE-E530-DA31743D1CD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C526DED-67E1-D387-7C4B-6639BC0D575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758627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A67C73-D8D9-40D1-55D1-E7808DFFA4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6AC3A58-F4F4-7D59-C384-864E1C19844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7036CC4-349B-C767-883E-5FC0F7E7180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5961982-AD95-B4E9-D025-BF6A0446B7A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14420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0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1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2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11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14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8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9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0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324701" y="3165515"/>
            <a:ext cx="7980998" cy="7127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5600"/>
              </a:lnSpc>
              <a:buNone/>
            </a:pPr>
            <a:r>
              <a:rPr lang="en-US" sz="4450" b="1" dirty="0">
                <a:solidFill>
                  <a:srgbClr val="2E3C4E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关于竞赛与科研的一点经验分享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4812982" y="3964781"/>
            <a:ext cx="5004435" cy="4275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3350"/>
              </a:lnSpc>
              <a:buNone/>
            </a:pPr>
            <a:r>
              <a:rPr lang="en-US" sz="2650" b="1" dirty="0">
                <a:solidFill>
                  <a:srgbClr val="2E3C4E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武汉理工大学 · 计算机科学与技术</a:t>
            </a:r>
            <a:endParaRPr lang="en-US" sz="2650" dirty="0"/>
          </a:p>
        </p:txBody>
      </p:sp>
      <p:sp>
        <p:nvSpPr>
          <p:cNvPr id="4" name="Text 2"/>
          <p:cNvSpPr/>
          <p:nvPr/>
        </p:nvSpPr>
        <p:spPr>
          <a:xfrm>
            <a:off x="758309" y="4717256"/>
            <a:ext cx="13113782" cy="3467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700"/>
              </a:lnSpc>
              <a:buNone/>
            </a:pPr>
            <a:r>
              <a:rPr lang="en-US" sz="17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分享人：计科2402万云扬 | 2026年4月</a:t>
            </a:r>
            <a:endParaRPr lang="en-US" sz="17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58309" y="1917978"/>
            <a:ext cx="5701546" cy="7431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600"/>
              </a:lnSpc>
              <a:buNone/>
            </a:pPr>
            <a:r>
              <a:rPr lang="en-US" sz="4450" b="1" dirty="0">
                <a:solidFill>
                  <a:srgbClr val="000000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📋</a:t>
            </a:r>
            <a:r>
              <a:rPr lang="en-US" sz="4450" b="1" dirty="0">
                <a:solidFill>
                  <a:srgbClr val="2E3C4E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 今天聊什么？</a:t>
            </a:r>
            <a:endParaRPr lang="en-US" sz="4450" dirty="0"/>
          </a:p>
        </p:txBody>
      </p:sp>
      <p:sp>
        <p:nvSpPr>
          <p:cNvPr id="3" name="Shape 1"/>
          <p:cNvSpPr/>
          <p:nvPr/>
        </p:nvSpPr>
        <p:spPr>
          <a:xfrm>
            <a:off x="758309" y="3094434"/>
            <a:ext cx="6448544" cy="1500307"/>
          </a:xfrm>
          <a:prstGeom prst="roundRect">
            <a:avLst>
              <a:gd name="adj" fmla="val 21662"/>
            </a:avLst>
          </a:prstGeom>
          <a:solidFill>
            <a:srgbClr val="FFFFFF"/>
          </a:solidFill>
          <a:ln w="30480">
            <a:solidFill>
              <a:srgbClr val="BACFDD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88789" y="3124914"/>
            <a:ext cx="6387584" cy="649962"/>
          </a:xfrm>
          <a:prstGeom prst="roundRect">
            <a:avLst>
              <a:gd name="adj" fmla="val 44374"/>
            </a:avLst>
          </a:prstGeom>
          <a:solidFill>
            <a:srgbClr val="D4E9F7"/>
          </a:solidFill>
          <a:ln/>
        </p:spPr>
      </p:sp>
      <p:sp>
        <p:nvSpPr>
          <p:cNvPr id="5" name="Text 3"/>
          <p:cNvSpPr/>
          <p:nvPr/>
        </p:nvSpPr>
        <p:spPr>
          <a:xfrm>
            <a:off x="3820120" y="3242905"/>
            <a:ext cx="324922" cy="4062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2550" b="1" dirty="0">
                <a:solidFill>
                  <a:srgbClr val="384653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1</a:t>
            </a:r>
            <a:endParaRPr lang="en-US" sz="2550" dirty="0"/>
          </a:p>
        </p:txBody>
      </p:sp>
      <p:sp>
        <p:nvSpPr>
          <p:cNvPr id="6" name="Text 4"/>
          <p:cNvSpPr/>
          <p:nvPr/>
        </p:nvSpPr>
        <p:spPr>
          <a:xfrm>
            <a:off x="1005364" y="3991451"/>
            <a:ext cx="3990499" cy="3562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2200" b="1" dirty="0">
                <a:solidFill>
                  <a:srgbClr val="384653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竞赛和科研锻炼考察的是什么？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7423428" y="3094434"/>
            <a:ext cx="6448663" cy="1500307"/>
          </a:xfrm>
          <a:prstGeom prst="roundRect">
            <a:avLst>
              <a:gd name="adj" fmla="val 21662"/>
            </a:avLst>
          </a:prstGeom>
          <a:solidFill>
            <a:srgbClr val="FFFFFF"/>
          </a:solidFill>
          <a:ln w="30480">
            <a:solidFill>
              <a:srgbClr val="BACFDD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453908" y="3124914"/>
            <a:ext cx="6387703" cy="649962"/>
          </a:xfrm>
          <a:prstGeom prst="roundRect">
            <a:avLst>
              <a:gd name="adj" fmla="val 44374"/>
            </a:avLst>
          </a:prstGeom>
          <a:solidFill>
            <a:srgbClr val="D4E9F7"/>
          </a:solidFill>
          <a:ln/>
        </p:spPr>
      </p:sp>
      <p:sp>
        <p:nvSpPr>
          <p:cNvPr id="9" name="Text 7"/>
          <p:cNvSpPr/>
          <p:nvPr/>
        </p:nvSpPr>
        <p:spPr>
          <a:xfrm>
            <a:off x="10485239" y="3242905"/>
            <a:ext cx="324922" cy="4062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2550" b="1" dirty="0">
                <a:solidFill>
                  <a:srgbClr val="384653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2</a:t>
            </a:r>
            <a:endParaRPr lang="en-US" sz="2550" dirty="0"/>
          </a:p>
        </p:txBody>
      </p:sp>
      <p:sp>
        <p:nvSpPr>
          <p:cNvPr id="10" name="Text 8"/>
          <p:cNvSpPr/>
          <p:nvPr/>
        </p:nvSpPr>
        <p:spPr>
          <a:xfrm>
            <a:off x="7670483" y="3991451"/>
            <a:ext cx="3705463" cy="3562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2200" b="1" dirty="0">
                <a:solidFill>
                  <a:srgbClr val="384653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武理保研认定的核心竞赛推荐</a:t>
            </a:r>
            <a:endParaRPr lang="en-US" sz="2200" dirty="0"/>
          </a:p>
        </p:txBody>
      </p:sp>
      <p:sp>
        <p:nvSpPr>
          <p:cNvPr id="11" name="Shape 9"/>
          <p:cNvSpPr/>
          <p:nvPr/>
        </p:nvSpPr>
        <p:spPr>
          <a:xfrm>
            <a:off x="758309" y="4811316"/>
            <a:ext cx="6448544" cy="1500307"/>
          </a:xfrm>
          <a:prstGeom prst="roundRect">
            <a:avLst>
              <a:gd name="adj" fmla="val 21662"/>
            </a:avLst>
          </a:prstGeom>
          <a:solidFill>
            <a:srgbClr val="FFFFFF"/>
          </a:solidFill>
          <a:ln w="30480">
            <a:solidFill>
              <a:srgbClr val="BACFDD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88789" y="4841796"/>
            <a:ext cx="6387584" cy="649962"/>
          </a:xfrm>
          <a:prstGeom prst="roundRect">
            <a:avLst>
              <a:gd name="adj" fmla="val 44374"/>
            </a:avLst>
          </a:prstGeom>
          <a:solidFill>
            <a:srgbClr val="D4E9F7"/>
          </a:solidFill>
          <a:ln/>
        </p:spPr>
      </p:sp>
      <p:sp>
        <p:nvSpPr>
          <p:cNvPr id="13" name="Text 11"/>
          <p:cNvSpPr/>
          <p:nvPr/>
        </p:nvSpPr>
        <p:spPr>
          <a:xfrm>
            <a:off x="3820120" y="4959787"/>
            <a:ext cx="324922" cy="4062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2550" b="1" dirty="0">
                <a:solidFill>
                  <a:srgbClr val="384653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3</a:t>
            </a:r>
            <a:endParaRPr lang="en-US" sz="2550" dirty="0"/>
          </a:p>
        </p:txBody>
      </p:sp>
      <p:sp>
        <p:nvSpPr>
          <p:cNvPr id="14" name="Text 12"/>
          <p:cNvSpPr/>
          <p:nvPr/>
        </p:nvSpPr>
        <p:spPr>
          <a:xfrm>
            <a:off x="1005364" y="5708333"/>
            <a:ext cx="3420428" cy="3562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2200" b="1" dirty="0">
                <a:solidFill>
                  <a:srgbClr val="384653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科研是什么？我在做什么？</a:t>
            </a:r>
            <a:endParaRPr lang="en-US" sz="2200" dirty="0"/>
          </a:p>
        </p:txBody>
      </p:sp>
      <p:sp>
        <p:nvSpPr>
          <p:cNvPr id="15" name="Shape 13"/>
          <p:cNvSpPr/>
          <p:nvPr/>
        </p:nvSpPr>
        <p:spPr>
          <a:xfrm>
            <a:off x="7423428" y="4811316"/>
            <a:ext cx="6448663" cy="1500307"/>
          </a:xfrm>
          <a:prstGeom prst="roundRect">
            <a:avLst>
              <a:gd name="adj" fmla="val 21662"/>
            </a:avLst>
          </a:prstGeom>
          <a:solidFill>
            <a:srgbClr val="FFFFFF"/>
          </a:solidFill>
          <a:ln w="30480">
            <a:solidFill>
              <a:srgbClr val="BACFDD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453908" y="4841796"/>
            <a:ext cx="6387703" cy="649962"/>
          </a:xfrm>
          <a:prstGeom prst="roundRect">
            <a:avLst>
              <a:gd name="adj" fmla="val 44374"/>
            </a:avLst>
          </a:prstGeom>
          <a:solidFill>
            <a:srgbClr val="D4E9F7"/>
          </a:solidFill>
          <a:ln/>
        </p:spPr>
      </p:sp>
      <p:sp>
        <p:nvSpPr>
          <p:cNvPr id="17" name="Text 15"/>
          <p:cNvSpPr/>
          <p:nvPr/>
        </p:nvSpPr>
        <p:spPr>
          <a:xfrm>
            <a:off x="10485239" y="4959787"/>
            <a:ext cx="324922" cy="4062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2550" b="1" dirty="0">
                <a:solidFill>
                  <a:srgbClr val="384653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4</a:t>
            </a:r>
            <a:endParaRPr lang="en-US" sz="2550" dirty="0"/>
          </a:p>
        </p:txBody>
      </p:sp>
      <p:sp>
        <p:nvSpPr>
          <p:cNvPr id="18" name="Text 16"/>
          <p:cNvSpPr/>
          <p:nvPr/>
        </p:nvSpPr>
        <p:spPr>
          <a:xfrm>
            <a:off x="7670483" y="5708333"/>
            <a:ext cx="4313753" cy="3562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2200" b="1" dirty="0">
                <a:solidFill>
                  <a:srgbClr val="384653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我的体会与教训（AI 时代的思考）</a:t>
            </a:r>
            <a:endParaRPr lang="en-US" sz="2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58309" y="2004179"/>
            <a:ext cx="7980998" cy="7127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600"/>
              </a:lnSpc>
              <a:buNone/>
            </a:pPr>
            <a:r>
              <a:rPr lang="en-US" sz="4450" b="1" dirty="0">
                <a:solidFill>
                  <a:srgbClr val="2E3C4E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竞赛和科研，适合什么样的人？</a:t>
            </a:r>
            <a:endParaRPr lang="en-US" sz="4450" dirty="0"/>
          </a:p>
        </p:txBody>
      </p:sp>
      <p:sp>
        <p:nvSpPr>
          <p:cNvPr id="3" name="Shape 1"/>
          <p:cNvSpPr/>
          <p:nvPr/>
        </p:nvSpPr>
        <p:spPr>
          <a:xfrm>
            <a:off x="758309" y="3285530"/>
            <a:ext cx="6292572" cy="2696170"/>
          </a:xfrm>
          <a:prstGeom prst="roundRect">
            <a:avLst>
              <a:gd name="adj" fmla="val 12054"/>
            </a:avLst>
          </a:prstGeom>
          <a:solidFill>
            <a:srgbClr val="FFFFFF"/>
          </a:solidFill>
          <a:ln w="30480">
            <a:solidFill>
              <a:srgbClr val="BACFD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05364" y="3532584"/>
            <a:ext cx="3462457" cy="3714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2200" b="1" dirty="0">
                <a:solidFill>
                  <a:srgbClr val="000000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🏆</a:t>
            </a:r>
            <a:r>
              <a:rPr lang="en-US" sz="2200" b="1" dirty="0">
                <a:solidFill>
                  <a:srgbClr val="384653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 竞赛适合你，如果你……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1005364" y="4120634"/>
            <a:ext cx="5798463" cy="16140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700"/>
              </a:lnSpc>
              <a:buSzPct val="100000"/>
              <a:buChar char="•"/>
            </a:pPr>
            <a:r>
              <a:rPr lang="en-US" sz="17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喜欢动手解决实际问题</a:t>
            </a:r>
            <a:endParaRPr lang="en-US" sz="1700" dirty="0"/>
          </a:p>
          <a:p>
            <a:pPr marL="342900" indent="-342900" algn="l">
              <a:lnSpc>
                <a:spcPts val="2700"/>
              </a:lnSpc>
              <a:buSzPct val="100000"/>
              <a:buChar char="•"/>
            </a:pPr>
            <a:r>
              <a:rPr lang="en-US" sz="17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享受团队协作和头脑风暴</a:t>
            </a:r>
            <a:endParaRPr lang="en-US" sz="1700" dirty="0"/>
          </a:p>
          <a:p>
            <a:pPr marL="342900" indent="-342900" algn="l">
              <a:lnSpc>
                <a:spcPts val="2700"/>
              </a:lnSpc>
              <a:buSzPct val="100000"/>
              <a:buChar char="•"/>
            </a:pPr>
            <a:r>
              <a:rPr lang="en-US" sz="17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想快速积累项目和工程经验</a:t>
            </a:r>
            <a:endParaRPr lang="en-US" sz="1700" dirty="0"/>
          </a:p>
          <a:p>
            <a:pPr marL="342900" indent="-342900" algn="l">
              <a:lnSpc>
                <a:spcPts val="2700"/>
              </a:lnSpc>
              <a:buSzPct val="100000"/>
              <a:buChar char="•"/>
            </a:pPr>
            <a:r>
              <a:rPr lang="en-US" sz="17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需要保研 / 求职的硬核加分项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7587139" y="3285530"/>
            <a:ext cx="6292572" cy="2696170"/>
          </a:xfrm>
          <a:prstGeom prst="roundRect">
            <a:avLst>
              <a:gd name="adj" fmla="val 12054"/>
            </a:avLst>
          </a:prstGeom>
          <a:solidFill>
            <a:srgbClr val="FFFFFF"/>
          </a:solidFill>
          <a:ln w="30480">
            <a:solidFill>
              <a:srgbClr val="BACFD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34193" y="3532584"/>
            <a:ext cx="3462457" cy="3714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2200" b="1" dirty="0">
                <a:solidFill>
                  <a:srgbClr val="000000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🔬</a:t>
            </a:r>
            <a:r>
              <a:rPr lang="en-US" sz="2200" b="1" dirty="0">
                <a:solidFill>
                  <a:srgbClr val="384653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 科研适合你，如果你……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7834193" y="4120634"/>
            <a:ext cx="5798463" cy="16140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700"/>
              </a:lnSpc>
              <a:buSzPct val="100000"/>
              <a:buChar char="•"/>
            </a:pPr>
            <a:r>
              <a:rPr lang="en-US" sz="17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对某个技术方向有强烈好奇心</a:t>
            </a:r>
            <a:endParaRPr lang="en-US" sz="1700" dirty="0"/>
          </a:p>
          <a:p>
            <a:pPr marL="342900" indent="-342900" algn="l">
              <a:lnSpc>
                <a:spcPts val="2700"/>
              </a:lnSpc>
              <a:buSzPct val="100000"/>
              <a:buChar char="•"/>
            </a:pPr>
            <a:r>
              <a:rPr lang="en-US" sz="17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能沉下心读英文论文和跑代码</a:t>
            </a:r>
            <a:endParaRPr lang="en-US" sz="1700" dirty="0"/>
          </a:p>
          <a:p>
            <a:pPr marL="342900" indent="-342900" algn="l">
              <a:lnSpc>
                <a:spcPts val="2700"/>
              </a:lnSpc>
              <a:buSzPct val="100000"/>
              <a:buChar char="•"/>
            </a:pPr>
            <a:r>
              <a:rPr lang="en-US" sz="17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考虑未来读研深造（保研 / 考研 / 出国）</a:t>
            </a:r>
            <a:endParaRPr lang="en-US" sz="1700" dirty="0"/>
          </a:p>
          <a:p>
            <a:pPr marL="342900" indent="-342900" algn="l">
              <a:lnSpc>
                <a:spcPts val="2700"/>
              </a:lnSpc>
              <a:buSzPct val="100000"/>
              <a:buChar char="•"/>
            </a:pPr>
            <a:r>
              <a:rPr lang="en-US" sz="17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想锻炼独立思考和系统性解决问题的能力</a:t>
            </a:r>
            <a:endParaRPr lang="en-US" sz="17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58309" y="793433"/>
            <a:ext cx="10021372" cy="6361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750"/>
              </a:lnSpc>
              <a:buNone/>
            </a:pPr>
            <a:r>
              <a:rPr lang="en-US" sz="3800" b="1" dirty="0">
                <a:solidFill>
                  <a:srgbClr val="000000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🏅</a:t>
            </a:r>
            <a:r>
              <a:rPr lang="en-US" sz="3800" b="1" dirty="0">
                <a:solidFill>
                  <a:srgbClr val="2E3C4E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 </a:t>
            </a:r>
            <a:r>
              <a:rPr lang="en-US" sz="3800" b="1" dirty="0" err="1">
                <a:solidFill>
                  <a:srgbClr val="2E3C4E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武理保研认定竞赛推荐（计算机相关</a:t>
            </a:r>
            <a:r>
              <a:rPr lang="en-US" sz="3800" b="1" dirty="0">
                <a:solidFill>
                  <a:srgbClr val="2E3C4E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）</a:t>
            </a:r>
            <a:endParaRPr lang="en-US" sz="3800" dirty="0"/>
          </a:p>
        </p:txBody>
      </p:sp>
      <p:pic>
        <p:nvPicPr>
          <p:cNvPr id="50" name="图片 49">
            <a:extLst>
              <a:ext uri="{FF2B5EF4-FFF2-40B4-BE49-F238E27FC236}">
                <a16:creationId xmlns:a16="http://schemas.microsoft.com/office/drawing/2014/main" id="{2BD13034-7696-8E6D-C8E0-40E94381978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5236" y="1788981"/>
            <a:ext cx="8135485" cy="933580"/>
          </a:xfrm>
          <a:prstGeom prst="rect">
            <a:avLst/>
          </a:prstGeom>
        </p:spPr>
      </p:pic>
      <p:pic>
        <p:nvPicPr>
          <p:cNvPr id="52" name="图片 51">
            <a:extLst>
              <a:ext uri="{FF2B5EF4-FFF2-40B4-BE49-F238E27FC236}">
                <a16:creationId xmlns:a16="http://schemas.microsoft.com/office/drawing/2014/main" id="{4EF29EE1-B866-C8E9-6551-79AEFC570BC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5235" y="2722561"/>
            <a:ext cx="8135485" cy="885949"/>
          </a:xfrm>
          <a:prstGeom prst="rect">
            <a:avLst/>
          </a:prstGeom>
        </p:spPr>
      </p:pic>
      <p:pic>
        <p:nvPicPr>
          <p:cNvPr id="54" name="图片 53">
            <a:extLst>
              <a:ext uri="{FF2B5EF4-FFF2-40B4-BE49-F238E27FC236}">
                <a16:creationId xmlns:a16="http://schemas.microsoft.com/office/drawing/2014/main" id="{718FD67C-9BBB-8527-8DF1-7FB2EDF512B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65235" y="3608510"/>
            <a:ext cx="8135485" cy="323895"/>
          </a:xfrm>
          <a:prstGeom prst="rect">
            <a:avLst/>
          </a:prstGeom>
        </p:spPr>
      </p:pic>
      <p:pic>
        <p:nvPicPr>
          <p:cNvPr id="56" name="图片 55">
            <a:extLst>
              <a:ext uri="{FF2B5EF4-FFF2-40B4-BE49-F238E27FC236}">
                <a16:creationId xmlns:a16="http://schemas.microsoft.com/office/drawing/2014/main" id="{54C4043F-8587-B9B1-3BFD-6401D8E1149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74762" y="3898398"/>
            <a:ext cx="8125959" cy="971686"/>
          </a:xfrm>
          <a:prstGeom prst="rect">
            <a:avLst/>
          </a:prstGeom>
        </p:spPr>
      </p:pic>
      <p:pic>
        <p:nvPicPr>
          <p:cNvPr id="58" name="图片 57">
            <a:extLst>
              <a:ext uri="{FF2B5EF4-FFF2-40B4-BE49-F238E27FC236}">
                <a16:creationId xmlns:a16="http://schemas.microsoft.com/office/drawing/2014/main" id="{B09290ED-1C78-7700-FE01-534BFA1E869D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65234" y="4868776"/>
            <a:ext cx="8135485" cy="1276528"/>
          </a:xfrm>
          <a:prstGeom prst="rect">
            <a:avLst/>
          </a:prstGeom>
        </p:spPr>
      </p:pic>
      <p:pic>
        <p:nvPicPr>
          <p:cNvPr id="60" name="图片 59">
            <a:extLst>
              <a:ext uri="{FF2B5EF4-FFF2-40B4-BE49-F238E27FC236}">
                <a16:creationId xmlns:a16="http://schemas.microsoft.com/office/drawing/2014/main" id="{6C742909-347B-82C7-F2F0-6B89D978AECC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378268" y="1805834"/>
            <a:ext cx="4369760" cy="4617931"/>
          </a:xfrm>
          <a:prstGeom prst="rect">
            <a:avLst/>
          </a:prstGeom>
        </p:spPr>
      </p:pic>
      <p:pic>
        <p:nvPicPr>
          <p:cNvPr id="62" name="图片 61">
            <a:extLst>
              <a:ext uri="{FF2B5EF4-FFF2-40B4-BE49-F238E27FC236}">
                <a16:creationId xmlns:a16="http://schemas.microsoft.com/office/drawing/2014/main" id="{CCE5514D-8E56-C0CE-4FEC-CF8CFDF71458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65232" y="6145304"/>
            <a:ext cx="8125959" cy="342948"/>
          </a:xfrm>
          <a:prstGeom prst="rect">
            <a:avLst/>
          </a:prstGeom>
        </p:spPr>
      </p:pic>
      <p:pic>
        <p:nvPicPr>
          <p:cNvPr id="64" name="图片 63">
            <a:extLst>
              <a:ext uri="{FF2B5EF4-FFF2-40B4-BE49-F238E27FC236}">
                <a16:creationId xmlns:a16="http://schemas.microsoft.com/office/drawing/2014/main" id="{6C27A20F-5267-E7F1-5A7D-9815900FDF46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65236" y="6469199"/>
            <a:ext cx="8116433" cy="323895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58309" y="2106573"/>
            <a:ext cx="6270784" cy="7127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600"/>
              </a:lnSpc>
              <a:buNone/>
            </a:pPr>
            <a:r>
              <a:rPr lang="zh-CN" altLang="en-US" sz="4450" b="1" dirty="0">
                <a:solidFill>
                  <a:srgbClr val="2E3C4E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针对不同追求的同学</a:t>
            </a:r>
            <a:endParaRPr lang="en-US" sz="4450" dirty="0"/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F854345C-DC1D-8B38-A4FE-726FBD398144}"/>
              </a:ext>
            </a:extLst>
          </p:cNvPr>
          <p:cNvSpPr txBox="1"/>
          <p:nvPr/>
        </p:nvSpPr>
        <p:spPr>
          <a:xfrm>
            <a:off x="989970" y="3347762"/>
            <a:ext cx="9805030" cy="252376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dirty="0"/>
              <a:t>有保研需求：先满足加分需求，在其中尽可能榨干每段经历，获得尽可能多的成长。大英赛、大数赛加分很有性价比，服创、计设学校推的比较多、机会大。</a:t>
            </a:r>
            <a:endParaRPr lang="en-US" altLang="zh-CN" sz="2000" dirty="0"/>
          </a:p>
          <a:p>
            <a:endParaRPr lang="en-US" altLang="zh-CN" sz="2000" dirty="0"/>
          </a:p>
          <a:p>
            <a:r>
              <a:rPr lang="zh-CN" altLang="en-US" sz="2000" dirty="0"/>
              <a:t>有就业打算：个人了解较少，但我认为大学前中段参加参加竞赛，对于团队配合、任务规划、多媒体运用等通用能力有很大提升。参赛压力不用太大，重点是要实打实学到东西，有所心得。选择上由浅入深，从服创等偏讲故事的比赛跨越到软件杯等门槛较高的比赛。数模、算法等偏个人能力的比赛也比较推荐。</a:t>
            </a:r>
            <a:endParaRPr lang="en-US" altLang="zh-CN" sz="2000" dirty="0"/>
          </a:p>
          <a:p>
            <a:endParaRPr lang="en-US" altLang="zh-CN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52CB8E-296D-F38A-A1ED-4200B2B158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7C47CF85-C244-7EEE-DAF9-48BD282512DA}"/>
              </a:ext>
            </a:extLst>
          </p:cNvPr>
          <p:cNvSpPr/>
          <p:nvPr/>
        </p:nvSpPr>
        <p:spPr>
          <a:xfrm>
            <a:off x="758309" y="2106573"/>
            <a:ext cx="6270784" cy="7127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600"/>
              </a:lnSpc>
              <a:buNone/>
            </a:pPr>
            <a:r>
              <a:rPr lang="zh-CN" altLang="en-US" sz="4450" b="1" dirty="0">
                <a:solidFill>
                  <a:srgbClr val="2E3C4E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关于算法和算法竞赛</a:t>
            </a:r>
            <a:endParaRPr lang="en-US" sz="4450" dirty="0"/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59BB237C-4609-1877-0F87-47F479889AFD}"/>
              </a:ext>
            </a:extLst>
          </p:cNvPr>
          <p:cNvSpPr txBox="1"/>
          <p:nvPr/>
        </p:nvSpPr>
        <p:spPr>
          <a:xfrm>
            <a:off x="989971" y="3347761"/>
            <a:ext cx="11303630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dirty="0"/>
              <a:t>1.</a:t>
            </a:r>
            <a:r>
              <a:rPr lang="zh-CN" altLang="en-US" sz="2000" dirty="0"/>
              <a:t>首先，这是作为计算机学子必须学习的重要板块，基础的学习能让我们在解决问题时有更多的思路，不论是在领域内还是生活哲学上</a:t>
            </a:r>
            <a:endParaRPr lang="en-US" altLang="zh-CN" sz="2000" dirty="0"/>
          </a:p>
          <a:p>
            <a:endParaRPr lang="en-US" altLang="zh-CN" sz="2000" dirty="0"/>
          </a:p>
          <a:p>
            <a:r>
              <a:rPr lang="en-US" altLang="zh-CN" sz="2000" dirty="0"/>
              <a:t>2.</a:t>
            </a:r>
            <a:r>
              <a:rPr lang="zh-CN" altLang="en-US" sz="2000" dirty="0"/>
              <a:t>对于算法竞赛，我的观点是，在不少大厂的确是比较亮眼的荣誉，但前提是能拿到</a:t>
            </a:r>
            <a:r>
              <a:rPr lang="en-US" altLang="zh-CN" sz="2000" dirty="0"/>
              <a:t>ACM</a:t>
            </a:r>
            <a:r>
              <a:rPr lang="zh-CN" altLang="en-US" sz="2000" dirty="0"/>
              <a:t>（</a:t>
            </a:r>
            <a:r>
              <a:rPr lang="en-US" altLang="zh-CN" sz="2000" dirty="0"/>
              <a:t>ICPC/CCPC</a:t>
            </a:r>
            <a:r>
              <a:rPr lang="zh-CN" altLang="en-US" sz="2000" dirty="0"/>
              <a:t>）正赛的不错名次，想取得这样的成绩需要投入大量的时间精力去做题，是一笔有风险投入。这几年感觉在降温。且算法岗更看重实打实的论文数量，这和我们要讲到的科研有关系。</a:t>
            </a:r>
            <a:endParaRPr lang="en-US" altLang="zh-CN" sz="2000" dirty="0"/>
          </a:p>
          <a:p>
            <a:endParaRPr lang="en-US" altLang="zh-CN" sz="2000" dirty="0"/>
          </a:p>
          <a:p>
            <a:r>
              <a:rPr lang="en-US" altLang="zh-CN" sz="2000" dirty="0"/>
              <a:t>3.</a:t>
            </a:r>
            <a:r>
              <a:rPr lang="zh-CN" altLang="en-US" sz="2000" dirty="0"/>
              <a:t>机试面试不断，基本算法知识考察已成常态。可以参加码蹄杯、百度之星等个人算法竞赛来检验自己的学习效果。</a:t>
            </a:r>
            <a:endParaRPr lang="en-US" altLang="zh-CN" sz="2000" dirty="0"/>
          </a:p>
          <a:p>
            <a:endParaRPr lang="en-US" altLang="zh-CN" dirty="0"/>
          </a:p>
          <a:p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38866218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D726611-F330-B273-29FD-8AFA0F0C9B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7769CF44-02D0-368B-439E-FC314D08B13B}"/>
              </a:ext>
            </a:extLst>
          </p:cNvPr>
          <p:cNvSpPr/>
          <p:nvPr/>
        </p:nvSpPr>
        <p:spPr>
          <a:xfrm>
            <a:off x="758309" y="2106573"/>
            <a:ext cx="6270784" cy="7127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600"/>
              </a:lnSpc>
              <a:buNone/>
            </a:pPr>
            <a:r>
              <a:rPr lang="zh-CN" altLang="en-US" sz="4450" b="1" dirty="0">
                <a:solidFill>
                  <a:srgbClr val="2E3C4E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竞赛的一些心得</a:t>
            </a:r>
            <a:endParaRPr lang="en-US" sz="4450" dirty="0"/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0BFD2D41-26CB-045E-F7E7-AFF3542D570D}"/>
              </a:ext>
            </a:extLst>
          </p:cNvPr>
          <p:cNvSpPr txBox="1"/>
          <p:nvPr/>
        </p:nvSpPr>
        <p:spPr>
          <a:xfrm>
            <a:off x="812916" y="3786095"/>
            <a:ext cx="11405229" cy="40626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dirty="0"/>
              <a:t>1.</a:t>
            </a:r>
            <a:r>
              <a:rPr lang="zh-CN" altLang="en-US" sz="2000" dirty="0"/>
              <a:t>优秀的成果借鉴是底盘，每年大量的参赛作品都是传承或者借鉴，的确是有强有力的论文等支撑会更有竞争力。</a:t>
            </a:r>
            <a:endParaRPr lang="en-US" altLang="zh-CN" sz="2000" dirty="0"/>
          </a:p>
          <a:p>
            <a:r>
              <a:rPr lang="en-US" altLang="zh-CN" sz="2000" dirty="0"/>
              <a:t>2.</a:t>
            </a:r>
            <a:r>
              <a:rPr lang="zh-CN" altLang="en-US" sz="2000" dirty="0"/>
              <a:t>学会应用大模型就是提高生产力。文案书写、</a:t>
            </a:r>
            <a:r>
              <a:rPr lang="en-US" altLang="zh-CN" sz="2000" dirty="0"/>
              <a:t>ppt</a:t>
            </a:r>
            <a:r>
              <a:rPr lang="zh-CN" altLang="en-US" sz="2000" dirty="0"/>
              <a:t>制作（</a:t>
            </a:r>
            <a:r>
              <a:rPr lang="en-US" altLang="zh-CN" sz="2000" dirty="0"/>
              <a:t>gamma</a:t>
            </a:r>
            <a:r>
              <a:rPr lang="zh-CN" altLang="en-US" sz="2000" dirty="0"/>
              <a:t>）、视频制作（</a:t>
            </a:r>
            <a:r>
              <a:rPr lang="en-US" altLang="zh-CN" sz="2000" dirty="0"/>
              <a:t>runway</a:t>
            </a:r>
            <a:r>
              <a:rPr lang="zh-CN" altLang="en-US" sz="2000" dirty="0"/>
              <a:t>、</a:t>
            </a:r>
            <a:r>
              <a:rPr lang="en-US" altLang="zh-CN" sz="2000" dirty="0"/>
              <a:t>google </a:t>
            </a:r>
            <a:r>
              <a:rPr lang="en-US" altLang="zh-CN" sz="2000" dirty="0" err="1"/>
              <a:t>veo</a:t>
            </a:r>
            <a:r>
              <a:rPr lang="zh-CN" altLang="en-US" sz="2000" dirty="0"/>
              <a:t>）甚至到配音，只要你能想到的任务环节，市面上基本已经有可以用的专用大模型。将基本的操作交由他们来处理，我们就有更多精力可以放在架构规划、细节优化上。</a:t>
            </a:r>
            <a:endParaRPr lang="en-US" altLang="zh-CN" sz="2000" dirty="0"/>
          </a:p>
          <a:p>
            <a:r>
              <a:rPr lang="en-US" altLang="zh-CN" sz="2000" dirty="0"/>
              <a:t>3.</a:t>
            </a:r>
            <a:r>
              <a:rPr lang="zh-CN" altLang="en-US" sz="2000" dirty="0"/>
              <a:t>竞赛毕竟是以人为本，人的现场发挥仍然关键，赛前一字一句打磨演讲稿，一帧一帧打磨宣讲</a:t>
            </a:r>
            <a:r>
              <a:rPr lang="en-US" altLang="zh-CN" sz="2000" dirty="0"/>
              <a:t>ppt</a:t>
            </a:r>
            <a:r>
              <a:rPr lang="zh-CN" altLang="en-US" sz="2000" dirty="0"/>
              <a:t>的顺序、逻辑、合理性、真实性。预设答辩问题，沙场演兵。</a:t>
            </a:r>
            <a:endParaRPr lang="en-US" altLang="zh-CN" sz="2000" dirty="0"/>
          </a:p>
          <a:p>
            <a:r>
              <a:rPr lang="en-US" altLang="zh-CN" sz="2000" dirty="0"/>
              <a:t>4.</a:t>
            </a:r>
            <a:r>
              <a:rPr lang="zh-CN" altLang="en-US" sz="2000" dirty="0"/>
              <a:t>总体遵循一个服务思维，不管是写的文案还是</a:t>
            </a:r>
            <a:r>
              <a:rPr lang="en-US" altLang="zh-CN" sz="2000" dirty="0"/>
              <a:t>ppt</a:t>
            </a:r>
            <a:r>
              <a:rPr lang="zh-CN" altLang="en-US" sz="2000" dirty="0"/>
              <a:t>的设计，始终站在评委的视角，既要严格贴合他们的评分标准，又要让他们看起来顺、读起来爽、听起来自然，也要在完善过程中调研赛事方的相关信息，有机会贴合最好不过。总体来说就是要做好情报战，更要当好服务员。</a:t>
            </a:r>
            <a:endParaRPr lang="en-US" altLang="zh-CN" sz="2000" dirty="0"/>
          </a:p>
          <a:p>
            <a:r>
              <a:rPr lang="en-US" altLang="zh-CN" sz="2000" dirty="0"/>
              <a:t>5.</a:t>
            </a:r>
            <a:r>
              <a:rPr lang="zh-CN" altLang="en-US" sz="2000" dirty="0"/>
              <a:t>珍惜每一次的学习机会，这是大学阶段比较接近真实工作的一次预演。</a:t>
            </a:r>
            <a:endParaRPr lang="en-US" altLang="zh-CN" sz="2000" dirty="0"/>
          </a:p>
          <a:p>
            <a:r>
              <a:rPr lang="en-US" altLang="zh-CN" sz="2000" dirty="0"/>
              <a:t>6.</a:t>
            </a:r>
            <a:r>
              <a:rPr lang="zh-CN" altLang="en-US" sz="2000" dirty="0"/>
              <a:t>不必拘泥于方向，现在还在接触阶段，没有经历过何谈感兴趣与否？</a:t>
            </a:r>
            <a:endParaRPr lang="en-US" altLang="zh-CN" sz="2000" dirty="0"/>
          </a:p>
          <a:p>
            <a:endParaRPr lang="en-US" altLang="zh-CN" dirty="0"/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7B11811E-6BC6-F9CD-B06F-33A98482043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58400" y="380854"/>
            <a:ext cx="4155268" cy="2829249"/>
          </a:xfrm>
          <a:prstGeom prst="rect">
            <a:avLst/>
          </a:prstGeom>
        </p:spPr>
      </p:pic>
      <p:pic>
        <p:nvPicPr>
          <p:cNvPr id="6" name="图片 5">
            <a:extLst>
              <a:ext uri="{FF2B5EF4-FFF2-40B4-BE49-F238E27FC236}">
                <a16:creationId xmlns:a16="http://schemas.microsoft.com/office/drawing/2014/main" id="{87ECC826-7ED4-F9A3-EFA3-D3615C7BDF2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23467" y="380854"/>
            <a:ext cx="3732392" cy="28167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8387160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>
            <a:extLst>
              <a:ext uri="{FF2B5EF4-FFF2-40B4-BE49-F238E27FC236}">
                <a16:creationId xmlns:a16="http://schemas.microsoft.com/office/drawing/2014/main" id="{FA19DDE8-1F4A-76F3-C16A-69EF13E43A7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75715"/>
            <a:ext cx="8098972" cy="5113774"/>
          </a:xfrm>
          <a:prstGeom prst="rect">
            <a:avLst/>
          </a:prstGeom>
        </p:spPr>
      </p:pic>
      <p:pic>
        <p:nvPicPr>
          <p:cNvPr id="3" name="图片 2">
            <a:extLst>
              <a:ext uri="{FF2B5EF4-FFF2-40B4-BE49-F238E27FC236}">
                <a16:creationId xmlns:a16="http://schemas.microsoft.com/office/drawing/2014/main" id="{CC5CCA27-1D5D-4462-9159-9E0829C8368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1817" y="2610693"/>
            <a:ext cx="9518469" cy="4368942"/>
          </a:xfrm>
          <a:prstGeom prst="rect">
            <a:avLst/>
          </a:prstGeom>
        </p:spPr>
      </p:pic>
      <p:pic>
        <p:nvPicPr>
          <p:cNvPr id="9" name="图片 8">
            <a:extLst>
              <a:ext uri="{FF2B5EF4-FFF2-40B4-BE49-F238E27FC236}">
                <a16:creationId xmlns:a16="http://schemas.microsoft.com/office/drawing/2014/main" id="{189C67B2-6A23-D05A-2F55-4C8AFB8C871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75423" y="348037"/>
            <a:ext cx="5413359" cy="61736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7480979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58309" y="1988939"/>
            <a:ext cx="9374981" cy="7431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600"/>
              </a:lnSpc>
              <a:buNone/>
            </a:pPr>
            <a:r>
              <a:rPr lang="en-US" sz="4450" b="1" dirty="0">
                <a:solidFill>
                  <a:srgbClr val="000000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🔬</a:t>
            </a:r>
            <a:r>
              <a:rPr lang="en-US" sz="4450" b="1" dirty="0">
                <a:solidFill>
                  <a:srgbClr val="2E3C4E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 科研是什么？和上课有什么区别？</a:t>
            </a:r>
            <a:endParaRPr lang="en-US" sz="4450" dirty="0"/>
          </a:p>
        </p:txBody>
      </p:sp>
      <p:sp>
        <p:nvSpPr>
          <p:cNvPr id="3" name="Shape 1"/>
          <p:cNvSpPr/>
          <p:nvPr/>
        </p:nvSpPr>
        <p:spPr>
          <a:xfrm>
            <a:off x="758309" y="3300770"/>
            <a:ext cx="6292572" cy="2696170"/>
          </a:xfrm>
          <a:prstGeom prst="roundRect">
            <a:avLst>
              <a:gd name="adj" fmla="val 12054"/>
            </a:avLst>
          </a:prstGeom>
          <a:solidFill>
            <a:srgbClr val="FFFFFF"/>
          </a:solidFill>
          <a:ln w="30480">
            <a:solidFill>
              <a:srgbClr val="BACFD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05364" y="3547824"/>
            <a:ext cx="2850713" cy="3714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2200" b="1" dirty="0">
                <a:solidFill>
                  <a:srgbClr val="000000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📖</a:t>
            </a:r>
            <a:r>
              <a:rPr lang="en-US" sz="2200" b="1" dirty="0">
                <a:solidFill>
                  <a:srgbClr val="384653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 上课 / 考试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1005364" y="4135874"/>
            <a:ext cx="5798463" cy="16140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700"/>
              </a:lnSpc>
              <a:buSzPct val="100000"/>
              <a:buChar char="•"/>
            </a:pPr>
            <a:r>
              <a:rPr lang="en-US" sz="17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学习已有的、成熟的知识体系</a:t>
            </a:r>
            <a:endParaRPr lang="en-US" sz="1700" dirty="0"/>
          </a:p>
          <a:p>
            <a:pPr marL="342900" indent="-342900" algn="l">
              <a:lnSpc>
                <a:spcPts val="2700"/>
              </a:lnSpc>
              <a:buSzPct val="100000"/>
              <a:buChar char="•"/>
            </a:pPr>
            <a:r>
              <a:rPr lang="en-US" sz="17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解有标准答案的题目</a:t>
            </a:r>
            <a:endParaRPr lang="en-US" sz="1700" dirty="0"/>
          </a:p>
          <a:p>
            <a:pPr marL="342900" indent="-342900" algn="l">
              <a:lnSpc>
                <a:spcPts val="2700"/>
              </a:lnSpc>
              <a:buSzPct val="100000"/>
              <a:buChar char="•"/>
            </a:pPr>
            <a:r>
              <a:rPr lang="en-US" sz="17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老师教什么就学什么</a:t>
            </a:r>
            <a:endParaRPr lang="en-US" sz="1700" dirty="0"/>
          </a:p>
          <a:p>
            <a:pPr marL="342900" indent="-342900" algn="l">
              <a:lnSpc>
                <a:spcPts val="2700"/>
              </a:lnSpc>
              <a:buSzPct val="100000"/>
              <a:buChar char="•"/>
            </a:pPr>
            <a:r>
              <a:rPr lang="en-US" sz="17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目标：通过考试、拿到学分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7587139" y="3300770"/>
            <a:ext cx="6292572" cy="2696170"/>
          </a:xfrm>
          <a:prstGeom prst="roundRect">
            <a:avLst>
              <a:gd name="adj" fmla="val 12054"/>
            </a:avLst>
          </a:prstGeom>
          <a:solidFill>
            <a:srgbClr val="FFFFFF"/>
          </a:solidFill>
          <a:ln w="30480">
            <a:solidFill>
              <a:srgbClr val="BACFD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34193" y="3547824"/>
            <a:ext cx="2850713" cy="3714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2200" b="1" dirty="0">
                <a:solidFill>
                  <a:srgbClr val="000000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🧪</a:t>
            </a:r>
            <a:r>
              <a:rPr lang="en-US" sz="2200" b="1" dirty="0">
                <a:solidFill>
                  <a:srgbClr val="384653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 科研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7834193" y="4135874"/>
            <a:ext cx="5798463" cy="16140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700"/>
              </a:lnSpc>
              <a:buSzPct val="100000"/>
              <a:buChar char="•"/>
            </a:pPr>
            <a:r>
              <a:rPr lang="en-US" sz="17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探索未知边界，解决没有现成答案的问题</a:t>
            </a:r>
            <a:endParaRPr lang="en-US" sz="1700" dirty="0"/>
          </a:p>
          <a:p>
            <a:pPr marL="342900" indent="-342900" algn="l">
              <a:lnSpc>
                <a:spcPts val="2700"/>
              </a:lnSpc>
              <a:buSzPct val="100000"/>
              <a:buChar char="•"/>
            </a:pPr>
            <a:r>
              <a:rPr lang="en-US" sz="17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读 Paper → 复现代码 → 提出改进</a:t>
            </a:r>
            <a:endParaRPr lang="en-US" sz="1700" dirty="0"/>
          </a:p>
          <a:p>
            <a:pPr marL="342900" indent="-342900" algn="l">
              <a:lnSpc>
                <a:spcPts val="2700"/>
              </a:lnSpc>
              <a:buSzPct val="100000"/>
              <a:buChar char="•"/>
            </a:pPr>
            <a:r>
              <a:rPr lang="en-US" sz="17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自己找方向、设计实验、分析结果</a:t>
            </a:r>
            <a:endParaRPr lang="en-US" sz="1700" dirty="0"/>
          </a:p>
          <a:p>
            <a:pPr marL="342900" indent="-342900" algn="l">
              <a:lnSpc>
                <a:spcPts val="2700"/>
              </a:lnSpc>
              <a:buSzPct val="100000"/>
              <a:buChar char="•"/>
            </a:pPr>
            <a:r>
              <a:rPr lang="en-US" sz="17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目标：产出新知识（论文 / 专利 / 开源项目）</a:t>
            </a:r>
            <a:endParaRPr lang="en-US" sz="17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58309" y="1162169"/>
            <a:ext cx="9945053" cy="7431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600"/>
              </a:lnSpc>
              <a:buNone/>
            </a:pPr>
            <a:r>
              <a:rPr lang="en-US" sz="4450" b="1" dirty="0">
                <a:solidFill>
                  <a:srgbClr val="000000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🧑‍💻</a:t>
            </a:r>
            <a:r>
              <a:rPr lang="en-US" sz="4450" b="1" dirty="0">
                <a:solidFill>
                  <a:srgbClr val="2E3C4E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 我目前在做什么？（科研方向简介）</a:t>
            </a:r>
            <a:endParaRPr lang="en-US" sz="4450" dirty="0"/>
          </a:p>
        </p:txBody>
      </p:sp>
      <p:sp>
        <p:nvSpPr>
          <p:cNvPr id="3" name="Shape 1"/>
          <p:cNvSpPr/>
          <p:nvPr/>
        </p:nvSpPr>
        <p:spPr>
          <a:xfrm>
            <a:off x="758309" y="2338625"/>
            <a:ext cx="12619672" cy="5603107"/>
          </a:xfrm>
          <a:prstGeom prst="roundRect">
            <a:avLst>
              <a:gd name="adj" fmla="val 6873"/>
            </a:avLst>
          </a:prstGeom>
          <a:solidFill>
            <a:srgbClr val="FFFFFF"/>
          </a:solidFill>
          <a:ln w="30480">
            <a:solidFill>
              <a:srgbClr val="BACFD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05364" y="2585680"/>
            <a:ext cx="5090517" cy="3562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2200" b="1" dirty="0" err="1">
                <a:solidFill>
                  <a:srgbClr val="384653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研究</a:t>
            </a:r>
            <a:r>
              <a:rPr lang="zh-CN" altLang="en-US" sz="2200" b="1" dirty="0">
                <a:solidFill>
                  <a:srgbClr val="384653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主题：全自动测试集构建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1005364" y="3071812"/>
            <a:ext cx="12619673" cy="7691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700"/>
              </a:lnSpc>
              <a:buSzPct val="100000"/>
              <a:buChar char="•"/>
            </a:pPr>
            <a:r>
              <a:rPr lang="zh-CN" altLang="en-US" sz="17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引入大模型转换自然语言和查询语言：模型选择、</a:t>
            </a:r>
            <a:r>
              <a:rPr lang="en-US" altLang="zh-CN" sz="17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prompt</a:t>
            </a:r>
            <a:r>
              <a:rPr lang="zh-CN" altLang="en-US" sz="17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优化</a:t>
            </a:r>
            <a:endParaRPr lang="en-US" altLang="zh-CN" sz="1700" dirty="0">
              <a:solidFill>
                <a:srgbClr val="384653"/>
              </a:solidFill>
              <a:latin typeface="Montserrat" pitchFamily="34" charset="0"/>
              <a:ea typeface="Montserrat" pitchFamily="34" charset="-122"/>
              <a:cs typeface="Montserrat" pitchFamily="34" charset="-120"/>
            </a:endParaRPr>
          </a:p>
          <a:p>
            <a:pPr marL="342900" indent="-342900" algn="l">
              <a:lnSpc>
                <a:spcPts val="2700"/>
              </a:lnSpc>
              <a:buSzPct val="100000"/>
              <a:buChar char="•"/>
            </a:pPr>
            <a:r>
              <a:rPr lang="zh-CN" altLang="en-US" sz="17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驱动指标选择：怎么划分生成题难度、怎么驱动预算更少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1005364" y="3970853"/>
            <a:ext cx="2850713" cy="3562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2200" b="1" dirty="0">
                <a:solidFill>
                  <a:srgbClr val="384653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日常工作流：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1005364" y="4456986"/>
            <a:ext cx="12619673" cy="119157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700"/>
              </a:lnSpc>
              <a:buSzPct val="100000"/>
              <a:buChar char="•"/>
            </a:pPr>
            <a:r>
              <a:rPr lang="en-US" sz="1700" dirty="0" err="1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阅读</a:t>
            </a:r>
            <a:r>
              <a:rPr lang="zh-CN" altLang="en-US" sz="17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主题相关的论文</a:t>
            </a:r>
            <a:endParaRPr lang="en-US" altLang="zh-CN" sz="1700" dirty="0">
              <a:solidFill>
                <a:srgbClr val="384653"/>
              </a:solidFill>
              <a:latin typeface="Montserrat" pitchFamily="34" charset="0"/>
              <a:ea typeface="Montserrat" pitchFamily="34" charset="-122"/>
              <a:cs typeface="Montserrat" pitchFamily="34" charset="-120"/>
            </a:endParaRPr>
          </a:p>
          <a:p>
            <a:pPr marL="342900" indent="-342900" algn="l">
              <a:lnSpc>
                <a:spcPts val="2700"/>
              </a:lnSpc>
              <a:buSzPct val="100000"/>
              <a:buChar char="•"/>
            </a:pPr>
            <a:r>
              <a:rPr lang="en-US" sz="17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在 </a:t>
            </a:r>
            <a:r>
              <a:rPr lang="en-US" sz="1700" dirty="0" err="1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服务器上复现、调试、改进代码</a:t>
            </a:r>
            <a:endParaRPr lang="en-US" sz="1700" dirty="0"/>
          </a:p>
          <a:p>
            <a:pPr marL="342900" indent="-342900" algn="l">
              <a:lnSpc>
                <a:spcPts val="2700"/>
              </a:lnSpc>
              <a:buSzPct val="100000"/>
              <a:buChar char="•"/>
            </a:pPr>
            <a:r>
              <a:rPr lang="en-US" sz="17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设计实验 → 跑实验 → 分析数据 → 写论文</a:t>
            </a:r>
            <a:endParaRPr lang="en-US" sz="1700" dirty="0"/>
          </a:p>
        </p:txBody>
      </p:sp>
      <p:sp>
        <p:nvSpPr>
          <p:cNvPr id="11" name="Text 4">
            <a:extLst>
              <a:ext uri="{FF2B5EF4-FFF2-40B4-BE49-F238E27FC236}">
                <a16:creationId xmlns:a16="http://schemas.microsoft.com/office/drawing/2014/main" id="{3D3038B7-7ADA-FB7F-A5D8-9883DC9264F8}"/>
              </a:ext>
            </a:extLst>
          </p:cNvPr>
          <p:cNvSpPr/>
          <p:nvPr/>
        </p:nvSpPr>
        <p:spPr>
          <a:xfrm>
            <a:off x="1005363" y="5908358"/>
            <a:ext cx="2850713" cy="3562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zh-CN" altLang="en-US" sz="2200" b="1" dirty="0">
                <a:solidFill>
                  <a:srgbClr val="384653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学到的能力</a:t>
            </a:r>
            <a:r>
              <a:rPr lang="en-US" sz="2200" b="1" dirty="0">
                <a:solidFill>
                  <a:srgbClr val="384653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：</a:t>
            </a:r>
            <a:endParaRPr lang="en-US" sz="2200" dirty="0"/>
          </a:p>
        </p:txBody>
      </p:sp>
      <p:sp>
        <p:nvSpPr>
          <p:cNvPr id="12" name="Text 5">
            <a:extLst>
              <a:ext uri="{FF2B5EF4-FFF2-40B4-BE49-F238E27FC236}">
                <a16:creationId xmlns:a16="http://schemas.microsoft.com/office/drawing/2014/main" id="{153CF8E5-D2AB-D96A-8F6A-80F13F716D62}"/>
              </a:ext>
            </a:extLst>
          </p:cNvPr>
          <p:cNvSpPr/>
          <p:nvPr/>
        </p:nvSpPr>
        <p:spPr>
          <a:xfrm>
            <a:off x="1005364" y="6422708"/>
            <a:ext cx="12007903" cy="14231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700"/>
              </a:lnSpc>
              <a:buSzPct val="100000"/>
              <a:buChar char="•"/>
            </a:pPr>
            <a:r>
              <a:rPr lang="zh-CN" altLang="en-US" sz="17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基本的服务器、命令行等工程化操作</a:t>
            </a:r>
            <a:endParaRPr lang="en-US" altLang="zh-CN" sz="1700" dirty="0">
              <a:solidFill>
                <a:srgbClr val="384653"/>
              </a:solidFill>
              <a:latin typeface="Montserrat" pitchFamily="34" charset="0"/>
              <a:ea typeface="Montserrat" pitchFamily="34" charset="-122"/>
              <a:cs typeface="Montserrat" pitchFamily="34" charset="-120"/>
            </a:endParaRPr>
          </a:p>
          <a:p>
            <a:pPr marL="342900" indent="-342900" algn="l">
              <a:lnSpc>
                <a:spcPts val="2700"/>
              </a:lnSpc>
              <a:buSzPct val="100000"/>
              <a:buChar char="•"/>
            </a:pPr>
            <a:r>
              <a:rPr lang="zh-CN" altLang="en-US" sz="17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分析数据、思考改进方向的基本意识</a:t>
            </a:r>
            <a:endParaRPr lang="en-US" altLang="zh-CN" sz="1700" dirty="0">
              <a:solidFill>
                <a:srgbClr val="384653"/>
              </a:solidFill>
              <a:latin typeface="Montserrat" pitchFamily="34" charset="0"/>
              <a:ea typeface="Montserrat" pitchFamily="34" charset="-122"/>
              <a:cs typeface="Montserrat" pitchFamily="34" charset="-120"/>
            </a:endParaRPr>
          </a:p>
          <a:p>
            <a:pPr marL="342900" indent="-342900" algn="l">
              <a:lnSpc>
                <a:spcPts val="2700"/>
              </a:lnSpc>
              <a:buSzPct val="100000"/>
              <a:buChar char="•"/>
            </a:pPr>
            <a:r>
              <a:rPr lang="zh-CN" altLang="en-US" sz="17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经历反复的结果不达预期，不断试错的心路历程</a:t>
            </a:r>
            <a:endParaRPr lang="en-US" altLang="zh-CN" sz="1700" dirty="0">
              <a:solidFill>
                <a:srgbClr val="384653"/>
              </a:solidFill>
              <a:latin typeface="Montserrat" pitchFamily="34" charset="0"/>
              <a:ea typeface="Montserrat" pitchFamily="34" charset="-122"/>
              <a:cs typeface="Montserrat" pitchFamily="34" charset="-120"/>
            </a:endParaRPr>
          </a:p>
          <a:p>
            <a:pPr marL="342900" indent="-342900" algn="l">
              <a:lnSpc>
                <a:spcPts val="2700"/>
              </a:lnSpc>
              <a:buSzPct val="100000"/>
              <a:buChar char="•"/>
            </a:pPr>
            <a:r>
              <a:rPr lang="zh-CN" altLang="en-US" sz="1700" dirty="0">
                <a:solidFill>
                  <a:srgbClr val="384653"/>
                </a:solidFill>
                <a:latin typeface="Montserrat" pitchFamily="34" charset="0"/>
              </a:rPr>
              <a:t>学会沟通和讨论</a:t>
            </a:r>
            <a:endParaRPr lang="en-US" sz="17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58309" y="1582460"/>
            <a:ext cx="7664768" cy="7431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600"/>
              </a:lnSpc>
              <a:buNone/>
            </a:pPr>
            <a:r>
              <a:rPr lang="en-US" sz="4450" b="1" dirty="0">
                <a:solidFill>
                  <a:srgbClr val="000000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🚀</a:t>
            </a:r>
            <a:r>
              <a:rPr lang="en-US" sz="4450" b="1" dirty="0">
                <a:solidFill>
                  <a:srgbClr val="2E3C4E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 如何开启你的第一段科研？</a:t>
            </a:r>
            <a:endParaRPr lang="en-US" sz="4450" dirty="0"/>
          </a:p>
        </p:txBody>
      </p:sp>
      <p:sp>
        <p:nvSpPr>
          <p:cNvPr id="3" name="Shape 1"/>
          <p:cNvSpPr/>
          <p:nvPr/>
        </p:nvSpPr>
        <p:spPr>
          <a:xfrm>
            <a:off x="758309" y="2758916"/>
            <a:ext cx="6448544" cy="1835825"/>
          </a:xfrm>
          <a:prstGeom prst="roundRect">
            <a:avLst>
              <a:gd name="adj" fmla="val 17703"/>
            </a:avLst>
          </a:prstGeom>
          <a:solidFill>
            <a:srgbClr val="FFFFFF"/>
          </a:solidFill>
          <a:ln w="30480">
            <a:solidFill>
              <a:srgbClr val="BACFDD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05364" y="3005971"/>
            <a:ext cx="827484" cy="422315"/>
          </a:xfrm>
          <a:prstGeom prst="roundRect">
            <a:avLst>
              <a:gd name="adj" fmla="val 61564"/>
            </a:avLst>
          </a:prstGeom>
          <a:noFill/>
          <a:ln w="7620">
            <a:solidFill>
              <a:srgbClr val="75BAE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142881" y="3078480"/>
            <a:ext cx="552450" cy="27729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350" dirty="0">
                <a:solidFill>
                  <a:srgbClr val="75BAE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STEP 1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1005364" y="3514844"/>
            <a:ext cx="2850713" cy="3562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2200" b="1" dirty="0">
                <a:solidFill>
                  <a:srgbClr val="384653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发现兴趣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1005364" y="4000976"/>
            <a:ext cx="5954435" cy="3467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7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多看技术资讯和前沿新闻，找到自己觉得「酷」的方向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7423428" y="2758916"/>
            <a:ext cx="6448663" cy="1835825"/>
          </a:xfrm>
          <a:prstGeom prst="roundRect">
            <a:avLst>
              <a:gd name="adj" fmla="val 17703"/>
            </a:avLst>
          </a:prstGeom>
          <a:solidFill>
            <a:srgbClr val="FFFFFF"/>
          </a:solidFill>
          <a:ln w="30480">
            <a:solidFill>
              <a:srgbClr val="BACFDD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670483" y="3005971"/>
            <a:ext cx="863441" cy="422315"/>
          </a:xfrm>
          <a:prstGeom prst="roundRect">
            <a:avLst>
              <a:gd name="adj" fmla="val 61564"/>
            </a:avLst>
          </a:prstGeom>
          <a:noFill/>
          <a:ln w="7620">
            <a:solidFill>
              <a:srgbClr val="75BAE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808000" y="3078480"/>
            <a:ext cx="588407" cy="27729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350" dirty="0">
                <a:solidFill>
                  <a:srgbClr val="75BAE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STEP 2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7670483" y="3514844"/>
            <a:ext cx="2850713" cy="3562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2200" b="1" dirty="0">
                <a:solidFill>
                  <a:srgbClr val="384653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联系导师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7670483" y="4000976"/>
            <a:ext cx="5954554" cy="3467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7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查学院官网老师主页，发邮件套磁：礼貌 + 简历 + 诚意</a:t>
            </a:r>
            <a:endParaRPr lang="en-US" sz="1700" dirty="0"/>
          </a:p>
        </p:txBody>
      </p:sp>
      <p:sp>
        <p:nvSpPr>
          <p:cNvPr id="13" name="Shape 11"/>
          <p:cNvSpPr/>
          <p:nvPr/>
        </p:nvSpPr>
        <p:spPr>
          <a:xfrm>
            <a:off x="758309" y="4811316"/>
            <a:ext cx="6448544" cy="1835825"/>
          </a:xfrm>
          <a:prstGeom prst="roundRect">
            <a:avLst>
              <a:gd name="adj" fmla="val 17703"/>
            </a:avLst>
          </a:prstGeom>
          <a:solidFill>
            <a:srgbClr val="FFFFFF"/>
          </a:solidFill>
          <a:ln w="30480">
            <a:solidFill>
              <a:srgbClr val="BACFDD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005364" y="5058370"/>
            <a:ext cx="862727" cy="422315"/>
          </a:xfrm>
          <a:prstGeom prst="roundRect">
            <a:avLst>
              <a:gd name="adj" fmla="val 61564"/>
            </a:avLst>
          </a:prstGeom>
          <a:noFill/>
          <a:ln w="7620">
            <a:solidFill>
              <a:srgbClr val="75BAE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142881" y="5130879"/>
            <a:ext cx="587693" cy="27729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350" dirty="0">
                <a:solidFill>
                  <a:srgbClr val="75BAE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STEP 3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1005364" y="5567243"/>
            <a:ext cx="2850713" cy="3562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2200" b="1" dirty="0">
                <a:solidFill>
                  <a:srgbClr val="384653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进组学习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1005364" y="6053376"/>
            <a:ext cx="5954435" cy="3467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7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多读论文、多跑代码，主动沟通，切忌「玩消失」</a:t>
            </a:r>
            <a:endParaRPr lang="en-US" sz="1700" dirty="0"/>
          </a:p>
        </p:txBody>
      </p:sp>
      <p:sp>
        <p:nvSpPr>
          <p:cNvPr id="18" name="Shape 16"/>
          <p:cNvSpPr/>
          <p:nvPr/>
        </p:nvSpPr>
        <p:spPr>
          <a:xfrm>
            <a:off x="7423428" y="4811316"/>
            <a:ext cx="6448663" cy="1835825"/>
          </a:xfrm>
          <a:prstGeom prst="roundRect">
            <a:avLst>
              <a:gd name="adj" fmla="val 17703"/>
            </a:avLst>
          </a:prstGeom>
          <a:solidFill>
            <a:srgbClr val="FFFFFF"/>
          </a:solidFill>
          <a:ln w="30480">
            <a:solidFill>
              <a:srgbClr val="BACFDD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670483" y="5058370"/>
            <a:ext cx="879515" cy="422315"/>
          </a:xfrm>
          <a:prstGeom prst="roundRect">
            <a:avLst>
              <a:gd name="adj" fmla="val 61564"/>
            </a:avLst>
          </a:prstGeom>
          <a:noFill/>
          <a:ln w="7620">
            <a:solidFill>
              <a:srgbClr val="75BAE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808000" y="5130879"/>
            <a:ext cx="604480" cy="27729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350" dirty="0">
                <a:solidFill>
                  <a:srgbClr val="75BAE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STEP 4</a:t>
            </a:r>
            <a:endParaRPr lang="en-US" sz="1350" dirty="0"/>
          </a:p>
        </p:txBody>
      </p:sp>
      <p:sp>
        <p:nvSpPr>
          <p:cNvPr id="21" name="Text 19"/>
          <p:cNvSpPr/>
          <p:nvPr/>
        </p:nvSpPr>
        <p:spPr>
          <a:xfrm>
            <a:off x="7670483" y="5567243"/>
            <a:ext cx="2850713" cy="3562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2200" b="1" dirty="0">
                <a:solidFill>
                  <a:srgbClr val="384653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产出成果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7670483" y="6053376"/>
            <a:ext cx="5954554" cy="3467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7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争取参与论文撰写或贡献可量化的工作</a:t>
            </a:r>
            <a:endParaRPr lang="en-US" sz="17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58309" y="1714976"/>
            <a:ext cx="5701546" cy="7431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5600"/>
              </a:lnSpc>
            </a:pPr>
            <a:r>
              <a:rPr lang="en-US" sz="4450" b="1" dirty="0">
                <a:solidFill>
                  <a:srgbClr val="000000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📝</a:t>
            </a:r>
            <a:r>
              <a:rPr lang="en-US" sz="4450" b="1" dirty="0">
                <a:solidFill>
                  <a:srgbClr val="2E3C4E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 </a:t>
            </a:r>
            <a:r>
              <a:rPr lang="en-US" altLang="zh-CN" sz="4450" b="1" dirty="0" err="1">
                <a:solidFill>
                  <a:srgbClr val="2E3C4E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我的体会与教训：AI</a:t>
            </a:r>
            <a:r>
              <a:rPr lang="en-US" altLang="zh-CN" sz="4450" b="1" dirty="0">
                <a:solidFill>
                  <a:srgbClr val="2E3C4E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 </a:t>
            </a:r>
            <a:r>
              <a:rPr lang="en-US" altLang="zh-CN" sz="4450" b="1" dirty="0" err="1">
                <a:solidFill>
                  <a:srgbClr val="2E3C4E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时代如何保持自身价值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758309" y="2891433"/>
            <a:ext cx="13113782" cy="3467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endParaRPr lang="en-US" sz="1700" dirty="0"/>
          </a:p>
        </p:txBody>
      </p:sp>
      <p:sp>
        <p:nvSpPr>
          <p:cNvPr id="4" name="Shape 2"/>
          <p:cNvSpPr/>
          <p:nvPr/>
        </p:nvSpPr>
        <p:spPr>
          <a:xfrm>
            <a:off x="541735" y="3091947"/>
            <a:ext cx="13613177" cy="4303719"/>
          </a:xfrm>
          <a:prstGeom prst="roundRect">
            <a:avLst>
              <a:gd name="adj" fmla="val 10717"/>
            </a:avLst>
          </a:prstGeom>
          <a:solidFill>
            <a:srgbClr val="BEDFF3"/>
          </a:solidFill>
          <a:ln/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8311" y="3280900"/>
            <a:ext cx="270748" cy="216575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245633" y="2918593"/>
            <a:ext cx="12193310" cy="3467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endParaRPr lang="en-US" sz="1700" dirty="0"/>
          </a:p>
        </p:txBody>
      </p:sp>
      <p:sp>
        <p:nvSpPr>
          <p:cNvPr id="7" name="Text 4"/>
          <p:cNvSpPr/>
          <p:nvPr/>
        </p:nvSpPr>
        <p:spPr>
          <a:xfrm>
            <a:off x="1245633" y="3460207"/>
            <a:ext cx="12193310" cy="32030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700"/>
              </a:lnSpc>
              <a:buSzPct val="100000"/>
              <a:buChar char="•"/>
            </a:pPr>
            <a:r>
              <a:rPr lang="en-US" altLang="zh-CN" sz="200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1.Vibecoding</a:t>
            </a:r>
            <a:r>
              <a:rPr lang="zh-CN" altLang="en-US" sz="200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是一定的趋势，可以使用大模型，但是把他当作任务的执行者，而不是无脑地不断喂</a:t>
            </a:r>
            <a:r>
              <a:rPr lang="en-US" altLang="zh-CN" sz="200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prompt</a:t>
            </a:r>
            <a:r>
              <a:rPr lang="zh-CN" altLang="en-US" sz="200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。</a:t>
            </a:r>
            <a:endParaRPr lang="en-US" altLang="zh-CN" sz="2000" dirty="0">
              <a:solidFill>
                <a:srgbClr val="000000"/>
              </a:solidFill>
              <a:latin typeface="Montserrat" pitchFamily="34" charset="0"/>
              <a:ea typeface="Montserrat" pitchFamily="34" charset="-122"/>
              <a:cs typeface="Montserrat" pitchFamily="34" charset="-120"/>
            </a:endParaRPr>
          </a:p>
          <a:p>
            <a:pPr marL="342900" indent="-342900" algn="l">
              <a:lnSpc>
                <a:spcPts val="2700"/>
              </a:lnSpc>
              <a:buSzPct val="100000"/>
              <a:buChar char="•"/>
            </a:pPr>
            <a:r>
              <a:rPr lang="en-US" altLang="zh-CN" sz="200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2.</a:t>
            </a:r>
            <a:r>
              <a:rPr lang="zh-CN" altLang="en-US" sz="200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任务规划一定要由自己主导，可以让大模型辅助完善，但是具体要做什么自己一定要想清楚一二三四</a:t>
            </a:r>
            <a:endParaRPr lang="en-US" altLang="zh-CN" sz="2000" dirty="0">
              <a:solidFill>
                <a:srgbClr val="000000"/>
              </a:solidFill>
              <a:latin typeface="Montserrat" pitchFamily="34" charset="0"/>
              <a:ea typeface="Montserrat" pitchFamily="34" charset="-122"/>
              <a:cs typeface="Montserrat" pitchFamily="34" charset="-120"/>
            </a:endParaRPr>
          </a:p>
          <a:p>
            <a:pPr marL="342900" indent="-342900" algn="l">
              <a:lnSpc>
                <a:spcPts val="2700"/>
              </a:lnSpc>
              <a:buSzPct val="100000"/>
              <a:buChar char="•"/>
            </a:pPr>
            <a:r>
              <a:rPr lang="en-US" altLang="zh-CN" sz="200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3.</a:t>
            </a:r>
            <a:r>
              <a:rPr lang="zh-CN" altLang="en-US" sz="200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大模型生成的任何东西都要仔细</a:t>
            </a:r>
            <a:r>
              <a:rPr lang="en-US" altLang="zh-CN" sz="200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review</a:t>
            </a:r>
            <a:r>
              <a:rPr lang="zh-CN" altLang="en-US" sz="200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，因为大模型是有极强的幻觉的，经常处理到后面忘前面、或者</a:t>
            </a:r>
            <a:r>
              <a:rPr lang="en-US" altLang="zh-CN" sz="200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4.</a:t>
            </a:r>
            <a:r>
              <a:rPr lang="zh-CN" altLang="en-US" sz="200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对你的一些重要要求选择性忽略。不要把</a:t>
            </a:r>
            <a:r>
              <a:rPr lang="en-US" altLang="zh-CN" sz="200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review</a:t>
            </a:r>
            <a:r>
              <a:rPr lang="zh-CN" altLang="en-US" sz="200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工作全部放在后期结果检查的“黑箱检测”，涉及变量太</a:t>
            </a:r>
            <a:r>
              <a:rPr lang="en-US" altLang="zh-CN" sz="200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5.</a:t>
            </a:r>
            <a:r>
              <a:rPr lang="zh-CN" altLang="en-US" sz="200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多，不利于定位，要在第一步就确认好每个函数的输入输出、关键处理逻辑。</a:t>
            </a:r>
            <a:endParaRPr lang="en-US" altLang="zh-CN" sz="2000" dirty="0">
              <a:solidFill>
                <a:srgbClr val="000000"/>
              </a:solidFill>
              <a:latin typeface="Montserrat" pitchFamily="34" charset="0"/>
              <a:ea typeface="Montserrat" pitchFamily="34" charset="-122"/>
              <a:cs typeface="Montserrat" pitchFamily="34" charset="-120"/>
            </a:endParaRPr>
          </a:p>
          <a:p>
            <a:pPr marL="342900" indent="-342900" algn="l">
              <a:lnSpc>
                <a:spcPts val="2700"/>
              </a:lnSpc>
              <a:buSzPct val="100000"/>
              <a:buChar char="•"/>
            </a:pPr>
            <a:r>
              <a:rPr lang="en-US" altLang="zh-CN" sz="200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5.</a:t>
            </a:r>
            <a:r>
              <a:rPr lang="zh-CN" altLang="en-US" sz="200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慢就是快，不必也不能急于求成，步步为营才是决胜关键，经历思考才能真正蜕变。</a:t>
            </a:r>
            <a:endParaRPr lang="en-US" altLang="zh-CN" sz="2000" dirty="0">
              <a:solidFill>
                <a:srgbClr val="000000"/>
              </a:solidFill>
              <a:latin typeface="Montserrat" pitchFamily="34" charset="0"/>
              <a:ea typeface="Montserrat" pitchFamily="34" charset="-122"/>
              <a:cs typeface="Montserrat" pitchFamily="34" charset="-120"/>
            </a:endParaRPr>
          </a:p>
          <a:p>
            <a:pPr marL="342900" indent="-342900" algn="l">
              <a:lnSpc>
                <a:spcPts val="2700"/>
              </a:lnSpc>
              <a:buSzPct val="100000"/>
              <a:buChar char="•"/>
            </a:pPr>
            <a:r>
              <a:rPr lang="en-US" altLang="zh-CN" sz="200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6.</a:t>
            </a:r>
            <a:r>
              <a:rPr lang="zh-CN" altLang="en-US" sz="200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技术迭代速度太快，不要局限于当前掌握的技术优势，要时刻保持积极接收信息、勇敢做出改变的心态。觉得现在就挺不错了，已经可以安稳度日的心态最容易给人猝不及防。仔细研究与你的研究领域相关的技术，争取掌握非领域内但能极大提升生产力的工具使用方法。</a:t>
            </a:r>
            <a:endParaRPr lang="en-US" altLang="zh-CN" sz="2000" dirty="0">
              <a:solidFill>
                <a:srgbClr val="000000"/>
              </a:solidFill>
              <a:latin typeface="Montserrat" pitchFamily="34" charset="0"/>
              <a:ea typeface="Montserrat" pitchFamily="34" charset="-122"/>
              <a:cs typeface="Montserrat" pitchFamily="34" charset="-120"/>
            </a:endParaRPr>
          </a:p>
          <a:p>
            <a:pPr marL="342900" indent="-342900" algn="l">
              <a:lnSpc>
                <a:spcPts val="2700"/>
              </a:lnSpc>
              <a:buSzPct val="100000"/>
              <a:buChar char="•"/>
            </a:pPr>
            <a:r>
              <a:rPr lang="en-US" altLang="zh-CN" sz="200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7.</a:t>
            </a:r>
            <a:r>
              <a:rPr lang="zh-CN" altLang="en-US" sz="200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可以看看小红书、知乎</a:t>
            </a:r>
            <a:endParaRPr lang="en-US" altLang="zh-CN" sz="2000" dirty="0">
              <a:solidFill>
                <a:srgbClr val="000000"/>
              </a:solidFill>
              <a:latin typeface="Montserrat" pitchFamily="34" charset="0"/>
              <a:ea typeface="Montserrat" pitchFamily="34" charset="-122"/>
              <a:cs typeface="Montserrat" pitchFamily="34" charset="-120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613535" y="2155984"/>
            <a:ext cx="11403211" cy="14254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1200"/>
              </a:lnSpc>
              <a:buNone/>
            </a:pPr>
            <a:r>
              <a:rPr lang="en-US" sz="8950" b="1" dirty="0">
                <a:solidFill>
                  <a:srgbClr val="2E3C4E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Q &amp; A</a:t>
            </a:r>
            <a:endParaRPr lang="en-US" sz="8950" dirty="0"/>
          </a:p>
        </p:txBody>
      </p:sp>
      <p:sp>
        <p:nvSpPr>
          <p:cNvPr id="3" name="Text 1"/>
          <p:cNvSpPr/>
          <p:nvPr/>
        </p:nvSpPr>
        <p:spPr>
          <a:xfrm>
            <a:off x="5034558" y="3906322"/>
            <a:ext cx="4561284" cy="5700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4450"/>
              </a:lnSpc>
              <a:buNone/>
            </a:pPr>
            <a:r>
              <a:rPr lang="en-US" sz="3550" b="1" dirty="0">
                <a:solidFill>
                  <a:srgbClr val="2E3C4E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欢迎大家提问交流！</a:t>
            </a:r>
            <a:endParaRPr lang="en-US" sz="3550" dirty="0"/>
          </a:p>
        </p:txBody>
      </p:sp>
      <p:sp>
        <p:nvSpPr>
          <p:cNvPr id="4" name="Text 2"/>
          <p:cNvSpPr/>
          <p:nvPr/>
        </p:nvSpPr>
        <p:spPr>
          <a:xfrm>
            <a:off x="758309" y="4801314"/>
            <a:ext cx="13113782" cy="3467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700"/>
              </a:lnSpc>
              <a:buNone/>
            </a:pP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5034558" y="5472946"/>
            <a:ext cx="4561284" cy="6005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4450"/>
              </a:lnSpc>
              <a:buNone/>
            </a:pPr>
            <a:r>
              <a:rPr lang="en-US" sz="3550" b="1" dirty="0">
                <a:solidFill>
                  <a:srgbClr val="2E3C4E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谢谢大家！</a:t>
            </a:r>
            <a:r>
              <a:rPr lang="en-US" sz="3550" b="1" dirty="0">
                <a:solidFill>
                  <a:srgbClr val="000000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🎉</a:t>
            </a:r>
            <a:endParaRPr lang="en-US" sz="35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197</TotalTime>
  <Words>1123</Words>
  <Application>Microsoft Office PowerPoint</Application>
  <PresentationFormat>自定义</PresentationFormat>
  <Paragraphs>100</Paragraphs>
  <Slides>13</Slides>
  <Notes>12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13</vt:i4>
      </vt:variant>
    </vt:vector>
  </HeadingPairs>
  <TitlesOfParts>
    <vt:vector size="17" baseType="lpstr">
      <vt:lpstr>Arial</vt:lpstr>
      <vt:lpstr>Barlow Bold</vt:lpstr>
      <vt:lpstr>Montserrat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>yunyang wan</cp:lastModifiedBy>
  <cp:revision>12</cp:revision>
  <dcterms:created xsi:type="dcterms:W3CDTF">2026-04-26T10:23:55Z</dcterms:created>
  <dcterms:modified xsi:type="dcterms:W3CDTF">2026-04-27T12:38:52Z</dcterms:modified>
</cp:coreProperties>
</file>