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6" r:id="rId19"/>
    <p:sldId id="277" r:id="rId20"/>
    <p:sldId id="271" r:id="rId21"/>
    <p:sldId id="275" r:id="rId22"/>
    <p:sldId id="278" r:id="rId23"/>
    <p:sldId id="285" r:id="rId24"/>
    <p:sldId id="287" r:id="rId25"/>
    <p:sldId id="272" r:id="rId26"/>
    <p:sldId id="286" r:id="rId27"/>
    <p:sldId id="274" r:id="rId28"/>
    <p:sldId id="281" r:id="rId29"/>
    <p:sldId id="282" r:id="rId30"/>
    <p:sldId id="284" r:id="rId31"/>
    <p:sldId id="28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666F3-31DB-0C9B-F57D-797FEEB51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13C366-6D26-EFD2-8DD4-FBF86C6A4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CC158-3BE9-B8D4-18DF-135944E6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C70F-FB1B-BB9D-05E8-61D1F208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F50AA-15FC-00A8-5DA7-6BE00F2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62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BB222-EAA7-CDC3-4AE4-CE58726E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79ADB-9480-F64E-DD98-9260B3C65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C6256-820D-4341-1DA9-BA81E370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A5571-C7CB-82E0-B4E6-ACBE8471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792BA-11C5-0B33-3786-28672E0B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8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051CB-90EA-516A-F311-4A54C99A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E0EEF7-A5F3-F73A-4D5B-8B16B0C76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F5BEB-CCCE-F27E-C2E5-836E1A36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C30D9-EF7C-4647-C8E5-CCEED82C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8BEBA-035C-B761-6DC8-4FD426DC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72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E4334-2164-BADF-34A1-4134B9F3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50708-45D4-71E1-6A27-68F3EAC69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971B3D-85D7-9970-1EDC-B29E6E4CC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1D68E9-5A0A-1033-8187-8BEFB252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CE79B7-E288-79FE-C463-54C4A5A6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E51806-B991-36C8-081B-5D4BD09F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31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551F4-F76A-DE14-5411-9D9C00C8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E20A07-C3C3-5781-62CC-EE0F26645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2A490D-558B-31F4-B92A-986AC922B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9BC4A8-1465-4367-B139-505E82687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DDBC6B-6C2F-7E90-259C-9A9B73CC7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CE08E0-B275-9B28-EC50-21DC6BAE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05B190-F24D-9388-807E-F3BE8F33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29A862-37DB-84AD-E178-2C422980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72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12028-D57B-FA7E-97C4-C71FC84A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DC4CC5-BA73-4714-1C37-9156B6E6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31BB41-7E61-8D7D-F323-D6CD11A9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B3C0DA-D65A-4C31-4362-E14E0087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62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722754-AA25-AFE3-E58E-4B4BC306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FD69C3-827E-98E2-6D5E-A7FBCEFFC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58258-364B-4BFF-E8D0-857731E1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6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819A8-B45E-7C49-266E-72247AFE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3A28C1-2531-20FC-F8CA-9BAA56201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595965-15F3-0D83-BCDF-8150A8537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EEF49-567B-7F89-6A0B-CDE553F6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2490F8-CF4C-4E3A-7CEC-5DA049BF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9873EB-EF5F-14C5-074F-54E01264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76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41222-EB43-0DAC-2C83-D0FC8C22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D98AB1-0011-2839-0FF8-E93B294E7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BB8CEC-D49C-0628-A3A9-CFCD4DA25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1C9AA2-B31E-BA65-4A87-C1EFC4D7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BFBEBD-E627-8F57-8FC0-FDAA33D6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D4566-EA3B-723B-A753-D4CA92D1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6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37E50-510C-582E-67C1-E6C51D1D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D08855-FA65-E204-3AEF-314C50C89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3C198-E75B-FCEA-915A-8C7F2194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6E3E-0A6D-8376-0A7C-90298DC0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4B802D-82E3-071F-E935-0F11AF12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8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EB5AB8-7AFB-2229-D129-242BB5ADE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BF8614-79B7-5673-7B14-9B6A64817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A03E0B-B292-5095-A7E8-F7A18E92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D1C324-4E1B-1D97-87B3-76A5D209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A63FCB-DDAE-0317-3B5E-596A5081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21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7EA38B-079A-8216-EDC5-D065EB20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402D6F-7A48-9606-B2BF-4DDF13630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DE2EB4-4207-531D-4E0C-8CE17FE63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B7BF9-1122-432E-A34F-5150ABC64E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73A65-A9BA-39EC-A700-687277E6B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0AA49-4F86-19BA-2A7A-60809C991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D530F-CDA9-4335-8160-735680A36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9B9FB-5150-3110-E171-F579E36EE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89C21C-BF25-521C-2F55-825A7965F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98E13A-038C-42B6-3B45-DF2715004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21" y="1049866"/>
            <a:ext cx="10427599" cy="43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73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5B7FB-2A3B-33D5-98D2-AC1D3387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NuScenesQA</a:t>
            </a:r>
            <a:r>
              <a:rPr lang="zh-CN" altLang="en-US" dirty="0"/>
              <a:t>结构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B4D40A-B79C-0617-5A7E-297C9A8BB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124" y="1825625"/>
            <a:ext cx="74737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ECCE-C961-6401-D1B5-8A0FA90A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E7989-02DF-ABF7-B95B-DE15FF8B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7A8024-32CF-2B76-6A3E-7C074FE8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002079-19BC-B618-CD68-2194FE33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2295845"/>
          </a:xfrm>
          <a:prstGeom prst="rect">
            <a:avLst/>
          </a:prstGeom>
        </p:spPr>
      </p:pic>
      <p:pic>
        <p:nvPicPr>
          <p:cNvPr id="9" name="内容占位符 7">
            <a:extLst>
              <a:ext uri="{FF2B5EF4-FFF2-40B4-BE49-F238E27FC236}">
                <a16:creationId xmlns:a16="http://schemas.microsoft.com/office/drawing/2014/main" id="{42C287BD-4570-D32F-A5F7-526A3CD7D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4893"/>
            <a:ext cx="6096000" cy="22482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AAA59D-6A8F-7CFE-4C59-008256EA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32"/>
            <a:ext cx="5752816" cy="22672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52769EE-B27C-5B90-471B-82EA24A76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94199"/>
            <a:ext cx="12192000" cy="173680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C6942AE-9423-47DF-2442-683D2B9DD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312459"/>
            <a:ext cx="5752816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5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2BA04-7FA0-AA92-D72C-01B1B3B3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5DDAC-2B6E-4633-5474-D312296E3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5507" cy="4351338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b="1" i="1" dirty="0"/>
              <a:t>5大核心题型</a:t>
            </a:r>
            <a:endParaRPr lang="zh-CN" altLang="zh-CN" b="1" i="1" dirty="0"/>
          </a:p>
          <a:p>
            <a:pPr lvl="0"/>
            <a:r>
              <a:rPr lang="en-US" altLang="zh-CN" b="1" dirty="0"/>
              <a:t>Count (</a:t>
            </a:r>
            <a:r>
              <a:rPr lang="en-US" altLang="zh-CN" b="1" dirty="0" err="1"/>
              <a:t>计数</a:t>
            </a:r>
            <a:r>
              <a:rPr lang="en-US" altLang="zh-CN" b="1" dirty="0"/>
              <a:t>)</a:t>
            </a:r>
            <a:r>
              <a:rPr lang="en-US" altLang="zh-CN" dirty="0"/>
              <a:t> - 20%</a:t>
            </a:r>
            <a:endParaRPr lang="zh-CN" altLang="zh-CN" dirty="0"/>
          </a:p>
          <a:p>
            <a:pPr lvl="1"/>
            <a:r>
              <a:rPr lang="en-US" altLang="zh-CN" dirty="0" err="1"/>
              <a:t>例题</a:t>
            </a:r>
            <a:r>
              <a:rPr lang="en-US" altLang="zh-CN" dirty="0"/>
              <a:t>: "How many cars are there in total?"</a:t>
            </a:r>
            <a:endParaRPr lang="zh-CN" altLang="zh-CN" dirty="0"/>
          </a:p>
          <a:p>
            <a:pPr lvl="1"/>
            <a:r>
              <a:rPr lang="en-US" altLang="zh-CN" dirty="0" err="1"/>
              <a:t>考点</a:t>
            </a:r>
            <a:r>
              <a:rPr lang="en-US" altLang="zh-CN" dirty="0"/>
              <a:t>: </a:t>
            </a:r>
            <a:r>
              <a:rPr lang="en-US" altLang="zh-CN" dirty="0" err="1"/>
              <a:t>物体检测召回率、空间约束理解</a:t>
            </a:r>
            <a:endParaRPr lang="zh-CN" altLang="zh-CN" dirty="0"/>
          </a:p>
          <a:p>
            <a:pPr lvl="0"/>
            <a:r>
              <a:rPr lang="en-US" altLang="zh-CN" b="1" dirty="0"/>
              <a:t>Exist (</a:t>
            </a:r>
            <a:r>
              <a:rPr lang="en-US" altLang="zh-CN" b="1" dirty="0" err="1"/>
              <a:t>存在性</a:t>
            </a:r>
            <a:r>
              <a:rPr lang="en-US" altLang="zh-CN" b="1" dirty="0"/>
              <a:t>)</a:t>
            </a:r>
            <a:r>
              <a:rPr lang="en-US" altLang="zh-CN" dirty="0"/>
              <a:t> - 30% (</a:t>
            </a:r>
            <a:r>
              <a:rPr lang="en-US" altLang="zh-CN" dirty="0" err="1"/>
              <a:t>占比最大</a:t>
            </a:r>
            <a:r>
              <a:rPr lang="en-US" altLang="zh-CN" dirty="0"/>
              <a:t>)</a:t>
            </a:r>
            <a:endParaRPr lang="zh-CN" altLang="zh-CN" dirty="0"/>
          </a:p>
          <a:p>
            <a:pPr lvl="1"/>
            <a:r>
              <a:rPr lang="en-US" altLang="zh-CN" dirty="0" err="1"/>
              <a:t>例题</a:t>
            </a:r>
            <a:r>
              <a:rPr lang="en-US" altLang="zh-CN" dirty="0"/>
              <a:t>: "Is there a car behind us?"</a:t>
            </a:r>
            <a:endParaRPr lang="zh-CN" altLang="zh-CN" dirty="0"/>
          </a:p>
          <a:p>
            <a:pPr lvl="1"/>
            <a:r>
              <a:rPr lang="en-US" altLang="zh-CN" dirty="0" err="1"/>
              <a:t>考点</a:t>
            </a:r>
            <a:r>
              <a:rPr lang="en-US" altLang="zh-CN" dirty="0"/>
              <a:t>: </a:t>
            </a:r>
            <a:r>
              <a:rPr lang="en-US" altLang="zh-CN" dirty="0" err="1"/>
              <a:t>二分类、空间存在性判断</a:t>
            </a:r>
            <a:endParaRPr lang="zh-CN" altLang="zh-CN" dirty="0"/>
          </a:p>
          <a:p>
            <a:pPr lvl="0"/>
            <a:r>
              <a:rPr lang="en-US" altLang="zh-CN" b="1" dirty="0"/>
              <a:t>Comparison (</a:t>
            </a:r>
            <a:r>
              <a:rPr lang="en-US" altLang="zh-CN" b="1" dirty="0" err="1"/>
              <a:t>比较</a:t>
            </a:r>
            <a:r>
              <a:rPr lang="en-US" altLang="zh-CN" b="1" dirty="0"/>
              <a:t>)</a:t>
            </a:r>
            <a:r>
              <a:rPr lang="en-US" altLang="zh-CN" dirty="0"/>
              <a:t> - 15%</a:t>
            </a:r>
            <a:endParaRPr lang="zh-CN" altLang="zh-CN" dirty="0"/>
          </a:p>
          <a:p>
            <a:pPr lvl="1"/>
            <a:r>
              <a:rPr lang="en-US" altLang="zh-CN" dirty="0" err="1"/>
              <a:t>例题</a:t>
            </a:r>
            <a:r>
              <a:rPr lang="en-US" altLang="zh-CN" dirty="0"/>
              <a:t>: "Are there more cars than pedestrians?"</a:t>
            </a:r>
            <a:endParaRPr lang="zh-CN" altLang="zh-CN" dirty="0"/>
          </a:p>
          <a:p>
            <a:pPr lvl="1"/>
            <a:r>
              <a:rPr lang="en-US" altLang="zh-CN" dirty="0" err="1"/>
              <a:t>考点</a:t>
            </a:r>
            <a:r>
              <a:rPr lang="en-US" altLang="zh-CN" dirty="0"/>
              <a:t>: </a:t>
            </a:r>
            <a:r>
              <a:rPr lang="en-US" altLang="zh-CN" dirty="0" err="1"/>
              <a:t>高阶推理、数量比较</a:t>
            </a:r>
            <a:endParaRPr lang="zh-CN" altLang="zh-CN" dirty="0"/>
          </a:p>
          <a:p>
            <a:pPr lvl="0"/>
            <a:r>
              <a:rPr lang="en-US" altLang="zh-CN" b="1" dirty="0"/>
              <a:t>Object (</a:t>
            </a:r>
            <a:r>
              <a:rPr lang="en-US" altLang="zh-CN" b="1" dirty="0" err="1"/>
              <a:t>物体识别</a:t>
            </a:r>
            <a:r>
              <a:rPr lang="en-US" altLang="zh-CN" b="1" dirty="0"/>
              <a:t>)</a:t>
            </a:r>
            <a:r>
              <a:rPr lang="en-US" altLang="zh-CN" dirty="0"/>
              <a:t> - 20%</a:t>
            </a:r>
            <a:endParaRPr lang="zh-CN" altLang="zh-CN" dirty="0"/>
          </a:p>
          <a:p>
            <a:pPr lvl="1"/>
            <a:r>
              <a:rPr lang="en-US" altLang="zh-CN" dirty="0" err="1"/>
              <a:t>例题</a:t>
            </a:r>
            <a:r>
              <a:rPr lang="en-US" altLang="zh-CN" dirty="0"/>
              <a:t>: "What is the closest object to the ego vehicle?"</a:t>
            </a:r>
            <a:endParaRPr lang="zh-CN" altLang="zh-CN" dirty="0"/>
          </a:p>
          <a:p>
            <a:pPr lvl="1"/>
            <a:r>
              <a:rPr lang="en-US" altLang="zh-CN" dirty="0" err="1"/>
              <a:t>考点</a:t>
            </a:r>
            <a:r>
              <a:rPr lang="en-US" altLang="zh-CN" dirty="0"/>
              <a:t>: </a:t>
            </a:r>
            <a:r>
              <a:rPr lang="en-US" altLang="zh-CN" dirty="0" err="1"/>
              <a:t>深度感知</a:t>
            </a:r>
            <a:r>
              <a:rPr lang="en-US" altLang="zh-CN" dirty="0"/>
              <a:t> + </a:t>
            </a:r>
            <a:r>
              <a:rPr lang="en-US" altLang="zh-CN" dirty="0" err="1"/>
              <a:t>物体分类</a:t>
            </a:r>
            <a:endParaRPr lang="zh-CN" altLang="zh-CN" dirty="0"/>
          </a:p>
          <a:p>
            <a:pPr lvl="0"/>
            <a:r>
              <a:rPr lang="en-US" altLang="zh-CN" b="1" dirty="0"/>
              <a:t>Status (</a:t>
            </a:r>
            <a:r>
              <a:rPr lang="en-US" altLang="zh-CN" b="1" dirty="0" err="1"/>
              <a:t>状态查询</a:t>
            </a:r>
            <a:r>
              <a:rPr lang="en-US" altLang="zh-CN" b="1" dirty="0"/>
              <a:t>)</a:t>
            </a:r>
            <a:r>
              <a:rPr lang="en-US" altLang="zh-CN" dirty="0"/>
              <a:t> - 14%</a:t>
            </a:r>
            <a:endParaRPr lang="zh-CN" altLang="zh-CN" dirty="0"/>
          </a:p>
          <a:p>
            <a:pPr lvl="1"/>
            <a:r>
              <a:rPr lang="en-US" altLang="zh-CN" dirty="0" err="1"/>
              <a:t>例题</a:t>
            </a:r>
            <a:r>
              <a:rPr lang="en-US" altLang="zh-CN" dirty="0"/>
              <a:t>: "Is the car on the left moving or stopped?"</a:t>
            </a:r>
            <a:endParaRPr lang="zh-CN" altLang="zh-CN" dirty="0"/>
          </a:p>
          <a:p>
            <a:pPr lvl="1"/>
            <a:r>
              <a:rPr lang="en-US" altLang="zh-CN" dirty="0" err="1"/>
              <a:t>考点</a:t>
            </a:r>
            <a:r>
              <a:rPr lang="en-US" altLang="zh-CN" dirty="0"/>
              <a:t>: </a:t>
            </a:r>
            <a:r>
              <a:rPr lang="en-US" altLang="zh-CN" dirty="0" err="1"/>
              <a:t>运动状态识别、行为预测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5900EF-D0AD-E22C-6B47-BF4D8186A972}"/>
              </a:ext>
            </a:extLst>
          </p:cNvPr>
          <p:cNvSpPr txBox="1"/>
          <p:nvPr/>
        </p:nvSpPr>
        <p:spPr>
          <a:xfrm>
            <a:off x="6373707" y="1754293"/>
            <a:ext cx="3569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err="1"/>
              <a:t>数据规模</a:t>
            </a:r>
            <a:endParaRPr lang="zh-CN" altLang="zh-CN" b="1" i="1" dirty="0"/>
          </a:p>
          <a:p>
            <a:pPr lvl="0"/>
            <a:r>
              <a:rPr lang="en-US" altLang="zh-CN" b="1" dirty="0"/>
              <a:t>34K</a:t>
            </a:r>
            <a:r>
              <a:rPr lang="en-US" altLang="zh-CN" dirty="0"/>
              <a:t> </a:t>
            </a:r>
            <a:r>
              <a:rPr lang="en-US" altLang="zh-CN" dirty="0" err="1"/>
              <a:t>视觉场景</a:t>
            </a:r>
            <a:endParaRPr lang="zh-CN" altLang="zh-CN" dirty="0"/>
          </a:p>
          <a:p>
            <a:pPr lvl="0"/>
            <a:r>
              <a:rPr lang="en-US" altLang="zh-CN" b="1" dirty="0"/>
              <a:t>460K</a:t>
            </a:r>
            <a:r>
              <a:rPr lang="en-US" altLang="zh-CN" dirty="0"/>
              <a:t> </a:t>
            </a:r>
            <a:r>
              <a:rPr lang="en-US" altLang="zh-CN" dirty="0" err="1"/>
              <a:t>问答对</a:t>
            </a:r>
            <a:endParaRPr lang="zh-CN" altLang="zh-CN" dirty="0"/>
          </a:p>
          <a:p>
            <a:pPr lvl="0"/>
            <a:r>
              <a:rPr lang="en-US" altLang="zh-CN" dirty="0"/>
              <a:t>多模态输入：6相机 + LiDAR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12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0EB4-783B-185F-6F7F-4AF27C05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623D5-734C-075B-64F6-DE8DE821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MetaVQA</a:t>
            </a:r>
            <a:r>
              <a:rPr lang="zh-CN" altLang="en-US" dirty="0"/>
              <a:t>结构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7C6B70-0D86-9EB0-4642-AC6D41939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FA24CD-49C1-D3AC-3940-16EE1A180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40" y="1415224"/>
            <a:ext cx="8842168" cy="54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8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75135-B1B6-34FB-A3D7-E50FD833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列举最多的几种题型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5E70E9-0630-D724-91FF-983D8479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6D5A57-AACA-503B-3350-1D39FC28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461"/>
            <a:ext cx="12192000" cy="26493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85809F-D212-506D-1239-3FA32E20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413" y="4062778"/>
            <a:ext cx="12192000" cy="301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8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F326-AEDC-4758-D59A-45293F77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1373C-7613-0FAB-850C-7564AE87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列举最多的几种题型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0ACF8-214D-87F9-DACA-DEB8FC8D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CE2B00-E8F5-7C7B-86A3-411B8F2B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668"/>
            <a:ext cx="12192000" cy="27059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B8A99B-D212-13F7-012D-0C3213B3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0602"/>
            <a:ext cx="12192000" cy="270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2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70F05-4E27-57B9-A3F7-CF2AEAAA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实际种类达</a:t>
            </a:r>
            <a:r>
              <a:rPr lang="en-US" altLang="zh-CN" dirty="0"/>
              <a:t>30</a:t>
            </a:r>
            <a:r>
              <a:rPr lang="zh-CN" altLang="en-US" dirty="0"/>
              <a:t>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ECA489-9086-E877-661D-5CE00224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41" y="1476587"/>
            <a:ext cx="5407773" cy="511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8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E2CD3-95E8-A8E3-D86C-38492259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74BA06-678D-93E1-72A0-80531EC5B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8853"/>
            <a:ext cx="4388671" cy="53971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BF45DBA-1E6E-5B80-80FD-0D939FB047CA}"/>
              </a:ext>
            </a:extLst>
          </p:cNvPr>
          <p:cNvSpPr txBox="1"/>
          <p:nvPr/>
        </p:nvSpPr>
        <p:spPr>
          <a:xfrm>
            <a:off x="6001173" y="1524000"/>
            <a:ext cx="35285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err="1"/>
              <a:t>数据规模</a:t>
            </a:r>
            <a:endParaRPr lang="en-US" altLang="zh-CN" dirty="0"/>
          </a:p>
          <a:p>
            <a:r>
              <a:rPr lang="en-US" altLang="zh-CN" dirty="0"/>
              <a:t>63K </a:t>
            </a:r>
            <a:r>
              <a:rPr lang="zh-CN" altLang="en-US" dirty="0"/>
              <a:t>场景配置</a:t>
            </a:r>
          </a:p>
          <a:p>
            <a:r>
              <a:rPr lang="en-US" altLang="zh-CN" dirty="0"/>
              <a:t>150K </a:t>
            </a:r>
            <a:r>
              <a:rPr lang="zh-CN" altLang="en-US" dirty="0"/>
              <a:t>问答对</a:t>
            </a:r>
          </a:p>
          <a:p>
            <a:r>
              <a:rPr lang="zh-CN" altLang="en-US" dirty="0"/>
              <a:t>数据来源：仿真</a:t>
            </a:r>
            <a:r>
              <a:rPr lang="en-US" altLang="zh-CN" dirty="0"/>
              <a:t>(67%) + </a:t>
            </a:r>
            <a:r>
              <a:rPr lang="zh-CN" altLang="en-US" dirty="0"/>
              <a:t>真实</a:t>
            </a:r>
            <a:r>
              <a:rPr lang="en-US" altLang="zh-CN" dirty="0"/>
              <a:t>(33%)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07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6AFE7-6F4D-B14C-1565-1A012238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场景图生成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7FF2688-98EC-87A2-D00F-C6E23805C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669" y="1690688"/>
            <a:ext cx="6501638" cy="461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3DD2B-6B3E-BF48-7E5D-5C43ECDC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单帧翻译效果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8D9AB-CF81-7880-66B9-B8A9E3724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lang="zh-CN" altLang="en-US" sz="32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第一帧图</a:t>
            </a:r>
            <a:r>
              <a:rPr lang="zh-CN" altLang="zh-CN" sz="32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基本信息</a:t>
            </a:r>
          </a:p>
          <a:p>
            <a:pPr latinLnBrk="1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Sample Token: ca9a282c9e77460f8360f564131a8af5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时间戳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2018-07-24 03:55:27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节点数量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70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个对象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边数量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1,713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条关系</a:t>
            </a:r>
            <a:endParaRPr lang="zh-CN" altLang="zh-CN" sz="28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zh-CN" sz="3200" b="1" i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对象分布</a:t>
            </a:r>
            <a:endParaRPr lang="zh-CN" altLang="zh-CN" sz="3200" b="1" i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spcAft>
                <a:spcPts val="1000"/>
              </a:spcAft>
              <a:buNone/>
            </a:pP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├─ </a:t>
            </a: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行人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30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(42.9%)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├─ </a:t>
            </a: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护栏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22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(31.4%)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├─ </a:t>
            </a: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车辆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8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(11.4%)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└─ </a:t>
            </a:r>
            <a:r>
              <a:rPr lang="en-US" altLang="zh-CN" sz="2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10</a:t>
            </a:r>
            <a:r>
              <a:rPr lang="en-US" altLang="zh-CN" sz="2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(14.2%)</a:t>
            </a:r>
            <a:endParaRPr lang="zh-CN" altLang="zh-CN" sz="28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lang="zh-CN" altLang="zh-CN" sz="32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关系分布</a:t>
            </a:r>
          </a:p>
          <a:p>
            <a:pPr latinLnBrk="1">
              <a:spcAft>
                <a:spcPts val="1000"/>
              </a:spcAft>
              <a:buNone/>
            </a:pP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├─ </a:t>
            </a:r>
            <a:r>
              <a:rPr lang="zh-CN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纵向关系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1,198</a:t>
            </a:r>
            <a:r>
              <a:rPr lang="zh-CN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(70.0%)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└─ </a:t>
            </a:r>
            <a:r>
              <a:rPr lang="zh-CN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横向关系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515</a:t>
            </a:r>
            <a:r>
              <a:rPr lang="zh-CN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(30.0%)</a:t>
            </a:r>
            <a:endParaRPr lang="zh-CN" altLang="zh-CN" sz="28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951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AB818-4D76-5DE2-5A9C-F32E0095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F269D-3246-7CF6-8A6A-13AE2918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zh-CN" altLang="zh-CN" sz="3600" b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典型节点结构</a:t>
            </a:r>
            <a:endParaRPr lang="zh-CN" altLang="zh-CN" sz="3600" b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zh-CN" sz="3200" b="1" i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自车节点</a:t>
            </a:r>
            <a:r>
              <a:rPr lang="en-US" altLang="zh-CN" sz="32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(Ego Vehicle)</a:t>
            </a:r>
            <a:endParaRPr lang="zh-CN" altLang="zh-CN" sz="3200" b="1" i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70000"/>
              </a:lnSpc>
              <a:spcAft>
                <a:spcPts val="1000"/>
              </a:spcAft>
              <a:buNone/>
            </a:pP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"id"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"ego"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8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category_name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8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vehicle.ego</a:t>
            </a:r>
            <a:r>
              <a:rPr lang="en-US" altLang="zh-CN" sz="28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"pose"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"ego"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"center"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"yaw"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},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"global"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"center"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411.30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1180.89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},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"velocity"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"ego"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"global"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sz="28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28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862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7344-B231-5FFE-2E3C-F58F87F6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AB35F-4FF9-77E4-B5E9-32A7503B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0E0B0-26B6-7873-C686-AE2650AB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zh-CN" sz="4000" b="1" i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行人节点</a:t>
            </a:r>
            <a:r>
              <a:rPr lang="en-US" altLang="zh-CN" sz="40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(Pedestrian)</a:t>
            </a:r>
            <a:endParaRPr lang="zh-CN" altLang="zh-CN" sz="4000" b="1" i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70000"/>
              </a:lnSpc>
              <a:spcAft>
                <a:spcPts val="1000"/>
              </a:spcAft>
              <a:buNone/>
            </a:pP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"id"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"ef63a697930c4b20a6b9791f423351da"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category_name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human.pedestrian.adult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"pose"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"ego"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"center"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60.50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-18.29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1.06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"global"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"center"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373.26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1130.42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0.8</a:t>
            </a:r>
            <a:r>
              <a:rPr lang="en-US" altLang="zh-CN" sz="3600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"attributes"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"standing"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"bins"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"sector8"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"front-left"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"s3c_angular"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direct_front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"s3c_distance"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"far"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3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6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7026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2DFB-0648-5C74-2330-1F80D5B6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B483F-3649-F177-E1D4-805ADE2D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A3DF2-7A94-A0DB-3561-79B76C79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US" altLang="zh-CN" sz="4800" b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典型边结构</a:t>
            </a:r>
            <a:endParaRPr lang="zh-CN" altLang="zh-CN" sz="4800" b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zh-CN" sz="4400" b="1" i="1" dirty="0" err="1">
                <a:solidFill>
                  <a:srgbClr val="0F476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对象间关系</a:t>
            </a:r>
            <a:endParaRPr lang="zh-CN" altLang="zh-CN" sz="4400" b="1" i="1" dirty="0">
              <a:solidFill>
                <a:srgbClr val="0F4761"/>
              </a:solidFill>
              <a:effectLst/>
              <a:latin typeface="Aptos" panose="020B000402020202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70000"/>
              </a:lnSpc>
              <a:spcAft>
                <a:spcPts val="1000"/>
              </a:spcAft>
              <a:buNone/>
            </a:pP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"from"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"ego"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"to"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"ef63a697930c4b20a6b9791f423351da"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"distance"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63.18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bearing_ego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-0.295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front_of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left_of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ttc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relation_type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"longitudinal"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 err="1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same_lane</a:t>
            </a:r>
            <a:r>
              <a:rPr lang="en-US" altLang="zh-CN" sz="4000" dirty="0">
                <a:solidFill>
                  <a:srgbClr val="902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false</a:t>
            </a:r>
            <a:br>
              <a:rPr lang="en-US" altLang="zh-CN" sz="40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40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37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B6552-6495-1791-4A1A-45789704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借鉴</a:t>
            </a:r>
            <a:r>
              <a:rPr lang="en-US" altLang="zh-CN" dirty="0"/>
              <a:t>S3C</a:t>
            </a:r>
            <a:r>
              <a:rPr lang="zh-CN" altLang="en-US" dirty="0"/>
              <a:t>的分档，便于将数据形象化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C621602-5E80-2562-0C22-221A4F226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45602"/>
            <a:ext cx="10515600" cy="143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35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9AF9D-9AAC-3DAA-78BF-7A6026EE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生成场景图核心算法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D72328A-8FE5-B53F-6BED-C88952F59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1787326"/>
            <a:ext cx="5239481" cy="435353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4AFCF31-A4F7-A638-465F-53BD2EE11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724" y="74506"/>
            <a:ext cx="4177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23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984FD-988D-7DCC-15DE-75887C04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E1ADD53-F7AD-2535-6297-F1086C546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93" y="1323663"/>
            <a:ext cx="5801111" cy="49573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C04DDE-5F86-10A2-F2A7-2D6833A3B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1074"/>
            <a:ext cx="6106377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01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A882-E98D-4B02-702C-BE487E84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0D888-D54E-A3AA-0ACE-C5C1DA3E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第一帧场景覆盖率示例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C3B4EB3-C961-31E6-9BEF-7A83D4DEE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51" y="1636259"/>
            <a:ext cx="5906324" cy="34771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D6BFE2D-D468-FB3D-06B3-BA2211EBB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51" y="2303102"/>
            <a:ext cx="460121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2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543C-A7C7-7C1C-BFBF-8AAB9CF7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14618-2CC1-3B45-BB87-4B017EED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第一帧场景覆盖率示例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FBF0E8-0F3D-54E8-9B58-0AFA56160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8" y="1953206"/>
            <a:ext cx="5896798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13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145CA-638F-EF8A-AF1D-7EBFD0C2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全数据集覆盖率统计（</a:t>
            </a:r>
            <a:r>
              <a:rPr lang="en-US" altLang="zh-CN" dirty="0" err="1"/>
              <a:t>NuScenes</a:t>
            </a:r>
            <a:r>
              <a:rPr lang="en-US" altLang="zh-CN" dirty="0"/>
              <a:t>-mini</a:t>
            </a:r>
            <a:r>
              <a:rPr lang="zh-CN" altLang="en-US" dirty="0"/>
              <a:t>全集）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7C2374-4A4B-6272-565C-E90B15993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39" y="1388532"/>
            <a:ext cx="4563242" cy="53407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5A847AB-05D5-4550-D069-9E5FCA07C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428" y="2111571"/>
            <a:ext cx="497274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52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F89A-9126-12AB-0397-B1F3FC30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AB7BE-73F4-1985-7BC9-BB649647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全数据集覆盖率统计（</a:t>
            </a:r>
            <a:r>
              <a:rPr lang="en-US" altLang="zh-CN" dirty="0" err="1"/>
              <a:t>NuScenes</a:t>
            </a:r>
            <a:r>
              <a:rPr lang="en-US" altLang="zh-CN" dirty="0"/>
              <a:t>-mini</a:t>
            </a:r>
            <a:r>
              <a:rPr lang="zh-CN" altLang="en-US" dirty="0"/>
              <a:t>全集）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AC876C-BC42-8BCF-3D75-C5AFF0E4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3481"/>
            <a:ext cx="5382376" cy="51727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45AA89-F902-2B1C-BF60-AB41B8E17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03" y="1690688"/>
            <a:ext cx="481079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66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EDDB7-0A18-B822-1E92-0FDC134C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覆盖率总结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8A6D6-CD71-4195-6C17-F340D7DEB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Level 1 - </a:t>
            </a:r>
            <a:r>
              <a:rPr lang="zh-CN" altLang="en-US" dirty="0"/>
              <a:t>实体覆盖 </a:t>
            </a:r>
            <a:r>
              <a:rPr lang="en-US" altLang="zh-CN" dirty="0"/>
              <a:t>(Entity Coverage):</a:t>
            </a:r>
          </a:p>
          <a:p>
            <a:pPr marL="0" indent="0">
              <a:buNone/>
            </a:pPr>
            <a:r>
              <a:rPr lang="en-US" altLang="zh-CN" dirty="0"/>
              <a:t>├─ </a:t>
            </a:r>
            <a:r>
              <a:rPr lang="zh-CN" altLang="en-US" dirty="0"/>
              <a:t>对象类别</a:t>
            </a:r>
            <a:r>
              <a:rPr lang="en-US" altLang="zh-CN" dirty="0"/>
              <a:t>: 13</a:t>
            </a:r>
            <a:r>
              <a:rPr lang="zh-CN" altLang="en-US" dirty="0"/>
              <a:t>种类别全覆盖</a:t>
            </a:r>
          </a:p>
          <a:p>
            <a:pPr marL="0" indent="0">
              <a:buNone/>
            </a:pPr>
            <a:r>
              <a:rPr lang="zh-CN" altLang="en-US" dirty="0"/>
              <a:t>├─ 角度象限</a:t>
            </a:r>
            <a:r>
              <a:rPr lang="en-US" altLang="zh-CN" dirty="0"/>
              <a:t>: 4</a:t>
            </a:r>
            <a:r>
              <a:rPr lang="zh-CN" altLang="en-US" dirty="0"/>
              <a:t>个象限 </a:t>
            </a:r>
            <a:r>
              <a:rPr lang="en-US" altLang="zh-CN" dirty="0"/>
              <a:t>(</a:t>
            </a:r>
            <a:r>
              <a:rPr lang="en-US" altLang="zh-CN" dirty="0" err="1"/>
              <a:t>direct_front</a:t>
            </a:r>
            <a:r>
              <a:rPr lang="en-US" altLang="zh-CN" dirty="0"/>
              <a:t>/</a:t>
            </a:r>
            <a:r>
              <a:rPr lang="en-US" altLang="zh-CN" dirty="0" err="1"/>
              <a:t>side_front</a:t>
            </a:r>
            <a:r>
              <a:rPr lang="en-US" altLang="zh-CN" dirty="0"/>
              <a:t>/</a:t>
            </a:r>
            <a:r>
              <a:rPr lang="en-US" altLang="zh-CN" dirty="0" err="1"/>
              <a:t>direct_rear</a:t>
            </a:r>
            <a:r>
              <a:rPr lang="en-US" altLang="zh-CN" dirty="0"/>
              <a:t>/</a:t>
            </a:r>
            <a:r>
              <a:rPr lang="en-US" altLang="zh-CN" dirty="0" err="1"/>
              <a:t>side_rear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└─ </a:t>
            </a:r>
            <a:r>
              <a:rPr lang="zh-CN" altLang="en-US" dirty="0"/>
              <a:t>距离分档</a:t>
            </a:r>
            <a:r>
              <a:rPr lang="en-US" altLang="zh-CN" dirty="0"/>
              <a:t>: 7</a:t>
            </a:r>
            <a:r>
              <a:rPr lang="zh-CN" altLang="en-US" dirty="0"/>
              <a:t>档距离 </a:t>
            </a:r>
            <a:r>
              <a:rPr lang="en-US" altLang="zh-CN" dirty="0"/>
              <a:t>(</a:t>
            </a:r>
            <a:r>
              <a:rPr lang="en-US" altLang="zh-CN" dirty="0" err="1"/>
              <a:t>safe_hazard</a:t>
            </a:r>
            <a:r>
              <a:rPr lang="en-US" altLang="zh-CN" dirty="0"/>
              <a:t> ~ far)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Level 2 - </a:t>
            </a:r>
            <a:r>
              <a:rPr lang="zh-CN" altLang="en-US" dirty="0"/>
              <a:t>关系覆盖 </a:t>
            </a:r>
            <a:r>
              <a:rPr lang="en-US" altLang="zh-CN" dirty="0"/>
              <a:t>(Relationship Coverage):</a:t>
            </a:r>
          </a:p>
          <a:p>
            <a:pPr marL="0" indent="0">
              <a:buNone/>
            </a:pPr>
            <a:r>
              <a:rPr lang="en-US" altLang="zh-CN" dirty="0"/>
              <a:t>├─ </a:t>
            </a:r>
            <a:r>
              <a:rPr lang="zh-CN" altLang="en-US" dirty="0"/>
              <a:t>空间关系</a:t>
            </a:r>
            <a:r>
              <a:rPr lang="en-US" altLang="zh-CN" dirty="0"/>
              <a:t>: </a:t>
            </a:r>
            <a:r>
              <a:rPr lang="zh-CN" altLang="en-US" dirty="0"/>
              <a:t>纵向</a:t>
            </a:r>
            <a:r>
              <a:rPr lang="en-US" altLang="zh-CN" dirty="0"/>
              <a:t>/</a:t>
            </a:r>
            <a:r>
              <a:rPr lang="zh-CN" altLang="en-US" dirty="0"/>
              <a:t>横向关系</a:t>
            </a:r>
          </a:p>
          <a:p>
            <a:pPr marL="0" indent="0">
              <a:buNone/>
            </a:pPr>
            <a:r>
              <a:rPr lang="zh-CN" altLang="en-US" dirty="0"/>
              <a:t>├─ 车道关系</a:t>
            </a:r>
            <a:r>
              <a:rPr lang="en-US" altLang="zh-CN" dirty="0"/>
              <a:t>: </a:t>
            </a:r>
            <a:r>
              <a:rPr lang="en-US" altLang="zh-CN" dirty="0" err="1"/>
              <a:t>same_lane</a:t>
            </a:r>
            <a:r>
              <a:rPr lang="en-US" altLang="zh-CN" dirty="0"/>
              <a:t> / </a:t>
            </a:r>
            <a:r>
              <a:rPr lang="en-US" altLang="zh-CN" dirty="0" err="1"/>
              <a:t>adjacent_lane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└─ </a:t>
            </a:r>
            <a:r>
              <a:rPr lang="zh-CN" altLang="en-US" dirty="0"/>
              <a:t>时序关系</a:t>
            </a:r>
            <a:r>
              <a:rPr lang="en-US" altLang="zh-CN" dirty="0"/>
              <a:t>: TTC</a:t>
            </a:r>
            <a:r>
              <a:rPr lang="zh-CN" altLang="en-US" dirty="0"/>
              <a:t>碰撞时间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Level 3 - </a:t>
            </a:r>
            <a:r>
              <a:rPr lang="zh-CN" altLang="en-US" dirty="0"/>
              <a:t>场景配置覆盖 </a:t>
            </a:r>
            <a:r>
              <a:rPr lang="en-US" altLang="zh-CN" dirty="0"/>
              <a:t>(Scene Configuration):</a:t>
            </a:r>
          </a:p>
          <a:p>
            <a:pPr marL="0" indent="0">
              <a:buNone/>
            </a:pPr>
            <a:r>
              <a:rPr lang="en-US" altLang="zh-CN" dirty="0"/>
              <a:t>└─ </a:t>
            </a:r>
            <a:r>
              <a:rPr lang="zh-CN" altLang="en-US" dirty="0"/>
              <a:t>三维组合</a:t>
            </a:r>
            <a:r>
              <a:rPr lang="en-US" altLang="zh-CN" dirty="0"/>
              <a:t>: 13</a:t>
            </a:r>
            <a:r>
              <a:rPr lang="zh-CN" altLang="en-US" dirty="0"/>
              <a:t>类别 </a:t>
            </a:r>
            <a:r>
              <a:rPr lang="en-US" altLang="zh-CN" dirty="0"/>
              <a:t>× 4</a:t>
            </a:r>
            <a:r>
              <a:rPr lang="zh-CN" altLang="en-US" dirty="0"/>
              <a:t>象限 </a:t>
            </a:r>
            <a:r>
              <a:rPr lang="en-US" altLang="zh-CN" dirty="0"/>
              <a:t>× 7</a:t>
            </a:r>
            <a:r>
              <a:rPr lang="zh-CN" altLang="en-US" dirty="0"/>
              <a:t>距离 </a:t>
            </a:r>
            <a:r>
              <a:rPr lang="en-US" altLang="zh-CN" dirty="0"/>
              <a:t>= 364</a:t>
            </a:r>
            <a:r>
              <a:rPr lang="zh-CN" altLang="en-US" dirty="0"/>
              <a:t>种组合</a:t>
            </a:r>
          </a:p>
        </p:txBody>
      </p:sp>
    </p:spTree>
    <p:extLst>
      <p:ext uri="{BB962C8B-B14F-4D97-AF65-F5344CB8AC3E}">
        <p14:creationId xmlns:p14="http://schemas.microsoft.com/office/powerpoint/2010/main" val="2678650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5460-C125-19E1-AC39-C97B9DC0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EFB65-A265-103A-848D-48AAFA8A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BEV</a:t>
            </a:r>
            <a:r>
              <a:rPr lang="zh-CN" altLang="en-US" dirty="0"/>
              <a:t>可视化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CB407-1011-17BA-EE3E-AA9CB88CB070}"/>
              </a:ext>
            </a:extLst>
          </p:cNvPr>
          <p:cNvSpPr txBox="1"/>
          <p:nvPr/>
        </p:nvSpPr>
        <p:spPr>
          <a:xfrm>
            <a:off x="1639147" y="3047999"/>
            <a:ext cx="2120053" cy="24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D762E8-2B4F-93F0-4CF8-04171DA46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122" y="0"/>
            <a:ext cx="6885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46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161BB-1164-C8B9-77B4-5C0A7359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DFC83-1489-4F81-B98D-6F29907E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BEV</a:t>
            </a:r>
            <a:r>
              <a:rPr lang="zh-CN" altLang="en-US" dirty="0"/>
              <a:t>可视化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2A9A87-C99D-1E2A-A0BF-0EC833A80576}"/>
              </a:ext>
            </a:extLst>
          </p:cNvPr>
          <p:cNvSpPr txBox="1"/>
          <p:nvPr/>
        </p:nvSpPr>
        <p:spPr>
          <a:xfrm>
            <a:off x="1639147" y="3047999"/>
            <a:ext cx="2120053" cy="24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3244C4-2063-63F4-B18B-69CD244AF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42" y="0"/>
            <a:ext cx="6885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70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A0E5F-1764-DB88-239E-820F452E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BEV</a:t>
            </a:r>
            <a:r>
              <a:rPr lang="zh-CN" altLang="en-US" dirty="0"/>
              <a:t>可视化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00AD14A-2D2F-8FD5-62AD-B3C448DE3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879" y="143932"/>
            <a:ext cx="6714068" cy="671406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58D943-DDCF-D0AF-0FC0-6B73CC67CAA4}"/>
              </a:ext>
            </a:extLst>
          </p:cNvPr>
          <p:cNvSpPr txBox="1"/>
          <p:nvPr/>
        </p:nvSpPr>
        <p:spPr>
          <a:xfrm>
            <a:off x="1639147" y="3047999"/>
            <a:ext cx="2120053" cy="24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6B5080E-F60A-BBA4-4CCB-AAF7EA7D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053" y="3238647"/>
            <a:ext cx="2458720" cy="127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作用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清晰展示空间关系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便于验证场景图数据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支持人工检查错误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55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A54D4-DD80-79B9-D1F7-F927ADFD3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D7DD-65BD-455A-B172-AC5845F4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BEV</a:t>
            </a:r>
            <a:r>
              <a:rPr lang="zh-CN" altLang="en-US" dirty="0"/>
              <a:t>可视化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AFF850F-08AB-B9DA-B950-B6A5552A0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879" y="143932"/>
            <a:ext cx="6714068" cy="671406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A68CEA-495D-0F75-53D2-21AEE084B30B}"/>
              </a:ext>
            </a:extLst>
          </p:cNvPr>
          <p:cNvSpPr txBox="1"/>
          <p:nvPr/>
        </p:nvSpPr>
        <p:spPr>
          <a:xfrm>
            <a:off x="1639147" y="3047999"/>
            <a:ext cx="2120053" cy="24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8F1377A-64DD-52C2-B84F-18FDDD41E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053" y="3238647"/>
            <a:ext cx="2458720" cy="127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作用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清晰展示空间关系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便于验证场景图数据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✅ 支持人工检查错误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466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73C618-0FED-A075-9746-9B39E0C47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222463-A24B-F07E-E984-3370043FB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10714"/>
            <a:ext cx="10595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通用模型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MiniCPM-o-2_6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试跑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NuScenesMINI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94C622-F016-2C9D-EEE9-B4487E2D0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445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90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67FA546-24AE-24FE-D126-6C56298F5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786" y="1781687"/>
            <a:ext cx="10515600" cy="26510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E864D9C-53D5-8D28-2829-ED7D2E5E6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712724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各题型详细表现</a:t>
            </a:r>
          </a:p>
        </p:txBody>
      </p:sp>
    </p:spTree>
    <p:extLst>
      <p:ext uri="{BB962C8B-B14F-4D97-AF65-F5344CB8AC3E}">
        <p14:creationId xmlns:p14="http://schemas.microsoft.com/office/powerpoint/2010/main" val="1205734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6261DFE-DE76-7C56-68A7-6B842191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202"/>
            <a:ext cx="12192000" cy="30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2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1EAE7-8EC6-E1ED-796F-C283B7DE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标准评判代码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F95187-D178-9F2B-914E-75EB84F5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9" y="1401422"/>
            <a:ext cx="5590835" cy="40551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FE8E91-D394-C6FC-C4BC-68373594A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707" y="959666"/>
            <a:ext cx="6178100" cy="44386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5B0467-263C-4EBA-E47B-3ED834D50AFE}"/>
              </a:ext>
            </a:extLst>
          </p:cNvPr>
          <p:cNvSpPr txBox="1"/>
          <p:nvPr/>
        </p:nvSpPr>
        <p:spPr>
          <a:xfrm>
            <a:off x="2577559" y="5898334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评判答案的标准是较统一的，满足这个标准才比较有说服力</a:t>
            </a:r>
          </a:p>
        </p:txBody>
      </p:sp>
    </p:spTree>
    <p:extLst>
      <p:ext uri="{BB962C8B-B14F-4D97-AF65-F5344CB8AC3E}">
        <p14:creationId xmlns:p14="http://schemas.microsoft.com/office/powerpoint/2010/main" val="1209360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31766-F1F0-7529-6422-4B9B27AA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29FD8-85F8-29D2-9EF6-45956CD2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prompt</a:t>
            </a:r>
            <a:r>
              <a:rPr lang="zh-CN" altLang="en-US" dirty="0"/>
              <a:t>：限制输出反而会影响其做对题，标准的</a:t>
            </a:r>
            <a:r>
              <a:rPr lang="en-US" altLang="zh-CN" dirty="0"/>
              <a:t>VQA</a:t>
            </a:r>
            <a:r>
              <a:rPr lang="zh-CN" altLang="en-US" dirty="0"/>
              <a:t>又过于简单，无法要求这个模型输出思维轨迹，但是正确率较高。</a:t>
            </a:r>
            <a:endParaRPr lang="en-US" altLang="zh-CN" dirty="0"/>
          </a:p>
          <a:p>
            <a:r>
              <a:rPr lang="zh-CN" altLang="en-US"/>
              <a:t>我们的调整函数</a:t>
            </a:r>
            <a:r>
              <a:rPr lang="zh-CN" altLang="en-US" dirty="0"/>
              <a:t>应该基于覆盖率的分布来调整权重的对吗，因为我们得不断迭代，这感觉是一个动态过程</a:t>
            </a:r>
            <a:endParaRPr lang="en-US" altLang="zh-CN" dirty="0"/>
          </a:p>
          <a:p>
            <a:r>
              <a:rPr lang="zh-CN" altLang="en-US" dirty="0"/>
              <a:t>通过覆盖率感觉也只能加强列举、清点能力，这样的话就很受限于问题模板，一些有难度、逻辑比较复杂的问题感觉无法通过覆盖率来推动</a:t>
            </a:r>
          </a:p>
        </p:txBody>
      </p:sp>
    </p:spTree>
    <p:extLst>
      <p:ext uri="{BB962C8B-B14F-4D97-AF65-F5344CB8AC3E}">
        <p14:creationId xmlns:p14="http://schemas.microsoft.com/office/powerpoint/2010/main" val="210759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904</Words>
  <Application>Microsoft Office PowerPoint</Application>
  <PresentationFormat>宽屏</PresentationFormat>
  <Paragraphs>89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等线 Light</vt:lpstr>
      <vt:lpstr>Aptos</vt:lpstr>
      <vt:lpstr>Arial</vt:lpstr>
      <vt:lpstr>Consolas</vt:lpstr>
      <vt:lpstr>Open Sans</vt:lpstr>
      <vt:lpstr>Office 主题​​</vt:lpstr>
      <vt:lpstr>PowerPoint 演示文稿</vt:lpstr>
      <vt:lpstr>NuScenesQA结构</vt:lpstr>
      <vt:lpstr>PowerPoint 演示文稿</vt:lpstr>
      <vt:lpstr>总结</vt:lpstr>
      <vt:lpstr>MetaVQA结构</vt:lpstr>
      <vt:lpstr>列举最多的几种题型</vt:lpstr>
      <vt:lpstr>列举最多的几种题型</vt:lpstr>
      <vt:lpstr>实际种类达30种</vt:lpstr>
      <vt:lpstr>总结</vt:lpstr>
      <vt:lpstr>场景图生成</vt:lpstr>
      <vt:lpstr>单帧翻译效果</vt:lpstr>
      <vt:lpstr>场景图效果</vt:lpstr>
      <vt:lpstr>场景图效果</vt:lpstr>
      <vt:lpstr>场景图效果</vt:lpstr>
      <vt:lpstr>借鉴S3C的分档，便于将数据形象化</vt:lpstr>
      <vt:lpstr>生成场景图核心算法</vt:lpstr>
      <vt:lpstr>PowerPoint 演示文稿</vt:lpstr>
      <vt:lpstr>第一帧场景覆盖率示例</vt:lpstr>
      <vt:lpstr>第一帧场景覆盖率示例</vt:lpstr>
      <vt:lpstr>全数据集覆盖率统计（NuScenes-mini全集）</vt:lpstr>
      <vt:lpstr>全数据集覆盖率统计（NuScenes-mini全集）</vt:lpstr>
      <vt:lpstr>覆盖率总结</vt:lpstr>
      <vt:lpstr>BEV可视化</vt:lpstr>
      <vt:lpstr>BEV可视化</vt:lpstr>
      <vt:lpstr>BEV可视化</vt:lpstr>
      <vt:lpstr>BEV可视化</vt:lpstr>
      <vt:lpstr>通用模型MiniCPM-o-2_6试跑NuScenesMINI</vt:lpstr>
      <vt:lpstr>各题型详细表现</vt:lpstr>
      <vt:lpstr>PowerPoint 演示文稿</vt:lpstr>
      <vt:lpstr>标准评判代码</vt:lpstr>
      <vt:lpstr>疑问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7</cp:revision>
  <dcterms:created xsi:type="dcterms:W3CDTF">2025-11-27T11:13:50Z</dcterms:created>
  <dcterms:modified xsi:type="dcterms:W3CDTF">2025-12-03T06:52:39Z</dcterms:modified>
</cp:coreProperties>
</file>